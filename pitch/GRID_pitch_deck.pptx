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C"/>
        </a:solidFill>
      </p:bgPr>
    </p:bg>
    <p:spTree>
      <p:nvGrpSpPr>
        <p:cNvPr id="1" name=""/>
        <p:cNvGrpSpPr/>
        <p:nvPr/>
      </p:nvGrpSpPr>
      <p:grpSpPr>
        <a:xfrm>
          <a:off x="0" y="0"/>
          <a:ext cx="0" cy="0"/>
          <a:chOff x="0" y="0"/>
          <a:chExt cx="0" cy="0"/>
        </a:xfrm>
      </p:grpSpPr>
      <p:sp>
        <p:nvSpPr>
          <p:cNvPr id="2" name="Shape 0"/>
          <p:cNvSpPr/>
          <p:nvPr/>
        </p:nvSpPr>
        <p:spPr>
          <a:xfrm>
            <a:off x="1828800" y="-3657600"/>
            <a:ext cx="9144000" cy="7315200"/>
          </a:xfrm>
          <a:prstGeom prst="ellipse">
            <a:avLst/>
          </a:prstGeom>
          <a:solidFill>
            <a:srgbClr val="15AD70">
              <a:alpha val="6000"/>
            </a:srgbClr>
          </a:solidFill>
          <a:ln w="12700">
            <a:solidFill>
              <a:srgbClr val="08080C"/>
            </a:solidFill>
            <a:prstDash val="solid"/>
          </a:ln>
        </p:spPr>
      </p:sp>
      <p:sp>
        <p:nvSpPr>
          <p:cNvPr id="3" name="Shape 1"/>
          <p:cNvSpPr/>
          <p:nvPr/>
        </p:nvSpPr>
        <p:spPr>
          <a:xfrm>
            <a:off x="-2743200" y="3657600"/>
            <a:ext cx="6400800" cy="5486400"/>
          </a:xfrm>
          <a:prstGeom prst="ellipse">
            <a:avLst/>
          </a:prstGeom>
          <a:solidFill>
            <a:srgbClr val="7193ED">
              <a:alpha val="5000"/>
            </a:srgbClr>
          </a:solidFill>
          <a:ln w="12700">
            <a:solidFill>
              <a:srgbClr val="08080C"/>
            </a:solidFill>
            <a:prstDash val="solid"/>
          </a:ln>
        </p:spPr>
      </p:sp>
      <p:sp>
        <p:nvSpPr>
          <p:cNvPr id="4" name="Shape 2"/>
          <p:cNvSpPr/>
          <p:nvPr/>
        </p:nvSpPr>
        <p:spPr>
          <a:xfrm>
            <a:off x="7315200" y="4114800"/>
            <a:ext cx="5486400" cy="4572000"/>
          </a:xfrm>
          <a:prstGeom prst="ellipse">
            <a:avLst/>
          </a:prstGeom>
          <a:solidFill>
            <a:srgbClr val="BF9FF1">
              <a:alpha val="5000"/>
            </a:srgbClr>
          </a:solidFill>
          <a:ln w="12700">
            <a:solidFill>
              <a:srgbClr val="08080C"/>
            </a:solidFill>
            <a:prstDash val="solid"/>
          </a:ln>
        </p:spPr>
      </p:sp>
      <p:sp>
        <p:nvSpPr>
          <p:cNvPr id="5" name="Shape 3"/>
          <p:cNvSpPr/>
          <p:nvPr/>
        </p:nvSpPr>
        <p:spPr>
          <a:xfrm>
            <a:off x="640080" y="502920"/>
            <a:ext cx="361188" cy="457200"/>
          </a:xfrm>
          <a:prstGeom prst="roundRect">
            <a:avLst>
              <a:gd name="adj" fmla="val 15190"/>
            </a:avLst>
          </a:prstGeom>
          <a:solidFill>
            <a:srgbClr val="08080C"/>
          </a:solidFill>
          <a:ln w="15875">
            <a:solidFill>
              <a:srgbClr val="15AD70"/>
            </a:solidFill>
            <a:prstDash val="solid"/>
          </a:ln>
        </p:spPr>
      </p:sp>
      <p:sp>
        <p:nvSpPr>
          <p:cNvPr id="6" name="Shape 4"/>
          <p:cNvSpPr/>
          <p:nvPr/>
        </p:nvSpPr>
        <p:spPr>
          <a:xfrm>
            <a:off x="763524" y="521208"/>
            <a:ext cx="0" cy="393192"/>
          </a:xfrm>
          <a:prstGeom prst="line">
            <a:avLst/>
          </a:prstGeom>
          <a:noFill/>
          <a:ln w="15875">
            <a:solidFill>
              <a:srgbClr val="15AD70"/>
            </a:solidFill>
            <a:prstDash val="solid"/>
          </a:ln>
        </p:spPr>
      </p:sp>
      <p:sp>
        <p:nvSpPr>
          <p:cNvPr id="7" name="Shape 5"/>
          <p:cNvSpPr/>
          <p:nvPr/>
        </p:nvSpPr>
        <p:spPr>
          <a:xfrm>
            <a:off x="877824" y="521208"/>
            <a:ext cx="0" cy="393192"/>
          </a:xfrm>
          <a:prstGeom prst="line">
            <a:avLst/>
          </a:prstGeom>
          <a:noFill/>
          <a:ln w="15875">
            <a:solidFill>
              <a:srgbClr val="15AD70"/>
            </a:solidFill>
            <a:prstDash val="solid"/>
          </a:ln>
        </p:spPr>
      </p:sp>
      <p:sp>
        <p:nvSpPr>
          <p:cNvPr id="8" name="Text 6"/>
          <p:cNvSpPr/>
          <p:nvPr/>
        </p:nvSpPr>
        <p:spPr>
          <a:xfrm>
            <a:off x="1097280" y="521208"/>
            <a:ext cx="1828800" cy="365760"/>
          </a:xfrm>
          <a:prstGeom prst="rect">
            <a:avLst/>
          </a:prstGeom>
          <a:noFill/>
          <a:ln/>
        </p:spPr>
        <p:txBody>
          <a:bodyPr wrap="square" lIns="0" tIns="0" rIns="0" bIns="0" rtlCol="0" anchor="ctr"/>
          <a:lstStyle/>
          <a:p>
            <a:pPr indent="0" marL="0">
              <a:buNone/>
            </a:pPr>
            <a:r>
              <a:rPr lang="en-US" sz="1100" spc="500" kern="0" dirty="0">
                <a:solidFill>
                  <a:srgbClr val="A0A0B0"/>
                </a:solidFill>
                <a:latin typeface="Helvetica Neue" pitchFamily="34" charset="0"/>
                <a:ea typeface="Helvetica Neue" pitchFamily="34" charset="-122"/>
                <a:cs typeface="Helvetica Neue" pitchFamily="34" charset="-120"/>
              </a:rPr>
              <a:t>GRID</a:t>
            </a:r>
            <a:endParaRPr lang="en-US" sz="1100" dirty="0"/>
          </a:p>
        </p:txBody>
      </p:sp>
      <p:sp>
        <p:nvSpPr>
          <p:cNvPr id="9" name="Text 7"/>
          <p:cNvSpPr/>
          <p:nvPr/>
        </p:nvSpPr>
        <p:spPr>
          <a:xfrm>
            <a:off x="8503920" y="548640"/>
            <a:ext cx="3017520" cy="274320"/>
          </a:xfrm>
          <a:prstGeom prst="rect">
            <a:avLst/>
          </a:prstGeom>
          <a:noFill/>
          <a:ln/>
        </p:spPr>
        <p:txBody>
          <a:bodyPr wrap="square" lIns="0" tIns="0" rIns="0" bIns="0" rtlCol="0" anchor="ctr"/>
          <a:lstStyle/>
          <a:p>
            <a:pPr algn="r" indent="0" marL="0">
              <a:buNone/>
            </a:pPr>
            <a:r>
              <a:rPr lang="en-US" sz="900" spc="300" kern="0" dirty="0">
                <a:solidFill>
                  <a:srgbClr val="60606A"/>
                </a:solidFill>
                <a:latin typeface="Helvetica Neue" pitchFamily="34" charset="0"/>
                <a:ea typeface="Helvetica Neue" pitchFamily="34" charset="-122"/>
                <a:cs typeface="Helvetica Neue" pitchFamily="34" charset="-120"/>
              </a:rPr>
              <a:t>PRE-SEED  ·  2026</a:t>
            </a:r>
            <a:endParaRPr lang="en-US" sz="900" dirty="0"/>
          </a:p>
        </p:txBody>
      </p:sp>
      <p:sp>
        <p:nvSpPr>
          <p:cNvPr id="10" name="Text 8"/>
          <p:cNvSpPr/>
          <p:nvPr/>
        </p:nvSpPr>
        <p:spPr>
          <a:xfrm>
            <a:off x="640080" y="2148840"/>
            <a:ext cx="10881360" cy="320040"/>
          </a:xfrm>
          <a:prstGeom prst="rect">
            <a:avLst/>
          </a:prstGeom>
          <a:noFill/>
          <a:ln/>
        </p:spPr>
        <p:txBody>
          <a:bodyPr wrap="square" lIns="0" tIns="0" rIns="0" bIns="0" rtlCol="0" anchor="ctr"/>
          <a:lstStyle/>
          <a:p>
            <a:pPr algn="ctr" indent="0" marL="0">
              <a:buNone/>
            </a:pPr>
            <a:r>
              <a:rPr lang="en-US" sz="1000" spc="500" kern="0" dirty="0">
                <a:solidFill>
                  <a:srgbClr val="15AD70"/>
                </a:solidFill>
                <a:latin typeface="Helvetica Neue" pitchFamily="34" charset="0"/>
                <a:ea typeface="Helvetica Neue" pitchFamily="34" charset="-122"/>
                <a:cs typeface="Helvetica Neue" pitchFamily="34" charset="-120"/>
              </a:rPr>
              <a:t>THE STRUCTURE LAYER FOR AI-NATIVE WORK</a:t>
            </a:r>
            <a:endParaRPr lang="en-US" sz="1000" dirty="0"/>
          </a:p>
        </p:txBody>
      </p:sp>
      <p:sp>
        <p:nvSpPr>
          <p:cNvPr id="11" name="Text 9"/>
          <p:cNvSpPr/>
          <p:nvPr/>
        </p:nvSpPr>
        <p:spPr>
          <a:xfrm>
            <a:off x="640080" y="2514600"/>
            <a:ext cx="10881360" cy="868680"/>
          </a:xfrm>
          <a:prstGeom prst="rect">
            <a:avLst/>
          </a:prstGeom>
          <a:noFill/>
          <a:ln/>
        </p:spPr>
        <p:txBody>
          <a:bodyPr wrap="square" lIns="0" tIns="0" rIns="0" bIns="0" rtlCol="0" anchor="ctr"/>
          <a:lstStyle/>
          <a:p>
            <a:pPr algn="ctr" indent="0" marL="0">
              <a:buNone/>
            </a:pPr>
            <a:r>
              <a:rPr lang="en-US" sz="6000" dirty="0">
                <a:solidFill>
                  <a:srgbClr val="FFFFFF"/>
                </a:solidFill>
                <a:latin typeface="Helvetica Neue" pitchFamily="34" charset="0"/>
                <a:ea typeface="Helvetica Neue" pitchFamily="34" charset="-122"/>
                <a:cs typeface="Helvetica Neue" pitchFamily="34" charset="-120"/>
              </a:rPr>
              <a:t>One person.</a:t>
            </a:r>
            <a:endParaRPr lang="en-US" sz="6000" dirty="0"/>
          </a:p>
        </p:txBody>
      </p:sp>
      <p:sp>
        <p:nvSpPr>
          <p:cNvPr id="12" name="Text 10"/>
          <p:cNvSpPr/>
          <p:nvPr/>
        </p:nvSpPr>
        <p:spPr>
          <a:xfrm>
            <a:off x="640080" y="3337560"/>
            <a:ext cx="10881360" cy="868680"/>
          </a:xfrm>
          <a:prstGeom prst="rect">
            <a:avLst/>
          </a:prstGeom>
          <a:noFill/>
          <a:ln/>
        </p:spPr>
        <p:txBody>
          <a:bodyPr wrap="square" lIns="0" tIns="0" rIns="0" bIns="0" rtlCol="0" anchor="ctr"/>
          <a:lstStyle/>
          <a:p>
            <a:pPr algn="ctr" indent="0" marL="0">
              <a:buNone/>
            </a:pPr>
            <a:r>
              <a:rPr lang="en-US" sz="6000" dirty="0">
                <a:solidFill>
                  <a:srgbClr val="15AD70"/>
                </a:solidFill>
                <a:latin typeface="Helvetica Neue" pitchFamily="34" charset="0"/>
                <a:ea typeface="Helvetica Neue" pitchFamily="34" charset="-122"/>
                <a:cs typeface="Helvetica Neue" pitchFamily="34" charset="-120"/>
              </a:rPr>
              <a:t>The output of an entire team.</a:t>
            </a:r>
            <a:endParaRPr lang="en-US" sz="6000" dirty="0"/>
          </a:p>
        </p:txBody>
      </p:sp>
      <p:sp>
        <p:nvSpPr>
          <p:cNvPr id="13" name="Text 11"/>
          <p:cNvSpPr/>
          <p:nvPr/>
        </p:nvSpPr>
        <p:spPr>
          <a:xfrm>
            <a:off x="2011680" y="4480560"/>
            <a:ext cx="8138160" cy="822960"/>
          </a:xfrm>
          <a:prstGeom prst="rect">
            <a:avLst/>
          </a:prstGeom>
          <a:noFill/>
          <a:ln/>
        </p:spPr>
        <p:txBody>
          <a:bodyPr wrap="square" lIns="0" tIns="0" rIns="0" bIns="0" rtlCol="0" anchor="ctr"/>
          <a:lstStyle/>
          <a:p>
            <a:pPr algn="ctr" indent="0" marL="0">
              <a:buNone/>
            </a:pPr>
            <a:r>
              <a:rPr lang="en-US" sz="1400" dirty="0">
                <a:solidFill>
                  <a:srgbClr val="A0A0B0"/>
                </a:solidFill>
                <a:latin typeface="Helvetica Neue" pitchFamily="34" charset="0"/>
                <a:ea typeface="Helvetica Neue" pitchFamily="34" charset="-122"/>
                <a:cs typeface="Helvetica Neue" pitchFamily="34" charset="-120"/>
              </a:rPr>
              <a:t>GRID is the operating system for organizational intelligence — </a:t>
            </a:r>
            <a:endParaRPr lang="en-US" sz="1400" dirty="0"/>
          </a:p>
          <a:p>
            <a:pPr algn="ctr" indent="0" marL="0">
              <a:buNone/>
            </a:pPr>
            <a:r>
              <a:rPr lang="en-US" sz="1400" dirty="0">
                <a:solidFill>
                  <a:srgbClr val="A0A0B0"/>
                </a:solidFill>
                <a:latin typeface="Helvetica Neue" pitchFamily="34" charset="0"/>
                <a:ea typeface="Helvetica Neue" pitchFamily="34" charset="-122"/>
                <a:cs typeface="Helvetica Neue" pitchFamily="34" charset="-120"/>
              </a:rPr>
              <a:t>adaptive environments, self-correcting workflows, and an AI that reasons across everything.</a:t>
            </a:r>
            <a:endParaRPr lang="en-US" sz="1400" dirty="0"/>
          </a:p>
        </p:txBody>
      </p:sp>
      <p:sp>
        <p:nvSpPr>
          <p:cNvPr id="14" name="Shape 12"/>
          <p:cNvSpPr/>
          <p:nvPr/>
        </p:nvSpPr>
        <p:spPr>
          <a:xfrm>
            <a:off x="640080" y="6080760"/>
            <a:ext cx="10881360" cy="0"/>
          </a:xfrm>
          <a:prstGeom prst="line">
            <a:avLst/>
          </a:prstGeom>
          <a:noFill/>
          <a:ln w="6350">
            <a:solidFill>
              <a:srgbClr val="181822"/>
            </a:solidFill>
            <a:prstDash val="solid"/>
          </a:ln>
        </p:spPr>
      </p:sp>
      <p:sp>
        <p:nvSpPr>
          <p:cNvPr id="15" name="Text 13"/>
          <p:cNvSpPr/>
          <p:nvPr/>
        </p:nvSpPr>
        <p:spPr>
          <a:xfrm>
            <a:off x="640080" y="6199632"/>
            <a:ext cx="4572000" cy="27432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Nicole Cain  ·  Founder  ·  Systems Designer</a:t>
            </a:r>
            <a:endParaRPr lang="en-US" sz="1000" dirty="0"/>
          </a:p>
        </p:txBody>
      </p:sp>
      <p:sp>
        <p:nvSpPr>
          <p:cNvPr id="16" name="Text 14"/>
          <p:cNvSpPr/>
          <p:nvPr/>
        </p:nvSpPr>
        <p:spPr>
          <a:xfrm>
            <a:off x="7863840" y="6199632"/>
            <a:ext cx="3657600" cy="274320"/>
          </a:xfrm>
          <a:prstGeom prst="rect">
            <a:avLst/>
          </a:prstGeom>
          <a:noFill/>
          <a:ln/>
        </p:spPr>
        <p:txBody>
          <a:bodyPr wrap="square" lIns="0" tIns="0" rIns="0" bIns="0" rtlCol="0" anchor="ctr"/>
          <a:lstStyle/>
          <a:p>
            <a:pPr algn="r" indent="0" marL="0">
              <a:buNone/>
            </a:pPr>
            <a:r>
              <a:rPr lang="en-US" sz="1000" dirty="0">
                <a:solidFill>
                  <a:srgbClr val="15AD70"/>
                </a:solidFill>
                <a:latin typeface="Helvetica Neue" pitchFamily="34" charset="0"/>
                <a:ea typeface="Helvetica Neue" pitchFamily="34" charset="-122"/>
                <a:cs typeface="Helvetica Neue" pitchFamily="34" charset="-120"/>
              </a:rPr>
              <a:t>$500K target  ·  $750K hard cap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FF6B6B"/>
                </a:solidFill>
                <a:latin typeface="Helvetica Neue" pitchFamily="34" charset="0"/>
                <a:ea typeface="Helvetica Neue" pitchFamily="34" charset="-122"/>
                <a:cs typeface="Helvetica Neue" pitchFamily="34" charset="-120"/>
              </a:rPr>
              <a:t>PROBLEM PROXIMITY</a:t>
            </a:r>
            <a:endParaRPr lang="en-US" sz="900" dirty="0"/>
          </a:p>
        </p:txBody>
      </p:sp>
      <p:sp>
        <p:nvSpPr>
          <p:cNvPr id="3" name="Text 1"/>
          <p:cNvSpPr/>
          <p:nvPr/>
        </p:nvSpPr>
        <p:spPr>
          <a:xfrm>
            <a:off x="640080" y="868680"/>
            <a:ext cx="10881360" cy="777240"/>
          </a:xfrm>
          <a:prstGeom prst="rect">
            <a:avLst/>
          </a:prstGeom>
          <a:noFill/>
          <a:ln/>
        </p:spPr>
        <p:txBody>
          <a:bodyPr wrap="square" lIns="0" tIns="0" rIns="0" bIns="0" rtlCol="0" anchor="ctr"/>
          <a:lstStyle/>
          <a:p>
            <a:pPr indent="0" marL="0">
              <a:buNone/>
            </a:pPr>
            <a:r>
              <a:rPr lang="en-US" sz="3200" dirty="0">
                <a:solidFill>
                  <a:srgbClr val="FFFFFF"/>
                </a:solidFill>
                <a:latin typeface="Helvetica Neue" pitchFamily="34" charset="0"/>
                <a:ea typeface="Helvetica Neue" pitchFamily="34" charset="-122"/>
                <a:cs typeface="Helvetica Neue" pitchFamily="34" charset="-120"/>
              </a:rPr>
              <a:t>The gap isn't tools. It's cognition.</a:t>
            </a:r>
            <a:endParaRPr lang="en-US" sz="3200" dirty="0"/>
          </a:p>
        </p:txBody>
      </p:sp>
      <p:sp>
        <p:nvSpPr>
          <p:cNvPr id="4" name="Text 2"/>
          <p:cNvSpPr/>
          <p:nvPr/>
        </p:nvSpPr>
        <p:spPr>
          <a:xfrm>
            <a:off x="640080" y="1737360"/>
            <a:ext cx="8487461" cy="100584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Humans can't hold the full picture of their business. AI can't understand the context it's operating in. The gap between them — the meta-cognition layer — is where $600K+ per organization disappears every year. Not into bad tools. Into the space between insight and action.</a:t>
            </a:r>
            <a:endParaRPr lang="en-US" sz="1300" dirty="0"/>
          </a:p>
        </p:txBody>
      </p:sp>
      <p:sp>
        <p:nvSpPr>
          <p:cNvPr id="5" name="Shape 3"/>
          <p:cNvSpPr/>
          <p:nvPr/>
        </p:nvSpPr>
        <p:spPr>
          <a:xfrm>
            <a:off x="640080" y="3017520"/>
            <a:ext cx="3505200" cy="3246120"/>
          </a:xfrm>
          <a:prstGeom prst="roundRect">
            <a:avLst>
              <a:gd name="adj" fmla="val 2254"/>
            </a:avLst>
          </a:prstGeom>
          <a:solidFill>
            <a:srgbClr val="101018"/>
          </a:solidFill>
          <a:ln w="9525">
            <a:solidFill>
              <a:srgbClr val="1F1F2A"/>
            </a:solidFill>
            <a:prstDash val="solid"/>
          </a:ln>
        </p:spPr>
      </p:sp>
      <p:sp>
        <p:nvSpPr>
          <p:cNvPr id="6" name="Shape 4"/>
          <p:cNvSpPr/>
          <p:nvPr/>
        </p:nvSpPr>
        <p:spPr>
          <a:xfrm>
            <a:off x="649224" y="3026664"/>
            <a:ext cx="3486912" cy="36576"/>
          </a:xfrm>
          <a:prstGeom prst="rect">
            <a:avLst/>
          </a:prstGeom>
          <a:solidFill>
            <a:srgbClr val="FF6B6B"/>
          </a:solidFill>
          <a:ln w="12700">
            <a:solidFill>
              <a:srgbClr val="FF6B6B"/>
            </a:solidFill>
            <a:prstDash val="solid"/>
          </a:ln>
        </p:spPr>
      </p:sp>
      <p:sp>
        <p:nvSpPr>
          <p:cNvPr id="7" name="Text 5"/>
          <p:cNvSpPr/>
          <p:nvPr/>
        </p:nvSpPr>
        <p:spPr>
          <a:xfrm>
            <a:off x="914400" y="3246120"/>
            <a:ext cx="365760" cy="274320"/>
          </a:xfrm>
          <a:prstGeom prst="rect">
            <a:avLst/>
          </a:prstGeom>
          <a:noFill/>
          <a:ln/>
        </p:spPr>
        <p:txBody>
          <a:bodyPr wrap="square" lIns="0" tIns="0" rIns="0" bIns="0" rtlCol="0" anchor="ctr"/>
          <a:lstStyle/>
          <a:p>
            <a:pPr indent="0" marL="0">
              <a:buNone/>
            </a:pPr>
            <a:r>
              <a:rPr lang="en-US" sz="1800" dirty="0">
                <a:solidFill>
                  <a:srgbClr val="FF6B6B"/>
                </a:solidFill>
                <a:latin typeface="Helvetica Neue" pitchFamily="34" charset="0"/>
                <a:ea typeface="Helvetica Neue" pitchFamily="34" charset="-122"/>
                <a:cs typeface="Helvetica Neue" pitchFamily="34" charset="-120"/>
              </a:rPr>
              <a:t>01</a:t>
            </a:r>
            <a:endParaRPr lang="en-US" sz="1800" dirty="0"/>
          </a:p>
        </p:txBody>
      </p:sp>
      <p:sp>
        <p:nvSpPr>
          <p:cNvPr id="8" name="Text 6"/>
          <p:cNvSpPr/>
          <p:nvPr/>
        </p:nvSpPr>
        <p:spPr>
          <a:xfrm>
            <a:off x="1280160" y="3291840"/>
            <a:ext cx="2590800" cy="228600"/>
          </a:xfrm>
          <a:prstGeom prst="rect">
            <a:avLst/>
          </a:prstGeom>
          <a:noFill/>
          <a:ln/>
        </p:spPr>
        <p:txBody>
          <a:bodyPr wrap="square" lIns="0" tIns="0" rIns="0" bIns="0" rtlCol="0" anchor="ctr"/>
          <a:lstStyle/>
          <a:p>
            <a:pPr indent="0" marL="0">
              <a:buNone/>
            </a:pPr>
            <a:r>
              <a:rPr lang="en-US" sz="800" spc="200" kern="0" dirty="0">
                <a:solidFill>
                  <a:srgbClr val="FF6B6B"/>
                </a:solidFill>
                <a:latin typeface="Helvetica Neue" pitchFamily="34" charset="0"/>
                <a:ea typeface="Helvetica Neue" pitchFamily="34" charset="-122"/>
                <a:cs typeface="Helvetica Neue" pitchFamily="34" charset="-120"/>
              </a:rPr>
              <a:t>THE META-COGNITION GAP</a:t>
            </a:r>
            <a:endParaRPr lang="en-US" sz="800" dirty="0"/>
          </a:p>
        </p:txBody>
      </p:sp>
      <p:sp>
        <p:nvSpPr>
          <p:cNvPr id="9" name="Text 7"/>
          <p:cNvSpPr/>
          <p:nvPr/>
        </p:nvSpPr>
        <p:spPr>
          <a:xfrm>
            <a:off x="914400" y="3611880"/>
            <a:ext cx="2956560" cy="411480"/>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Neither side can see the whole.</a:t>
            </a:r>
            <a:endParaRPr lang="en-US" sz="1500" dirty="0"/>
          </a:p>
        </p:txBody>
      </p:sp>
      <p:sp>
        <p:nvSpPr>
          <p:cNvPr id="10" name="Shape 8"/>
          <p:cNvSpPr/>
          <p:nvPr/>
        </p:nvSpPr>
        <p:spPr>
          <a:xfrm>
            <a:off x="914400" y="4069080"/>
            <a:ext cx="548640" cy="0"/>
          </a:xfrm>
          <a:prstGeom prst="line">
            <a:avLst/>
          </a:prstGeom>
          <a:noFill/>
          <a:ln w="12700">
            <a:solidFill>
              <a:srgbClr val="FF6B6B"/>
            </a:solidFill>
            <a:prstDash val="solid"/>
          </a:ln>
        </p:spPr>
      </p:sp>
      <p:sp>
        <p:nvSpPr>
          <p:cNvPr id="11" name="Text 9"/>
          <p:cNvSpPr/>
          <p:nvPr/>
        </p:nvSpPr>
        <p:spPr>
          <a:xfrm>
            <a:off x="914400" y="4206240"/>
            <a:ext cx="2956560" cy="14173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Humans process signals too slowly — 62% of PM time is synthesizing status across tools. AI generates output too fast — with no organizational context, identity constraints, or quality feedback. The missing layer is meta-cognition: a system that holds both human judgment and AI execution in one structural frame, so each side learns from the other.</a:t>
            </a:r>
            <a:endParaRPr lang="en-US" sz="950" dirty="0"/>
          </a:p>
        </p:txBody>
      </p:sp>
      <p:sp>
        <p:nvSpPr>
          <p:cNvPr id="12" name="Shape 10"/>
          <p:cNvSpPr/>
          <p:nvPr/>
        </p:nvSpPr>
        <p:spPr>
          <a:xfrm>
            <a:off x="914400" y="5669280"/>
            <a:ext cx="2956560" cy="411480"/>
          </a:xfrm>
          <a:prstGeom prst="roundRect">
            <a:avLst>
              <a:gd name="adj" fmla="val 8889"/>
            </a:avLst>
          </a:prstGeom>
          <a:solidFill>
            <a:srgbClr val="FF6B6B">
              <a:alpha val="12000"/>
            </a:srgbClr>
          </a:solidFill>
          <a:ln w="6350">
            <a:solidFill>
              <a:srgbClr val="FF6B6B"/>
            </a:solidFill>
            <a:prstDash val="solid"/>
          </a:ln>
        </p:spPr>
      </p:sp>
      <p:sp>
        <p:nvSpPr>
          <p:cNvPr id="13" name="Text 11"/>
          <p:cNvSpPr/>
          <p:nvPr/>
        </p:nvSpPr>
        <p:spPr>
          <a:xfrm>
            <a:off x="914400" y="5669280"/>
            <a:ext cx="2956560" cy="411480"/>
          </a:xfrm>
          <a:prstGeom prst="rect">
            <a:avLst/>
          </a:prstGeom>
          <a:noFill/>
          <a:ln/>
        </p:spPr>
        <p:txBody>
          <a:bodyPr wrap="square" lIns="0" tIns="0" rIns="0" bIns="0" rtlCol="0" anchor="ctr"/>
          <a:lstStyle/>
          <a:p>
            <a:pPr algn="ctr" indent="0" marL="0">
              <a:buNone/>
            </a:pPr>
            <a:r>
              <a:rPr lang="en-US" sz="1400" dirty="0">
                <a:solidFill>
                  <a:srgbClr val="FF6B6B"/>
                </a:solidFill>
                <a:latin typeface="Helvetica Neue" pitchFamily="34" charset="0"/>
                <a:ea typeface="Helvetica Neue" pitchFamily="34" charset="-122"/>
                <a:cs typeface="Helvetica Neue" pitchFamily="34" charset="-120"/>
              </a:rPr>
              <a:t>62%</a:t>
            </a:r>
            <a:pPr algn="ctr" indent="0" marL="0">
              <a:buNone/>
            </a:pPr>
            <a:r>
              <a:rPr lang="en-US" sz="900" dirty="0">
                <a:solidFill>
                  <a:srgbClr val="A0A0B0"/>
                </a:solidFill>
                <a:latin typeface="Helvetica Neue" pitchFamily="34" charset="0"/>
                <a:ea typeface="Helvetica Neue" pitchFamily="34" charset="-122"/>
                <a:cs typeface="Helvetica Neue" pitchFamily="34" charset="-120"/>
              </a:rPr>
              <a:t>  of PM time lost to synthesis</a:t>
            </a:r>
            <a:endParaRPr lang="en-US" sz="1400" dirty="0"/>
          </a:p>
        </p:txBody>
      </p:sp>
      <p:sp>
        <p:nvSpPr>
          <p:cNvPr id="14" name="Shape 12"/>
          <p:cNvSpPr/>
          <p:nvPr/>
        </p:nvSpPr>
        <p:spPr>
          <a:xfrm>
            <a:off x="4328160" y="3017520"/>
            <a:ext cx="3505200" cy="3246120"/>
          </a:xfrm>
          <a:prstGeom prst="roundRect">
            <a:avLst>
              <a:gd name="adj" fmla="val 2254"/>
            </a:avLst>
          </a:prstGeom>
          <a:solidFill>
            <a:srgbClr val="101018"/>
          </a:solidFill>
          <a:ln w="9525">
            <a:solidFill>
              <a:srgbClr val="1F1F2A"/>
            </a:solidFill>
            <a:prstDash val="solid"/>
          </a:ln>
        </p:spPr>
      </p:sp>
      <p:sp>
        <p:nvSpPr>
          <p:cNvPr id="15" name="Shape 13"/>
          <p:cNvSpPr/>
          <p:nvPr/>
        </p:nvSpPr>
        <p:spPr>
          <a:xfrm>
            <a:off x="4337304" y="3026664"/>
            <a:ext cx="3486912" cy="36576"/>
          </a:xfrm>
          <a:prstGeom prst="rect">
            <a:avLst/>
          </a:prstGeom>
          <a:solidFill>
            <a:srgbClr val="F7C700"/>
          </a:solidFill>
          <a:ln w="12700">
            <a:solidFill>
              <a:srgbClr val="F7C700"/>
            </a:solidFill>
            <a:prstDash val="solid"/>
          </a:ln>
        </p:spPr>
      </p:sp>
      <p:sp>
        <p:nvSpPr>
          <p:cNvPr id="16" name="Text 14"/>
          <p:cNvSpPr/>
          <p:nvPr/>
        </p:nvSpPr>
        <p:spPr>
          <a:xfrm>
            <a:off x="4602480" y="3246120"/>
            <a:ext cx="365760" cy="274320"/>
          </a:xfrm>
          <a:prstGeom prst="rect">
            <a:avLst/>
          </a:prstGeom>
          <a:noFill/>
          <a:ln/>
        </p:spPr>
        <p:txBody>
          <a:bodyPr wrap="square" lIns="0" tIns="0" rIns="0" bIns="0" rtlCol="0" anchor="ctr"/>
          <a:lstStyle/>
          <a:p>
            <a:pPr indent="0" marL="0">
              <a:buNone/>
            </a:pPr>
            <a:r>
              <a:rPr lang="en-US" sz="1800" dirty="0">
                <a:solidFill>
                  <a:srgbClr val="F7C700"/>
                </a:solidFill>
                <a:latin typeface="Helvetica Neue" pitchFamily="34" charset="0"/>
                <a:ea typeface="Helvetica Neue" pitchFamily="34" charset="-122"/>
                <a:cs typeface="Helvetica Neue" pitchFamily="34" charset="-120"/>
              </a:rPr>
              <a:t>02</a:t>
            </a:r>
            <a:endParaRPr lang="en-US" sz="1800" dirty="0"/>
          </a:p>
        </p:txBody>
      </p:sp>
      <p:sp>
        <p:nvSpPr>
          <p:cNvPr id="17" name="Text 15"/>
          <p:cNvSpPr/>
          <p:nvPr/>
        </p:nvSpPr>
        <p:spPr>
          <a:xfrm>
            <a:off x="4968240" y="3291840"/>
            <a:ext cx="2590800" cy="228600"/>
          </a:xfrm>
          <a:prstGeom prst="rect">
            <a:avLst/>
          </a:prstGeom>
          <a:noFill/>
          <a:ln/>
        </p:spPr>
        <p:txBody>
          <a:bodyPr wrap="square" lIns="0" tIns="0" rIns="0" bIns="0" rtlCol="0" anchor="ctr"/>
          <a:lstStyle/>
          <a:p>
            <a:pPr indent="0" marL="0">
              <a:buNone/>
            </a:pPr>
            <a:r>
              <a:rPr lang="en-US" sz="800" spc="200" kern="0" dirty="0">
                <a:solidFill>
                  <a:srgbClr val="F7C700"/>
                </a:solidFill>
                <a:latin typeface="Helvetica Neue" pitchFamily="34" charset="0"/>
                <a:ea typeface="Helvetica Neue" pitchFamily="34" charset="-122"/>
                <a:cs typeface="Helvetica Neue" pitchFamily="34" charset="-120"/>
              </a:rPr>
              <a:t>TRUSTED RELATIONS AT RISK</a:t>
            </a:r>
            <a:endParaRPr lang="en-US" sz="800" dirty="0"/>
          </a:p>
        </p:txBody>
      </p:sp>
      <p:sp>
        <p:nvSpPr>
          <p:cNvPr id="18" name="Text 16"/>
          <p:cNvSpPr/>
          <p:nvPr/>
        </p:nvSpPr>
        <p:spPr>
          <a:xfrm>
            <a:off x="4602480" y="3611880"/>
            <a:ext cx="2956560" cy="411480"/>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Expertise doesn't translate into systems.</a:t>
            </a:r>
            <a:endParaRPr lang="en-US" sz="1500" dirty="0"/>
          </a:p>
        </p:txBody>
      </p:sp>
      <p:sp>
        <p:nvSpPr>
          <p:cNvPr id="19" name="Shape 17"/>
          <p:cNvSpPr/>
          <p:nvPr/>
        </p:nvSpPr>
        <p:spPr>
          <a:xfrm>
            <a:off x="4602480" y="4069080"/>
            <a:ext cx="548640" cy="0"/>
          </a:xfrm>
          <a:prstGeom prst="line">
            <a:avLst/>
          </a:prstGeom>
          <a:noFill/>
          <a:ln w="12700">
            <a:solidFill>
              <a:srgbClr val="F7C700"/>
            </a:solidFill>
            <a:prstDash val="solid"/>
          </a:ln>
        </p:spPr>
      </p:sp>
      <p:sp>
        <p:nvSpPr>
          <p:cNvPr id="20" name="Text 18"/>
          <p:cNvSpPr/>
          <p:nvPr/>
        </p:nvSpPr>
        <p:spPr>
          <a:xfrm>
            <a:off x="4602480" y="4206240"/>
            <a:ext cx="2956560" cy="14173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Domain experts — agencies, consultants, operators — have deep knowledge of what works. But their tools don't capture that knowledge structurally. Every insight lives in someone's head or a scattered doc. GRID makes expertise visible and operational: outcomes you can see, patterns you can trace, systems that sustain without the expert in the room.</a:t>
            </a:r>
            <a:endParaRPr lang="en-US" sz="950" dirty="0"/>
          </a:p>
        </p:txBody>
      </p:sp>
      <p:sp>
        <p:nvSpPr>
          <p:cNvPr id="21" name="Shape 19"/>
          <p:cNvSpPr/>
          <p:nvPr/>
        </p:nvSpPr>
        <p:spPr>
          <a:xfrm>
            <a:off x="4602480" y="5669280"/>
            <a:ext cx="2956560" cy="411480"/>
          </a:xfrm>
          <a:prstGeom prst="roundRect">
            <a:avLst>
              <a:gd name="adj" fmla="val 8889"/>
            </a:avLst>
          </a:prstGeom>
          <a:solidFill>
            <a:srgbClr val="F7C700">
              <a:alpha val="12000"/>
            </a:srgbClr>
          </a:solidFill>
          <a:ln w="6350">
            <a:solidFill>
              <a:srgbClr val="F7C700"/>
            </a:solidFill>
            <a:prstDash val="solid"/>
          </a:ln>
        </p:spPr>
      </p:sp>
      <p:sp>
        <p:nvSpPr>
          <p:cNvPr id="22" name="Text 20"/>
          <p:cNvSpPr/>
          <p:nvPr/>
        </p:nvSpPr>
        <p:spPr>
          <a:xfrm>
            <a:off x="4602480" y="5669280"/>
            <a:ext cx="2956560" cy="411480"/>
          </a:xfrm>
          <a:prstGeom prst="rect">
            <a:avLst/>
          </a:prstGeom>
          <a:noFill/>
          <a:ln/>
        </p:spPr>
        <p:txBody>
          <a:bodyPr wrap="square" lIns="0" tIns="0" rIns="0" bIns="0" rtlCol="0" anchor="ctr"/>
          <a:lstStyle/>
          <a:p>
            <a:pPr algn="ctr" indent="0" marL="0">
              <a:buNone/>
            </a:pPr>
            <a:r>
              <a:rPr lang="en-US" sz="1400" dirty="0">
                <a:solidFill>
                  <a:srgbClr val="F7C700"/>
                </a:solidFill>
                <a:latin typeface="Helvetica Neue" pitchFamily="34" charset="0"/>
                <a:ea typeface="Helvetica Neue" pitchFamily="34" charset="-122"/>
                <a:cs typeface="Helvetica Neue" pitchFamily="34" charset="-120"/>
              </a:rPr>
              <a:t>32h</a:t>
            </a:r>
            <a:pPr algn="ctr" indent="0" marL="0">
              <a:buNone/>
            </a:pPr>
            <a:r>
              <a:rPr lang="en-US" sz="900" dirty="0">
                <a:solidFill>
                  <a:srgbClr val="A0A0B0"/>
                </a:solidFill>
                <a:latin typeface="Helvetica Neue" pitchFamily="34" charset="0"/>
                <a:ea typeface="Helvetica Neue" pitchFamily="34" charset="-122"/>
                <a:cs typeface="Helvetica Neue" pitchFamily="34" charset="-120"/>
              </a:rPr>
              <a:t>  per content piece, manually</a:t>
            </a:r>
            <a:endParaRPr lang="en-US" sz="1400" dirty="0"/>
          </a:p>
        </p:txBody>
      </p:sp>
      <p:sp>
        <p:nvSpPr>
          <p:cNvPr id="23" name="Shape 21"/>
          <p:cNvSpPr/>
          <p:nvPr/>
        </p:nvSpPr>
        <p:spPr>
          <a:xfrm>
            <a:off x="8016240" y="3017520"/>
            <a:ext cx="3505200" cy="3246120"/>
          </a:xfrm>
          <a:prstGeom prst="roundRect">
            <a:avLst>
              <a:gd name="adj" fmla="val 2254"/>
            </a:avLst>
          </a:prstGeom>
          <a:solidFill>
            <a:srgbClr val="101018"/>
          </a:solidFill>
          <a:ln w="9525">
            <a:solidFill>
              <a:srgbClr val="1F1F2A"/>
            </a:solidFill>
            <a:prstDash val="solid"/>
          </a:ln>
        </p:spPr>
      </p:sp>
      <p:sp>
        <p:nvSpPr>
          <p:cNvPr id="24" name="Shape 22"/>
          <p:cNvSpPr/>
          <p:nvPr/>
        </p:nvSpPr>
        <p:spPr>
          <a:xfrm>
            <a:off x="8025384" y="3026664"/>
            <a:ext cx="3486912" cy="36576"/>
          </a:xfrm>
          <a:prstGeom prst="rect">
            <a:avLst/>
          </a:prstGeom>
          <a:solidFill>
            <a:srgbClr val="BF9FF1"/>
          </a:solidFill>
          <a:ln w="12700">
            <a:solidFill>
              <a:srgbClr val="BF9FF1"/>
            </a:solidFill>
            <a:prstDash val="solid"/>
          </a:ln>
        </p:spPr>
      </p:sp>
      <p:sp>
        <p:nvSpPr>
          <p:cNvPr id="25" name="Text 23"/>
          <p:cNvSpPr/>
          <p:nvPr/>
        </p:nvSpPr>
        <p:spPr>
          <a:xfrm>
            <a:off x="8290560" y="3246120"/>
            <a:ext cx="365760" cy="274320"/>
          </a:xfrm>
          <a:prstGeom prst="rect">
            <a:avLst/>
          </a:prstGeom>
          <a:noFill/>
          <a:ln/>
        </p:spPr>
        <p:txBody>
          <a:bodyPr wrap="square" lIns="0" tIns="0" rIns="0" bIns="0" rtlCol="0" anchor="ctr"/>
          <a:lstStyle/>
          <a:p>
            <a:pPr indent="0" marL="0">
              <a:buNone/>
            </a:pPr>
            <a:r>
              <a:rPr lang="en-US" sz="1800" dirty="0">
                <a:solidFill>
                  <a:srgbClr val="BF9FF1"/>
                </a:solidFill>
                <a:latin typeface="Helvetica Neue" pitchFamily="34" charset="0"/>
                <a:ea typeface="Helvetica Neue" pitchFamily="34" charset="-122"/>
                <a:cs typeface="Helvetica Neue" pitchFamily="34" charset="-120"/>
              </a:rPr>
              <a:t>03</a:t>
            </a:r>
            <a:endParaRPr lang="en-US" sz="1800" dirty="0"/>
          </a:p>
        </p:txBody>
      </p:sp>
      <p:sp>
        <p:nvSpPr>
          <p:cNvPr id="26" name="Text 24"/>
          <p:cNvSpPr/>
          <p:nvPr/>
        </p:nvSpPr>
        <p:spPr>
          <a:xfrm>
            <a:off x="8656320" y="3291840"/>
            <a:ext cx="2590800" cy="228600"/>
          </a:xfrm>
          <a:prstGeom prst="rect">
            <a:avLst/>
          </a:prstGeom>
          <a:noFill/>
          <a:ln/>
        </p:spPr>
        <p:txBody>
          <a:bodyPr wrap="square" lIns="0" tIns="0" rIns="0" bIns="0" rtlCol="0" anchor="ctr"/>
          <a:lstStyle/>
          <a:p>
            <a:pPr indent="0" marL="0">
              <a:buNone/>
            </a:pPr>
            <a:r>
              <a:rPr lang="en-US" sz="800" spc="200" kern="0" dirty="0">
                <a:solidFill>
                  <a:srgbClr val="BF9FF1"/>
                </a:solidFill>
                <a:latin typeface="Helvetica Neue" pitchFamily="34" charset="0"/>
                <a:ea typeface="Helvetica Neue" pitchFamily="34" charset="-122"/>
                <a:cs typeface="Helvetica Neue" pitchFamily="34" charset="-120"/>
              </a:rPr>
              <a:t>PROBLEM SELECTION IS BROKEN</a:t>
            </a:r>
            <a:endParaRPr lang="en-US" sz="800" dirty="0"/>
          </a:p>
        </p:txBody>
      </p:sp>
      <p:sp>
        <p:nvSpPr>
          <p:cNvPr id="27" name="Text 25"/>
          <p:cNvSpPr/>
          <p:nvPr/>
        </p:nvSpPr>
        <p:spPr>
          <a:xfrm>
            <a:off x="8290560" y="3611880"/>
            <a:ext cx="2956560" cy="411480"/>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Nobody knows where to focus.</a:t>
            </a:r>
            <a:endParaRPr lang="en-US" sz="1500" dirty="0"/>
          </a:p>
        </p:txBody>
      </p:sp>
      <p:sp>
        <p:nvSpPr>
          <p:cNvPr id="28" name="Shape 26"/>
          <p:cNvSpPr/>
          <p:nvPr/>
        </p:nvSpPr>
        <p:spPr>
          <a:xfrm>
            <a:off x="8290560" y="4069080"/>
            <a:ext cx="548640" cy="0"/>
          </a:xfrm>
          <a:prstGeom prst="line">
            <a:avLst/>
          </a:prstGeom>
          <a:noFill/>
          <a:ln w="12700">
            <a:solidFill>
              <a:srgbClr val="BF9FF1"/>
            </a:solidFill>
            <a:prstDash val="solid"/>
          </a:ln>
        </p:spPr>
      </p:sp>
      <p:sp>
        <p:nvSpPr>
          <p:cNvPr id="29" name="Text 27"/>
          <p:cNvSpPr/>
          <p:nvPr/>
        </p:nvSpPr>
        <p:spPr>
          <a:xfrm>
            <a:off x="8290560" y="4206240"/>
            <a:ext cx="2956560" cy="14173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Businesses don't fail from bad execution — they fail from solving the wrong problems. Without feedback loops, teams optimize campaigns that don't convert, fix systems that aren't broken, and miss the signals that actually matter. Nova creates closed-loop intelligence: it suggests where to focus, keeps brand identity close, and surfaces the 3 things that move the needle.</a:t>
            </a:r>
            <a:endParaRPr lang="en-US" sz="950" dirty="0"/>
          </a:p>
        </p:txBody>
      </p:sp>
      <p:sp>
        <p:nvSpPr>
          <p:cNvPr id="30" name="Shape 28"/>
          <p:cNvSpPr/>
          <p:nvPr/>
        </p:nvSpPr>
        <p:spPr>
          <a:xfrm>
            <a:off x="8290560" y="5669280"/>
            <a:ext cx="2956560" cy="411480"/>
          </a:xfrm>
          <a:prstGeom prst="roundRect">
            <a:avLst>
              <a:gd name="adj" fmla="val 8889"/>
            </a:avLst>
          </a:prstGeom>
          <a:solidFill>
            <a:srgbClr val="BF9FF1">
              <a:alpha val="12000"/>
            </a:srgbClr>
          </a:solidFill>
          <a:ln w="6350">
            <a:solidFill>
              <a:srgbClr val="BF9FF1"/>
            </a:solidFill>
            <a:prstDash val="solid"/>
          </a:ln>
        </p:spPr>
      </p:sp>
      <p:sp>
        <p:nvSpPr>
          <p:cNvPr id="31" name="Text 29"/>
          <p:cNvSpPr/>
          <p:nvPr/>
        </p:nvSpPr>
        <p:spPr>
          <a:xfrm>
            <a:off x="8290560" y="5669280"/>
            <a:ext cx="2956560" cy="411480"/>
          </a:xfrm>
          <a:prstGeom prst="rect">
            <a:avLst/>
          </a:prstGeom>
          <a:noFill/>
          <a:ln/>
        </p:spPr>
        <p:txBody>
          <a:bodyPr wrap="square" lIns="0" tIns="0" rIns="0" bIns="0" rtlCol="0" anchor="ctr"/>
          <a:lstStyle/>
          <a:p>
            <a:pPr algn="ctr" indent="0" marL="0">
              <a:buNone/>
            </a:pPr>
            <a:r>
              <a:rPr lang="en-US" sz="1400" dirty="0">
                <a:solidFill>
                  <a:srgbClr val="BF9FF1"/>
                </a:solidFill>
                <a:latin typeface="Helvetica Neue" pitchFamily="34" charset="0"/>
                <a:ea typeface="Helvetica Neue" pitchFamily="34" charset="-122"/>
                <a:cs typeface="Helvetica Neue" pitchFamily="34" charset="-120"/>
              </a:rPr>
              <a:t>8–12</a:t>
            </a:r>
            <a:pPr algn="ctr" indent="0" marL="0">
              <a:buNone/>
            </a:pPr>
            <a:r>
              <a:rPr lang="en-US" sz="900" dirty="0">
                <a:solidFill>
                  <a:srgbClr val="A0A0B0"/>
                </a:solidFill>
                <a:latin typeface="Helvetica Neue" pitchFamily="34" charset="0"/>
                <a:ea typeface="Helvetica Neue" pitchFamily="34" charset="-122"/>
                <a:cs typeface="Helvetica Neue" pitchFamily="34" charset="-120"/>
              </a:rPr>
              <a:t>  AI tools, zero feedback loops</a:t>
            </a:r>
            <a:endParaRPr lang="en-US" sz="1400" dirty="0"/>
          </a:p>
        </p:txBody>
      </p:sp>
      <p:sp>
        <p:nvSpPr>
          <p:cNvPr id="32" name="Shape 30"/>
          <p:cNvSpPr/>
          <p:nvPr/>
        </p:nvSpPr>
        <p:spPr>
          <a:xfrm>
            <a:off x="640080" y="6419088"/>
            <a:ext cx="10881360" cy="0"/>
          </a:xfrm>
          <a:prstGeom prst="line">
            <a:avLst/>
          </a:prstGeom>
          <a:noFill/>
          <a:ln w="6350">
            <a:solidFill>
              <a:srgbClr val="181822"/>
            </a:solidFill>
            <a:prstDash val="solid"/>
          </a:ln>
        </p:spPr>
      </p:sp>
      <p:sp>
        <p:nvSpPr>
          <p:cNvPr id="33" name="Text 31"/>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34" name="Text 32"/>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2 / 15</a:t>
            </a:r>
            <a:endParaRPr lang="en-US" sz="800" dirty="0"/>
          </a:p>
        </p:txBody>
      </p:sp>
      <p:sp>
        <p:nvSpPr>
          <p:cNvPr id="35" name="Text 33"/>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THE THESIS</a:t>
            </a:r>
            <a:endParaRPr lang="en-US" sz="900" dirty="0"/>
          </a:p>
        </p:txBody>
      </p:sp>
      <p:sp>
        <p:nvSpPr>
          <p:cNvPr id="3" name="Text 1"/>
          <p:cNvSpPr/>
          <p:nvPr/>
        </p:nvSpPr>
        <p:spPr>
          <a:xfrm>
            <a:off x="640080" y="914400"/>
            <a:ext cx="10881360" cy="777240"/>
          </a:xfrm>
          <a:prstGeom prst="rect">
            <a:avLst/>
          </a:prstGeom>
          <a:noFill/>
          <a:ln/>
        </p:spPr>
        <p:txBody>
          <a:bodyPr wrap="square" lIns="0" tIns="0" rIns="0" bIns="0" rtlCol="0" anchor="ctr"/>
          <a:lstStyle/>
          <a:p>
            <a:pPr indent="0" marL="0">
              <a:buNone/>
            </a:pPr>
            <a:r>
              <a:rPr lang="en-US" sz="4000" dirty="0">
                <a:solidFill>
                  <a:srgbClr val="FFFFFF"/>
                </a:solidFill>
                <a:latin typeface="Helvetica Neue" pitchFamily="34" charset="0"/>
                <a:ea typeface="Helvetica Neue" pitchFamily="34" charset="-122"/>
                <a:cs typeface="Helvetica Neue" pitchFamily="34" charset="-120"/>
              </a:rPr>
              <a:t>From manual systems to automated ones.</a:t>
            </a:r>
            <a:endParaRPr lang="en-US" sz="4000" dirty="0"/>
          </a:p>
        </p:txBody>
      </p:sp>
      <p:sp>
        <p:nvSpPr>
          <p:cNvPr id="4" name="Text 2"/>
          <p:cNvSpPr/>
          <p:nvPr/>
        </p:nvSpPr>
        <p:spPr>
          <a:xfrm>
            <a:off x="640080" y="1691640"/>
            <a:ext cx="10881360" cy="777240"/>
          </a:xfrm>
          <a:prstGeom prst="rect">
            <a:avLst/>
          </a:prstGeom>
          <a:noFill/>
          <a:ln/>
        </p:spPr>
        <p:txBody>
          <a:bodyPr wrap="square" lIns="0" tIns="0" rIns="0" bIns="0" rtlCol="0" anchor="ctr"/>
          <a:lstStyle/>
          <a:p>
            <a:pPr indent="0" marL="0">
              <a:buNone/>
            </a:pPr>
            <a:r>
              <a:rPr lang="en-US" sz="4000" dirty="0">
                <a:solidFill>
                  <a:srgbClr val="15AD70"/>
                </a:solidFill>
                <a:latin typeface="Helvetica Neue" pitchFamily="34" charset="0"/>
                <a:ea typeface="Helvetica Neue" pitchFamily="34" charset="-122"/>
                <a:cs typeface="Helvetica Neue" pitchFamily="34" charset="-120"/>
              </a:rPr>
              <a:t>With human input at every step.</a:t>
            </a:r>
            <a:endParaRPr lang="en-US" sz="4000" dirty="0"/>
          </a:p>
        </p:txBody>
      </p:sp>
      <p:sp>
        <p:nvSpPr>
          <p:cNvPr id="5" name="Text 3"/>
          <p:cNvSpPr/>
          <p:nvPr/>
        </p:nvSpPr>
        <p:spPr>
          <a:xfrm>
            <a:off x="640080" y="2743200"/>
            <a:ext cx="7834579" cy="77724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Processes are in demand to change. But the feedback loop between decision and outcome has been blurred by speed and fragmentation. Companies need time to consider the outcome of process — not more automation without understanding. GRID gives them that structure.</a:t>
            </a:r>
            <a:endParaRPr lang="en-US" sz="1300" dirty="0"/>
          </a:p>
        </p:txBody>
      </p:sp>
      <p:sp>
        <p:nvSpPr>
          <p:cNvPr id="6" name="Shape 4"/>
          <p:cNvSpPr/>
          <p:nvPr/>
        </p:nvSpPr>
        <p:spPr>
          <a:xfrm>
            <a:off x="640080" y="3749040"/>
            <a:ext cx="3505200" cy="2331720"/>
          </a:xfrm>
          <a:prstGeom prst="roundRect">
            <a:avLst>
              <a:gd name="adj" fmla="val 3137"/>
            </a:avLst>
          </a:prstGeom>
          <a:solidFill>
            <a:srgbClr val="101018"/>
          </a:solidFill>
          <a:ln w="9525">
            <a:solidFill>
              <a:srgbClr val="1F1F2A"/>
            </a:solidFill>
            <a:prstDash val="solid"/>
          </a:ln>
        </p:spPr>
      </p:sp>
      <p:sp>
        <p:nvSpPr>
          <p:cNvPr id="7" name="Shape 5"/>
          <p:cNvSpPr/>
          <p:nvPr/>
        </p:nvSpPr>
        <p:spPr>
          <a:xfrm>
            <a:off x="649224" y="3758184"/>
            <a:ext cx="3486912" cy="36576"/>
          </a:xfrm>
          <a:prstGeom prst="rect">
            <a:avLst/>
          </a:prstGeom>
          <a:solidFill>
            <a:srgbClr val="FF6B6B"/>
          </a:solidFill>
          <a:ln w="12700">
            <a:solidFill>
              <a:srgbClr val="FF6B6B"/>
            </a:solidFill>
            <a:prstDash val="solid"/>
          </a:ln>
        </p:spPr>
      </p:sp>
      <p:sp>
        <p:nvSpPr>
          <p:cNvPr id="8" name="Text 6"/>
          <p:cNvSpPr/>
          <p:nvPr/>
        </p:nvSpPr>
        <p:spPr>
          <a:xfrm>
            <a:off x="914400" y="3977640"/>
            <a:ext cx="365760" cy="274320"/>
          </a:xfrm>
          <a:prstGeom prst="rect">
            <a:avLst/>
          </a:prstGeom>
          <a:noFill/>
          <a:ln/>
        </p:spPr>
        <p:txBody>
          <a:bodyPr wrap="square" lIns="0" tIns="0" rIns="0" bIns="0" rtlCol="0" anchor="ctr"/>
          <a:lstStyle/>
          <a:p>
            <a:pPr indent="0" marL="0">
              <a:buNone/>
            </a:pPr>
            <a:r>
              <a:rPr lang="en-US" sz="1600" dirty="0">
                <a:solidFill>
                  <a:srgbClr val="FF6B6B"/>
                </a:solidFill>
                <a:latin typeface="Helvetica Neue" pitchFamily="34" charset="0"/>
                <a:ea typeface="Helvetica Neue" pitchFamily="34" charset="-122"/>
                <a:cs typeface="Helvetica Neue" pitchFamily="34" charset="-120"/>
              </a:rPr>
              <a:t>01</a:t>
            </a:r>
            <a:endParaRPr lang="en-US" sz="1600" dirty="0"/>
          </a:p>
        </p:txBody>
      </p:sp>
      <p:sp>
        <p:nvSpPr>
          <p:cNvPr id="9" name="Text 7"/>
          <p:cNvSpPr/>
          <p:nvPr/>
        </p:nvSpPr>
        <p:spPr>
          <a:xfrm>
            <a:off x="1280160" y="4023360"/>
            <a:ext cx="2590800" cy="228600"/>
          </a:xfrm>
          <a:prstGeom prst="rect">
            <a:avLst/>
          </a:prstGeom>
          <a:noFill/>
          <a:ln/>
        </p:spPr>
        <p:txBody>
          <a:bodyPr wrap="square" lIns="0" tIns="0" rIns="0" bIns="0" rtlCol="0" anchor="ctr"/>
          <a:lstStyle/>
          <a:p>
            <a:pPr indent="0" marL="0">
              <a:buNone/>
            </a:pPr>
            <a:r>
              <a:rPr lang="en-US" sz="800" spc="200" kern="0" dirty="0">
                <a:solidFill>
                  <a:srgbClr val="FF6B6B"/>
                </a:solidFill>
                <a:latin typeface="Helvetica Neue" pitchFamily="34" charset="0"/>
                <a:ea typeface="Helvetica Neue" pitchFamily="34" charset="-122"/>
                <a:cs typeface="Helvetica Neue" pitchFamily="34" charset="-120"/>
              </a:rPr>
              <a:t>MANUAL SYSTEMS</a:t>
            </a:r>
            <a:endParaRPr lang="en-US" sz="800" dirty="0"/>
          </a:p>
        </p:txBody>
      </p:sp>
      <p:sp>
        <p:nvSpPr>
          <p:cNvPr id="10" name="Text 8"/>
          <p:cNvSpPr/>
          <p:nvPr/>
        </p:nvSpPr>
        <p:spPr>
          <a:xfrm>
            <a:off x="914400" y="4297680"/>
            <a:ext cx="2956560" cy="365760"/>
          </a:xfrm>
          <a:prstGeom prst="rect">
            <a:avLst/>
          </a:prstGeom>
          <a:noFill/>
          <a:ln/>
        </p:spPr>
        <p:txBody>
          <a:bodyPr wrap="square" lIns="0" tIns="0" rIns="0" bIns="0" rtlCol="0" anchor="ctr"/>
          <a:lstStyle/>
          <a:p>
            <a:pPr indent="0" marL="0">
              <a:buNone/>
            </a:pPr>
            <a:r>
              <a:rPr lang="en-US" sz="1400" dirty="0">
                <a:solidFill>
                  <a:srgbClr val="FFFFFF"/>
                </a:solidFill>
                <a:latin typeface="Helvetica Neue" pitchFamily="34" charset="0"/>
                <a:ea typeface="Helvetica Neue" pitchFamily="34" charset="-122"/>
                <a:cs typeface="Helvetica Neue" pitchFamily="34" charset="-120"/>
              </a:rPr>
              <a:t>Where most businesses are today.</a:t>
            </a:r>
            <a:endParaRPr lang="en-US" sz="1400" dirty="0"/>
          </a:p>
        </p:txBody>
      </p:sp>
      <p:sp>
        <p:nvSpPr>
          <p:cNvPr id="11" name="Shape 9"/>
          <p:cNvSpPr/>
          <p:nvPr/>
        </p:nvSpPr>
        <p:spPr>
          <a:xfrm>
            <a:off x="914400" y="4709160"/>
            <a:ext cx="457200" cy="0"/>
          </a:xfrm>
          <a:prstGeom prst="line">
            <a:avLst/>
          </a:prstGeom>
          <a:noFill/>
          <a:ln w="12700">
            <a:solidFill>
              <a:srgbClr val="FF6B6B"/>
            </a:solidFill>
            <a:prstDash val="solid"/>
          </a:ln>
        </p:spPr>
      </p:sp>
      <p:sp>
        <p:nvSpPr>
          <p:cNvPr id="12" name="Text 10"/>
          <p:cNvSpPr/>
          <p:nvPr/>
        </p:nvSpPr>
        <p:spPr>
          <a:xfrm>
            <a:off x="914400" y="4800600"/>
            <a:ext cx="2956560" cy="11887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Decisions made in meetings. Knowledge in heads. Follow-ups in inboxes. No visibility into what's working or why. Every process depends on the person who built it being in the room.</a:t>
            </a:r>
            <a:endParaRPr lang="en-US" sz="950" dirty="0"/>
          </a:p>
        </p:txBody>
      </p:sp>
      <p:sp>
        <p:nvSpPr>
          <p:cNvPr id="13" name="Shape 11"/>
          <p:cNvSpPr/>
          <p:nvPr/>
        </p:nvSpPr>
        <p:spPr>
          <a:xfrm>
            <a:off x="4328160" y="3749040"/>
            <a:ext cx="3505200" cy="2331720"/>
          </a:xfrm>
          <a:prstGeom prst="roundRect">
            <a:avLst>
              <a:gd name="adj" fmla="val 3137"/>
            </a:avLst>
          </a:prstGeom>
          <a:solidFill>
            <a:srgbClr val="101018"/>
          </a:solidFill>
          <a:ln w="9525">
            <a:solidFill>
              <a:srgbClr val="1F1F2A"/>
            </a:solidFill>
            <a:prstDash val="solid"/>
          </a:ln>
        </p:spPr>
      </p:sp>
      <p:sp>
        <p:nvSpPr>
          <p:cNvPr id="14" name="Shape 12"/>
          <p:cNvSpPr/>
          <p:nvPr/>
        </p:nvSpPr>
        <p:spPr>
          <a:xfrm>
            <a:off x="4337304" y="3758184"/>
            <a:ext cx="3486912" cy="36576"/>
          </a:xfrm>
          <a:prstGeom prst="rect">
            <a:avLst/>
          </a:prstGeom>
          <a:solidFill>
            <a:srgbClr val="7193ED"/>
          </a:solidFill>
          <a:ln w="12700">
            <a:solidFill>
              <a:srgbClr val="7193ED"/>
            </a:solidFill>
            <a:prstDash val="solid"/>
          </a:ln>
        </p:spPr>
      </p:sp>
      <p:sp>
        <p:nvSpPr>
          <p:cNvPr id="15" name="Text 13"/>
          <p:cNvSpPr/>
          <p:nvPr/>
        </p:nvSpPr>
        <p:spPr>
          <a:xfrm>
            <a:off x="4602480" y="3977640"/>
            <a:ext cx="365760" cy="274320"/>
          </a:xfrm>
          <a:prstGeom prst="rect">
            <a:avLst/>
          </a:prstGeom>
          <a:noFill/>
          <a:ln/>
        </p:spPr>
        <p:txBody>
          <a:bodyPr wrap="square" lIns="0" tIns="0" rIns="0" bIns="0" rtlCol="0" anchor="ctr"/>
          <a:lstStyle/>
          <a:p>
            <a:pPr indent="0" marL="0">
              <a:buNone/>
            </a:pPr>
            <a:r>
              <a:rPr lang="en-US" sz="1600" dirty="0">
                <a:solidFill>
                  <a:srgbClr val="7193ED"/>
                </a:solidFill>
                <a:latin typeface="Helvetica Neue" pitchFamily="34" charset="0"/>
                <a:ea typeface="Helvetica Neue" pitchFamily="34" charset="-122"/>
                <a:cs typeface="Helvetica Neue" pitchFamily="34" charset="-120"/>
              </a:rPr>
              <a:t>02</a:t>
            </a:r>
            <a:endParaRPr lang="en-US" sz="1600" dirty="0"/>
          </a:p>
        </p:txBody>
      </p:sp>
      <p:sp>
        <p:nvSpPr>
          <p:cNvPr id="16" name="Text 14"/>
          <p:cNvSpPr/>
          <p:nvPr/>
        </p:nvSpPr>
        <p:spPr>
          <a:xfrm>
            <a:off x="4968240" y="4023360"/>
            <a:ext cx="2590800" cy="228600"/>
          </a:xfrm>
          <a:prstGeom prst="rect">
            <a:avLst/>
          </a:prstGeom>
          <a:noFill/>
          <a:ln/>
        </p:spPr>
        <p:txBody>
          <a:bodyPr wrap="square" lIns="0" tIns="0" rIns="0" bIns="0" rtlCol="0" anchor="ctr"/>
          <a:lstStyle/>
          <a:p>
            <a:pPr indent="0" marL="0">
              <a:buNone/>
            </a:pPr>
            <a:r>
              <a:rPr lang="en-US" sz="800" spc="200" kern="0" dirty="0">
                <a:solidFill>
                  <a:srgbClr val="7193ED"/>
                </a:solidFill>
                <a:latin typeface="Helvetica Neue" pitchFamily="34" charset="0"/>
                <a:ea typeface="Helvetica Neue" pitchFamily="34" charset="-122"/>
                <a:cs typeface="Helvetica Neue" pitchFamily="34" charset="-120"/>
              </a:rPr>
              <a:t>STRUCTURED SYSTEMS</a:t>
            </a:r>
            <a:endParaRPr lang="en-US" sz="800" dirty="0"/>
          </a:p>
        </p:txBody>
      </p:sp>
      <p:sp>
        <p:nvSpPr>
          <p:cNvPr id="17" name="Text 15"/>
          <p:cNvSpPr/>
          <p:nvPr/>
        </p:nvSpPr>
        <p:spPr>
          <a:xfrm>
            <a:off x="4602480" y="4297680"/>
            <a:ext cx="2956560" cy="365760"/>
          </a:xfrm>
          <a:prstGeom prst="rect">
            <a:avLst/>
          </a:prstGeom>
          <a:noFill/>
          <a:ln/>
        </p:spPr>
        <p:txBody>
          <a:bodyPr wrap="square" lIns="0" tIns="0" rIns="0" bIns="0" rtlCol="0" anchor="ctr"/>
          <a:lstStyle/>
          <a:p>
            <a:pPr indent="0" marL="0">
              <a:buNone/>
            </a:pPr>
            <a:r>
              <a:rPr lang="en-US" sz="1400" dirty="0">
                <a:solidFill>
                  <a:srgbClr val="FFFFFF"/>
                </a:solidFill>
                <a:latin typeface="Helvetica Neue" pitchFamily="34" charset="0"/>
                <a:ea typeface="Helvetica Neue" pitchFamily="34" charset="-122"/>
                <a:cs typeface="Helvetica Neue" pitchFamily="34" charset="-120"/>
              </a:rPr>
              <a:t>GRID makes the invisible visible.</a:t>
            </a:r>
            <a:endParaRPr lang="en-US" sz="1400" dirty="0"/>
          </a:p>
        </p:txBody>
      </p:sp>
      <p:sp>
        <p:nvSpPr>
          <p:cNvPr id="18" name="Shape 16"/>
          <p:cNvSpPr/>
          <p:nvPr/>
        </p:nvSpPr>
        <p:spPr>
          <a:xfrm>
            <a:off x="4602480" y="4709160"/>
            <a:ext cx="457200" cy="0"/>
          </a:xfrm>
          <a:prstGeom prst="line">
            <a:avLst/>
          </a:prstGeom>
          <a:noFill/>
          <a:ln w="12700">
            <a:solidFill>
              <a:srgbClr val="7193ED"/>
            </a:solidFill>
            <a:prstDash val="solid"/>
          </a:ln>
        </p:spPr>
      </p:sp>
      <p:sp>
        <p:nvSpPr>
          <p:cNvPr id="19" name="Text 17"/>
          <p:cNvSpPr/>
          <p:nvPr/>
        </p:nvSpPr>
        <p:spPr>
          <a:xfrm>
            <a:off x="4602480" y="4800600"/>
            <a:ext cx="2956560" cy="11887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Environments, systems, and workflows give every process a shape. Health scores surface what's drifting. Outcomes become traceable. Human expertise stays intact — the system just makes it structural and observable.</a:t>
            </a:r>
            <a:endParaRPr lang="en-US" sz="950" dirty="0"/>
          </a:p>
        </p:txBody>
      </p:sp>
      <p:sp>
        <p:nvSpPr>
          <p:cNvPr id="20" name="Shape 18"/>
          <p:cNvSpPr/>
          <p:nvPr/>
        </p:nvSpPr>
        <p:spPr>
          <a:xfrm>
            <a:off x="8016240" y="3749040"/>
            <a:ext cx="3505200" cy="2331720"/>
          </a:xfrm>
          <a:prstGeom prst="roundRect">
            <a:avLst>
              <a:gd name="adj" fmla="val 3137"/>
            </a:avLst>
          </a:prstGeom>
          <a:solidFill>
            <a:srgbClr val="101018"/>
          </a:solidFill>
          <a:ln w="9525">
            <a:solidFill>
              <a:srgbClr val="1F1F2A"/>
            </a:solidFill>
            <a:prstDash val="solid"/>
          </a:ln>
        </p:spPr>
      </p:sp>
      <p:sp>
        <p:nvSpPr>
          <p:cNvPr id="21" name="Shape 19"/>
          <p:cNvSpPr/>
          <p:nvPr/>
        </p:nvSpPr>
        <p:spPr>
          <a:xfrm>
            <a:off x="8025384" y="3758184"/>
            <a:ext cx="3486912" cy="36576"/>
          </a:xfrm>
          <a:prstGeom prst="rect">
            <a:avLst/>
          </a:prstGeom>
          <a:solidFill>
            <a:srgbClr val="15AD70"/>
          </a:solidFill>
          <a:ln w="12700">
            <a:solidFill>
              <a:srgbClr val="15AD70"/>
            </a:solidFill>
            <a:prstDash val="solid"/>
          </a:ln>
        </p:spPr>
      </p:sp>
      <p:sp>
        <p:nvSpPr>
          <p:cNvPr id="22" name="Text 20"/>
          <p:cNvSpPr/>
          <p:nvPr/>
        </p:nvSpPr>
        <p:spPr>
          <a:xfrm>
            <a:off x="8290560" y="3977640"/>
            <a:ext cx="365760" cy="274320"/>
          </a:xfrm>
          <a:prstGeom prst="rect">
            <a:avLst/>
          </a:prstGeom>
          <a:noFill/>
          <a:ln/>
        </p:spPr>
        <p:txBody>
          <a:bodyPr wrap="square" lIns="0" tIns="0" rIns="0" bIns="0" rtlCol="0" anchor="ctr"/>
          <a:lstStyle/>
          <a:p>
            <a:pPr indent="0" marL="0">
              <a:buNone/>
            </a:pPr>
            <a:r>
              <a:rPr lang="en-US" sz="1600" dirty="0">
                <a:solidFill>
                  <a:srgbClr val="15AD70"/>
                </a:solidFill>
                <a:latin typeface="Helvetica Neue" pitchFamily="34" charset="0"/>
                <a:ea typeface="Helvetica Neue" pitchFamily="34" charset="-122"/>
                <a:cs typeface="Helvetica Neue" pitchFamily="34" charset="-120"/>
              </a:rPr>
              <a:t>03</a:t>
            </a:r>
            <a:endParaRPr lang="en-US" sz="1600" dirty="0"/>
          </a:p>
        </p:txBody>
      </p:sp>
      <p:sp>
        <p:nvSpPr>
          <p:cNvPr id="23" name="Text 21"/>
          <p:cNvSpPr/>
          <p:nvPr/>
        </p:nvSpPr>
        <p:spPr>
          <a:xfrm>
            <a:off x="8656320" y="4023360"/>
            <a:ext cx="2590800" cy="228600"/>
          </a:xfrm>
          <a:prstGeom prst="rect">
            <a:avLst/>
          </a:prstGeom>
          <a:noFill/>
          <a:ln/>
        </p:spPr>
        <p:txBody>
          <a:bodyPr wrap="square" lIns="0" tIns="0" rIns="0" bIns="0" rtlCol="0" anchor="ctr"/>
          <a:lstStyle/>
          <a:p>
            <a:pPr indent="0" marL="0">
              <a:buNone/>
            </a:pPr>
            <a:r>
              <a:rPr lang="en-US" sz="800" spc="200" kern="0" dirty="0">
                <a:solidFill>
                  <a:srgbClr val="15AD70"/>
                </a:solidFill>
                <a:latin typeface="Helvetica Neue" pitchFamily="34" charset="0"/>
                <a:ea typeface="Helvetica Neue" pitchFamily="34" charset="-122"/>
                <a:cs typeface="Helvetica Neue" pitchFamily="34" charset="-120"/>
              </a:rPr>
              <a:t>ADAPTIVE SYSTEMS</a:t>
            </a:r>
            <a:endParaRPr lang="en-US" sz="800" dirty="0"/>
          </a:p>
        </p:txBody>
      </p:sp>
      <p:sp>
        <p:nvSpPr>
          <p:cNvPr id="24" name="Text 22"/>
          <p:cNvSpPr/>
          <p:nvPr/>
        </p:nvSpPr>
        <p:spPr>
          <a:xfrm>
            <a:off x="8290560" y="4297680"/>
            <a:ext cx="2956560" cy="365760"/>
          </a:xfrm>
          <a:prstGeom prst="rect">
            <a:avLst/>
          </a:prstGeom>
          <a:noFill/>
          <a:ln/>
        </p:spPr>
        <p:txBody>
          <a:bodyPr wrap="square" lIns="0" tIns="0" rIns="0" bIns="0" rtlCol="0" anchor="ctr"/>
          <a:lstStyle/>
          <a:p>
            <a:pPr indent="0" marL="0">
              <a:buNone/>
            </a:pPr>
            <a:r>
              <a:rPr lang="en-US" sz="1400" dirty="0">
                <a:solidFill>
                  <a:srgbClr val="FFFFFF"/>
                </a:solidFill>
                <a:latin typeface="Helvetica Neue" pitchFamily="34" charset="0"/>
                <a:ea typeface="Helvetica Neue" pitchFamily="34" charset="-122"/>
                <a:cs typeface="Helvetica Neue" pitchFamily="34" charset="-120"/>
              </a:rPr>
              <a:t>Nova creates the feedback loop.</a:t>
            </a:r>
            <a:endParaRPr lang="en-US" sz="1400" dirty="0"/>
          </a:p>
        </p:txBody>
      </p:sp>
      <p:sp>
        <p:nvSpPr>
          <p:cNvPr id="25" name="Shape 23"/>
          <p:cNvSpPr/>
          <p:nvPr/>
        </p:nvSpPr>
        <p:spPr>
          <a:xfrm>
            <a:off x="8290560" y="4709160"/>
            <a:ext cx="457200" cy="0"/>
          </a:xfrm>
          <a:prstGeom prst="line">
            <a:avLst/>
          </a:prstGeom>
          <a:noFill/>
          <a:ln w="12700">
            <a:solidFill>
              <a:srgbClr val="15AD70"/>
            </a:solidFill>
            <a:prstDash val="solid"/>
          </a:ln>
        </p:spPr>
      </p:sp>
      <p:sp>
        <p:nvSpPr>
          <p:cNvPr id="26" name="Text 24"/>
          <p:cNvSpPr/>
          <p:nvPr/>
        </p:nvSpPr>
        <p:spPr>
          <a:xfrm>
            <a:off x="8290560" y="4800600"/>
            <a:ext cx="2956560" cy="118872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Nova doesn't replace human judgment — it creates feedback loops that sharpen it. It suggests where to focus, surfaces patterns across campaigns, flags brand drift, and proposes next actions. You approve, adjust, or override. Always human-controlled.</a:t>
            </a:r>
            <a:endParaRPr lang="en-US" sz="950" dirty="0"/>
          </a:p>
        </p:txBody>
      </p:sp>
      <p:sp>
        <p:nvSpPr>
          <p:cNvPr id="27" name="Text 25"/>
          <p:cNvSpPr/>
          <p:nvPr/>
        </p:nvSpPr>
        <p:spPr>
          <a:xfrm>
            <a:off x="4163568" y="4732020"/>
            <a:ext cx="228600" cy="365760"/>
          </a:xfrm>
          <a:prstGeom prst="rect">
            <a:avLst/>
          </a:prstGeom>
          <a:noFill/>
          <a:ln/>
        </p:spPr>
        <p:txBody>
          <a:bodyPr wrap="square" lIns="0" tIns="0" rIns="0" bIns="0" rtlCol="0" anchor="ctr"/>
          <a:lstStyle/>
          <a:p>
            <a:pPr algn="ctr" indent="0" marL="0">
              <a:buNone/>
            </a:pPr>
            <a:r>
              <a:rPr lang="en-US" sz="1600" dirty="0">
                <a:solidFill>
                  <a:srgbClr val="40404A"/>
                </a:solidFill>
                <a:latin typeface="Helvetica Neue" pitchFamily="34" charset="0"/>
                <a:ea typeface="Helvetica Neue" pitchFamily="34" charset="-122"/>
                <a:cs typeface="Helvetica Neue" pitchFamily="34" charset="-120"/>
              </a:rPr>
              <a:t>→</a:t>
            </a:r>
            <a:endParaRPr lang="en-US" sz="1600" dirty="0"/>
          </a:p>
        </p:txBody>
      </p:sp>
      <p:sp>
        <p:nvSpPr>
          <p:cNvPr id="28" name="Text 26"/>
          <p:cNvSpPr/>
          <p:nvPr/>
        </p:nvSpPr>
        <p:spPr>
          <a:xfrm>
            <a:off x="7851648" y="4732020"/>
            <a:ext cx="228600" cy="365760"/>
          </a:xfrm>
          <a:prstGeom prst="rect">
            <a:avLst/>
          </a:prstGeom>
          <a:noFill/>
          <a:ln/>
        </p:spPr>
        <p:txBody>
          <a:bodyPr wrap="square" lIns="0" tIns="0" rIns="0" bIns="0" rtlCol="0" anchor="ctr"/>
          <a:lstStyle/>
          <a:p>
            <a:pPr algn="ctr" indent="0" marL="0">
              <a:buNone/>
            </a:pPr>
            <a:r>
              <a:rPr lang="en-US" sz="1600" dirty="0">
                <a:solidFill>
                  <a:srgbClr val="40404A"/>
                </a:solidFill>
                <a:latin typeface="Helvetica Neue" pitchFamily="34" charset="0"/>
                <a:ea typeface="Helvetica Neue" pitchFamily="34" charset="-122"/>
                <a:cs typeface="Helvetica Neue" pitchFamily="34" charset="-120"/>
              </a:rPr>
              <a:t>→</a:t>
            </a:r>
            <a:endParaRPr lang="en-US" sz="1600" dirty="0"/>
          </a:p>
        </p:txBody>
      </p:sp>
      <p:sp>
        <p:nvSpPr>
          <p:cNvPr id="29" name="Shape 27"/>
          <p:cNvSpPr/>
          <p:nvPr/>
        </p:nvSpPr>
        <p:spPr>
          <a:xfrm>
            <a:off x="640080" y="6419088"/>
            <a:ext cx="10881360" cy="0"/>
          </a:xfrm>
          <a:prstGeom prst="line">
            <a:avLst/>
          </a:prstGeom>
          <a:noFill/>
          <a:ln w="6350">
            <a:solidFill>
              <a:srgbClr val="181822"/>
            </a:solidFill>
            <a:prstDash val="solid"/>
          </a:ln>
        </p:spPr>
      </p:sp>
      <p:sp>
        <p:nvSpPr>
          <p:cNvPr id="30" name="Text 28"/>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31" name="Text 29"/>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3 / 15</a:t>
            </a:r>
            <a:endParaRPr lang="en-US" sz="800" dirty="0"/>
          </a:p>
        </p:txBody>
      </p:sp>
      <p:sp>
        <p:nvSpPr>
          <p:cNvPr id="32" name="Text 30"/>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THE SOLUTION</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3000" dirty="0">
                <a:solidFill>
                  <a:srgbClr val="FFFFFF"/>
                </a:solidFill>
                <a:latin typeface="Helvetica Neue" pitchFamily="34" charset="0"/>
                <a:ea typeface="Helvetica Neue" pitchFamily="34" charset="-122"/>
                <a:cs typeface="Helvetica Neue" pitchFamily="34" charset="-120"/>
              </a:rPr>
              <a:t>It looks like the tools you already know.</a:t>
            </a:r>
            <a:endParaRPr lang="en-US" sz="3000" dirty="0"/>
          </a:p>
        </p:txBody>
      </p:sp>
      <p:sp>
        <p:nvSpPr>
          <p:cNvPr id="4" name="Text 2"/>
          <p:cNvSpPr/>
          <p:nvPr/>
        </p:nvSpPr>
        <p:spPr>
          <a:xfrm>
            <a:off x="640080" y="1645920"/>
            <a:ext cx="8161020" cy="64008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Tasks, goals, dashboards, workflows — familiar interfaces. But underneath, everything is connected. Your AI learns your business with every interaction. And you control every step — from manual processes to automated ones.</a:t>
            </a:r>
            <a:endParaRPr lang="en-US" sz="1300" dirty="0"/>
          </a:p>
        </p:txBody>
      </p:sp>
      <p:sp>
        <p:nvSpPr>
          <p:cNvPr id="5" name="Shape 3"/>
          <p:cNvSpPr/>
          <p:nvPr/>
        </p:nvSpPr>
        <p:spPr>
          <a:xfrm>
            <a:off x="640080" y="2560320"/>
            <a:ext cx="3474720" cy="2377440"/>
          </a:xfrm>
          <a:prstGeom prst="roundRect">
            <a:avLst>
              <a:gd name="adj" fmla="val 3077"/>
            </a:avLst>
          </a:prstGeom>
          <a:solidFill>
            <a:srgbClr val="101018"/>
          </a:solidFill>
          <a:ln w="9525">
            <a:solidFill>
              <a:srgbClr val="1F1F2A"/>
            </a:solidFill>
            <a:prstDash val="solid"/>
          </a:ln>
        </p:spPr>
      </p:sp>
      <p:sp>
        <p:nvSpPr>
          <p:cNvPr id="6" name="Text 4"/>
          <p:cNvSpPr/>
          <p:nvPr/>
        </p:nvSpPr>
        <p:spPr>
          <a:xfrm>
            <a:off x="1005840" y="2880360"/>
            <a:ext cx="182880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01</a:t>
            </a:r>
            <a:endParaRPr lang="en-US" sz="900" dirty="0"/>
          </a:p>
        </p:txBody>
      </p:sp>
      <p:sp>
        <p:nvSpPr>
          <p:cNvPr id="7" name="Text 5"/>
          <p:cNvSpPr/>
          <p:nvPr/>
        </p:nvSpPr>
        <p:spPr>
          <a:xfrm>
            <a:off x="1005840" y="3154680"/>
            <a:ext cx="2743200" cy="502920"/>
          </a:xfrm>
          <a:prstGeom prst="rect">
            <a:avLst/>
          </a:prstGeom>
          <a:noFill/>
          <a:ln/>
        </p:spPr>
        <p:txBody>
          <a:bodyPr wrap="square" lIns="0" tIns="0" rIns="0" bIns="0" rtlCol="0" anchor="ctr"/>
          <a:lstStyle/>
          <a:p>
            <a:pPr indent="0" marL="0">
              <a:buNone/>
            </a:pPr>
            <a:r>
              <a:rPr lang="en-US" sz="2000" dirty="0">
                <a:solidFill>
                  <a:srgbClr val="FFFFFF"/>
                </a:solidFill>
                <a:latin typeface="Helvetica Neue" pitchFamily="34" charset="0"/>
                <a:ea typeface="Helvetica Neue" pitchFamily="34" charset="-122"/>
                <a:cs typeface="Helvetica Neue" pitchFamily="34" charset="-120"/>
              </a:rPr>
              <a:t>Your Business, Organized</a:t>
            </a:r>
            <a:endParaRPr lang="en-US" sz="2000" dirty="0"/>
          </a:p>
        </p:txBody>
      </p:sp>
      <p:sp>
        <p:nvSpPr>
          <p:cNvPr id="8" name="Shape 6"/>
          <p:cNvSpPr/>
          <p:nvPr/>
        </p:nvSpPr>
        <p:spPr>
          <a:xfrm>
            <a:off x="1005840" y="3703320"/>
            <a:ext cx="731520" cy="0"/>
          </a:xfrm>
          <a:prstGeom prst="line">
            <a:avLst/>
          </a:prstGeom>
          <a:noFill/>
          <a:ln w="12700">
            <a:solidFill>
              <a:srgbClr val="15AD70"/>
            </a:solidFill>
            <a:prstDash val="solid"/>
          </a:ln>
        </p:spPr>
      </p:sp>
      <p:sp>
        <p:nvSpPr>
          <p:cNvPr id="9" name="Text 7"/>
          <p:cNvSpPr/>
          <p:nvPr/>
        </p:nvSpPr>
        <p:spPr>
          <a:xfrm>
            <a:off x="1005840" y="3840480"/>
            <a:ext cx="2743200" cy="100584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Guided 5-step setup. Pick your business type. GRID creates your first workspace with tasks, goals, and workflows ready to go. Connect Slack, Stripe, Mailchimp, Instagram, and 110+ tools you already use. No code. No configuration.</a:t>
            </a:r>
            <a:endParaRPr lang="en-US" sz="1050" dirty="0"/>
          </a:p>
        </p:txBody>
      </p:sp>
      <p:sp>
        <p:nvSpPr>
          <p:cNvPr id="10" name="Shape 8"/>
          <p:cNvSpPr/>
          <p:nvPr/>
        </p:nvSpPr>
        <p:spPr>
          <a:xfrm>
            <a:off x="4343400" y="2560320"/>
            <a:ext cx="3474720" cy="2377440"/>
          </a:xfrm>
          <a:prstGeom prst="roundRect">
            <a:avLst>
              <a:gd name="adj" fmla="val 3077"/>
            </a:avLst>
          </a:prstGeom>
          <a:solidFill>
            <a:srgbClr val="101018"/>
          </a:solidFill>
          <a:ln w="9525">
            <a:solidFill>
              <a:srgbClr val="1F1F2A"/>
            </a:solidFill>
            <a:prstDash val="solid"/>
          </a:ln>
        </p:spPr>
      </p:sp>
      <p:sp>
        <p:nvSpPr>
          <p:cNvPr id="11" name="Text 9"/>
          <p:cNvSpPr/>
          <p:nvPr/>
        </p:nvSpPr>
        <p:spPr>
          <a:xfrm>
            <a:off x="4709160" y="2880360"/>
            <a:ext cx="1828800" cy="274320"/>
          </a:xfrm>
          <a:prstGeom prst="rect">
            <a:avLst/>
          </a:prstGeom>
          <a:noFill/>
          <a:ln/>
        </p:spPr>
        <p:txBody>
          <a:bodyPr wrap="square" lIns="0" tIns="0" rIns="0" bIns="0" rtlCol="0" anchor="ctr"/>
          <a:lstStyle/>
          <a:p>
            <a:pPr indent="0" marL="0">
              <a:buNone/>
            </a:pPr>
            <a:r>
              <a:rPr lang="en-US" sz="900" spc="400" kern="0" dirty="0">
                <a:solidFill>
                  <a:srgbClr val="7193ED"/>
                </a:solidFill>
                <a:latin typeface="Helvetica Neue" pitchFamily="34" charset="0"/>
                <a:ea typeface="Helvetica Neue" pitchFamily="34" charset="-122"/>
                <a:cs typeface="Helvetica Neue" pitchFamily="34" charset="-120"/>
              </a:rPr>
              <a:t>02</a:t>
            </a:r>
            <a:endParaRPr lang="en-US" sz="900" dirty="0"/>
          </a:p>
        </p:txBody>
      </p:sp>
      <p:sp>
        <p:nvSpPr>
          <p:cNvPr id="12" name="Text 10"/>
          <p:cNvSpPr/>
          <p:nvPr/>
        </p:nvSpPr>
        <p:spPr>
          <a:xfrm>
            <a:off x="4709160" y="3154680"/>
            <a:ext cx="2743200" cy="502920"/>
          </a:xfrm>
          <a:prstGeom prst="rect">
            <a:avLst/>
          </a:prstGeom>
          <a:noFill/>
          <a:ln/>
        </p:spPr>
        <p:txBody>
          <a:bodyPr wrap="square" lIns="0" tIns="0" rIns="0" bIns="0" rtlCol="0" anchor="ctr"/>
          <a:lstStyle/>
          <a:p>
            <a:pPr indent="0" marL="0">
              <a:buNone/>
            </a:pPr>
            <a:r>
              <a:rPr lang="en-US" sz="2000" dirty="0">
                <a:solidFill>
                  <a:srgbClr val="FFFFFF"/>
                </a:solidFill>
                <a:latin typeface="Helvetica Neue" pitchFamily="34" charset="0"/>
                <a:ea typeface="Helvetica Neue" pitchFamily="34" charset="-122"/>
                <a:cs typeface="Helvetica Neue" pitchFamily="34" charset="-120"/>
              </a:rPr>
              <a:t>Health Scores, Not Guesswork</a:t>
            </a:r>
            <a:endParaRPr lang="en-US" sz="2000" dirty="0"/>
          </a:p>
        </p:txBody>
      </p:sp>
      <p:sp>
        <p:nvSpPr>
          <p:cNvPr id="13" name="Shape 11"/>
          <p:cNvSpPr/>
          <p:nvPr/>
        </p:nvSpPr>
        <p:spPr>
          <a:xfrm>
            <a:off x="4709160" y="3703320"/>
            <a:ext cx="731520" cy="0"/>
          </a:xfrm>
          <a:prstGeom prst="line">
            <a:avLst/>
          </a:prstGeom>
          <a:noFill/>
          <a:ln w="12700">
            <a:solidFill>
              <a:srgbClr val="7193ED"/>
            </a:solidFill>
            <a:prstDash val="solid"/>
          </a:ln>
        </p:spPr>
      </p:sp>
      <p:sp>
        <p:nvSpPr>
          <p:cNvPr id="14" name="Text 12"/>
          <p:cNvSpPr/>
          <p:nvPr/>
        </p:nvSpPr>
        <p:spPr>
          <a:xfrm>
            <a:off x="4709160" y="3840480"/>
            <a:ext cx="2743200" cy="100584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Every part of your business gets a health score — 0 to 100%. See what's working, what's drifting, and what needs attention at a glance. No more asking "what's the status?" in Slack. The system shows you.</a:t>
            </a:r>
            <a:endParaRPr lang="en-US" sz="1050" dirty="0"/>
          </a:p>
        </p:txBody>
      </p:sp>
      <p:sp>
        <p:nvSpPr>
          <p:cNvPr id="15" name="Shape 13"/>
          <p:cNvSpPr/>
          <p:nvPr/>
        </p:nvSpPr>
        <p:spPr>
          <a:xfrm>
            <a:off x="8046720" y="2560320"/>
            <a:ext cx="3474720" cy="2377440"/>
          </a:xfrm>
          <a:prstGeom prst="roundRect">
            <a:avLst>
              <a:gd name="adj" fmla="val 3077"/>
            </a:avLst>
          </a:prstGeom>
          <a:solidFill>
            <a:srgbClr val="101018"/>
          </a:solidFill>
          <a:ln w="9525">
            <a:solidFill>
              <a:srgbClr val="1F1F2A"/>
            </a:solidFill>
            <a:prstDash val="solid"/>
          </a:ln>
        </p:spPr>
      </p:sp>
      <p:sp>
        <p:nvSpPr>
          <p:cNvPr id="16" name="Text 14"/>
          <p:cNvSpPr/>
          <p:nvPr/>
        </p:nvSpPr>
        <p:spPr>
          <a:xfrm>
            <a:off x="8412480" y="2880360"/>
            <a:ext cx="1828800" cy="274320"/>
          </a:xfrm>
          <a:prstGeom prst="rect">
            <a:avLst/>
          </a:prstGeom>
          <a:noFill/>
          <a:ln/>
        </p:spPr>
        <p:txBody>
          <a:bodyPr wrap="square" lIns="0" tIns="0" rIns="0" bIns="0" rtlCol="0" anchor="ctr"/>
          <a:lstStyle/>
          <a:p>
            <a:pPr indent="0" marL="0">
              <a:buNone/>
            </a:pPr>
            <a:r>
              <a:rPr lang="en-US" sz="900" spc="400" kern="0" dirty="0">
                <a:solidFill>
                  <a:srgbClr val="BF9FF1"/>
                </a:solidFill>
                <a:latin typeface="Helvetica Neue" pitchFamily="34" charset="0"/>
                <a:ea typeface="Helvetica Neue" pitchFamily="34" charset="-122"/>
                <a:cs typeface="Helvetica Neue" pitchFamily="34" charset="-120"/>
              </a:rPr>
              <a:t>03</a:t>
            </a:r>
            <a:endParaRPr lang="en-US" sz="900" dirty="0"/>
          </a:p>
        </p:txBody>
      </p:sp>
      <p:sp>
        <p:nvSpPr>
          <p:cNvPr id="17" name="Text 15"/>
          <p:cNvSpPr/>
          <p:nvPr/>
        </p:nvSpPr>
        <p:spPr>
          <a:xfrm>
            <a:off x="8412480" y="3154680"/>
            <a:ext cx="2743200" cy="502920"/>
          </a:xfrm>
          <a:prstGeom prst="rect">
            <a:avLst/>
          </a:prstGeom>
          <a:noFill/>
          <a:ln/>
        </p:spPr>
        <p:txBody>
          <a:bodyPr wrap="square" lIns="0" tIns="0" rIns="0" bIns="0" rtlCol="0" anchor="ctr"/>
          <a:lstStyle/>
          <a:p>
            <a:pPr indent="0" marL="0">
              <a:buNone/>
            </a:pPr>
            <a:r>
              <a:rPr lang="en-US" sz="2000" dirty="0">
                <a:solidFill>
                  <a:srgbClr val="FFFFFF"/>
                </a:solidFill>
                <a:latin typeface="Helvetica Neue" pitchFamily="34" charset="0"/>
                <a:ea typeface="Helvetica Neue" pitchFamily="34" charset="-122"/>
                <a:cs typeface="Helvetica Neue" pitchFamily="34" charset="-120"/>
              </a:rPr>
              <a:t>Nova — Your Business Co-Pilot</a:t>
            </a:r>
            <a:endParaRPr lang="en-US" sz="2000" dirty="0"/>
          </a:p>
        </p:txBody>
      </p:sp>
      <p:sp>
        <p:nvSpPr>
          <p:cNvPr id="18" name="Shape 16"/>
          <p:cNvSpPr/>
          <p:nvPr/>
        </p:nvSpPr>
        <p:spPr>
          <a:xfrm>
            <a:off x="8412480" y="3703320"/>
            <a:ext cx="731520" cy="0"/>
          </a:xfrm>
          <a:prstGeom prst="line">
            <a:avLst/>
          </a:prstGeom>
          <a:noFill/>
          <a:ln w="12700">
            <a:solidFill>
              <a:srgbClr val="BF9FF1"/>
            </a:solidFill>
            <a:prstDash val="solid"/>
          </a:ln>
        </p:spPr>
      </p:sp>
      <p:sp>
        <p:nvSpPr>
          <p:cNvPr id="19" name="Text 17"/>
          <p:cNvSpPr/>
          <p:nvPr/>
        </p:nvSpPr>
        <p:spPr>
          <a:xfrm>
            <a:off x="8412480" y="3840480"/>
            <a:ext cx="2743200" cy="100584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Ask Nova "What needs attention?" and get a real answer based on everything in your business. It suggests where to focus, flags brand drift, runs workflows, and improves with every interaction. You approve every action.</a:t>
            </a:r>
            <a:endParaRPr lang="en-US" sz="1050" dirty="0"/>
          </a:p>
        </p:txBody>
      </p:sp>
      <p:sp>
        <p:nvSpPr>
          <p:cNvPr id="20" name="Text 18"/>
          <p:cNvSpPr/>
          <p:nvPr/>
        </p:nvSpPr>
        <p:spPr>
          <a:xfrm>
            <a:off x="4142232" y="3520440"/>
            <a:ext cx="274320" cy="365760"/>
          </a:xfrm>
          <a:prstGeom prst="rect">
            <a:avLst/>
          </a:prstGeom>
          <a:noFill/>
          <a:ln/>
        </p:spPr>
        <p:txBody>
          <a:bodyPr wrap="square" lIns="0" tIns="0" rIns="0" bIns="0" rtlCol="0" anchor="ctr"/>
          <a:lstStyle/>
          <a:p>
            <a:pPr algn="ctr" indent="0" marL="0">
              <a:buNone/>
            </a:pPr>
            <a:r>
              <a:rPr lang="en-US" sz="1800" dirty="0">
                <a:solidFill>
                  <a:srgbClr val="40404A"/>
                </a:solidFill>
                <a:latin typeface="Helvetica Neue" pitchFamily="34" charset="0"/>
                <a:ea typeface="Helvetica Neue" pitchFamily="34" charset="-122"/>
                <a:cs typeface="Helvetica Neue" pitchFamily="34" charset="-120"/>
              </a:rPr>
              <a:t>→</a:t>
            </a:r>
            <a:endParaRPr lang="en-US" sz="1800" dirty="0"/>
          </a:p>
        </p:txBody>
      </p:sp>
      <p:sp>
        <p:nvSpPr>
          <p:cNvPr id="21" name="Text 19"/>
          <p:cNvSpPr/>
          <p:nvPr/>
        </p:nvSpPr>
        <p:spPr>
          <a:xfrm>
            <a:off x="7845552" y="3520440"/>
            <a:ext cx="274320" cy="365760"/>
          </a:xfrm>
          <a:prstGeom prst="rect">
            <a:avLst/>
          </a:prstGeom>
          <a:noFill/>
          <a:ln/>
        </p:spPr>
        <p:txBody>
          <a:bodyPr wrap="square" lIns="0" tIns="0" rIns="0" bIns="0" rtlCol="0" anchor="ctr"/>
          <a:lstStyle/>
          <a:p>
            <a:pPr algn="ctr" indent="0" marL="0">
              <a:buNone/>
            </a:pPr>
            <a:r>
              <a:rPr lang="en-US" sz="1800" dirty="0">
                <a:solidFill>
                  <a:srgbClr val="40404A"/>
                </a:solidFill>
                <a:latin typeface="Helvetica Neue" pitchFamily="34" charset="0"/>
                <a:ea typeface="Helvetica Neue" pitchFamily="34" charset="-122"/>
                <a:cs typeface="Helvetica Neue" pitchFamily="34" charset="-120"/>
              </a:rPr>
              <a:t>→</a:t>
            </a:r>
            <a:endParaRPr lang="en-US" sz="1800" dirty="0"/>
          </a:p>
        </p:txBody>
      </p:sp>
      <p:sp>
        <p:nvSpPr>
          <p:cNvPr id="22" name="Shape 20"/>
          <p:cNvSpPr/>
          <p:nvPr/>
        </p:nvSpPr>
        <p:spPr>
          <a:xfrm>
            <a:off x="640080" y="5166360"/>
            <a:ext cx="10881360" cy="502920"/>
          </a:xfrm>
          <a:prstGeom prst="roundRect">
            <a:avLst>
              <a:gd name="adj" fmla="val 14545"/>
            </a:avLst>
          </a:prstGeom>
          <a:solidFill>
            <a:srgbClr val="14141E"/>
          </a:solidFill>
          <a:ln w="9525">
            <a:solidFill>
              <a:srgbClr val="1F1F2A"/>
            </a:solidFill>
            <a:prstDash val="solid"/>
          </a:ln>
        </p:spPr>
      </p:sp>
      <p:sp>
        <p:nvSpPr>
          <p:cNvPr id="23" name="Shape 21"/>
          <p:cNvSpPr/>
          <p:nvPr/>
        </p:nvSpPr>
        <p:spPr>
          <a:xfrm>
            <a:off x="868680" y="5367528"/>
            <a:ext cx="73152" cy="73152"/>
          </a:xfrm>
          <a:prstGeom prst="ellipse">
            <a:avLst/>
          </a:prstGeom>
          <a:solidFill>
            <a:srgbClr val="15AD70"/>
          </a:solidFill>
          <a:ln w="12700">
            <a:solidFill>
              <a:srgbClr val="15AD70"/>
            </a:solidFill>
            <a:prstDash val="solid"/>
          </a:ln>
        </p:spPr>
      </p:sp>
      <p:sp>
        <p:nvSpPr>
          <p:cNvPr id="24" name="Text 22"/>
          <p:cNvSpPr/>
          <p:nvPr/>
        </p:nvSpPr>
        <p:spPr>
          <a:xfrm>
            <a:off x="1024128" y="5166360"/>
            <a:ext cx="2263140" cy="50292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Free tier — no credit card</a:t>
            </a:r>
            <a:endParaRPr lang="en-US" sz="1000" dirty="0"/>
          </a:p>
        </p:txBody>
      </p:sp>
      <p:sp>
        <p:nvSpPr>
          <p:cNvPr id="25" name="Shape 23"/>
          <p:cNvSpPr/>
          <p:nvPr/>
        </p:nvSpPr>
        <p:spPr>
          <a:xfrm>
            <a:off x="3589020" y="5367528"/>
            <a:ext cx="73152" cy="73152"/>
          </a:xfrm>
          <a:prstGeom prst="ellipse">
            <a:avLst/>
          </a:prstGeom>
          <a:solidFill>
            <a:srgbClr val="7193ED"/>
          </a:solidFill>
          <a:ln w="12700">
            <a:solidFill>
              <a:srgbClr val="7193ED"/>
            </a:solidFill>
            <a:prstDash val="solid"/>
          </a:ln>
        </p:spPr>
      </p:sp>
      <p:sp>
        <p:nvSpPr>
          <p:cNvPr id="26" name="Text 24"/>
          <p:cNvSpPr/>
          <p:nvPr/>
        </p:nvSpPr>
        <p:spPr>
          <a:xfrm>
            <a:off x="3744468" y="5166360"/>
            <a:ext cx="2263140" cy="50292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110+ integrations ready</a:t>
            </a:r>
            <a:endParaRPr lang="en-US" sz="1000" dirty="0"/>
          </a:p>
        </p:txBody>
      </p:sp>
      <p:sp>
        <p:nvSpPr>
          <p:cNvPr id="27" name="Shape 25"/>
          <p:cNvSpPr/>
          <p:nvPr/>
        </p:nvSpPr>
        <p:spPr>
          <a:xfrm>
            <a:off x="6309360" y="5367528"/>
            <a:ext cx="73152" cy="73152"/>
          </a:xfrm>
          <a:prstGeom prst="ellipse">
            <a:avLst/>
          </a:prstGeom>
          <a:solidFill>
            <a:srgbClr val="BF9FF1"/>
          </a:solidFill>
          <a:ln w="12700">
            <a:solidFill>
              <a:srgbClr val="BF9FF1"/>
            </a:solidFill>
            <a:prstDash val="solid"/>
          </a:ln>
        </p:spPr>
      </p:sp>
      <p:sp>
        <p:nvSpPr>
          <p:cNvPr id="28" name="Text 26"/>
          <p:cNvSpPr/>
          <p:nvPr/>
        </p:nvSpPr>
        <p:spPr>
          <a:xfrm>
            <a:off x="6464808" y="5166360"/>
            <a:ext cx="2263140" cy="50292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White-label ready for agencies</a:t>
            </a:r>
            <a:endParaRPr lang="en-US" sz="1000" dirty="0"/>
          </a:p>
        </p:txBody>
      </p:sp>
      <p:sp>
        <p:nvSpPr>
          <p:cNvPr id="29" name="Shape 27"/>
          <p:cNvSpPr/>
          <p:nvPr/>
        </p:nvSpPr>
        <p:spPr>
          <a:xfrm>
            <a:off x="9029700" y="5367528"/>
            <a:ext cx="73152" cy="73152"/>
          </a:xfrm>
          <a:prstGeom prst="ellipse">
            <a:avLst/>
          </a:prstGeom>
          <a:solidFill>
            <a:srgbClr val="F7C700"/>
          </a:solidFill>
          <a:ln w="12700">
            <a:solidFill>
              <a:srgbClr val="F7C700"/>
            </a:solidFill>
            <a:prstDash val="solid"/>
          </a:ln>
        </p:spPr>
      </p:sp>
      <p:sp>
        <p:nvSpPr>
          <p:cNvPr id="30" name="Text 28"/>
          <p:cNvSpPr/>
          <p:nvPr/>
        </p:nvSpPr>
        <p:spPr>
          <a:xfrm>
            <a:off x="9185148" y="5166360"/>
            <a:ext cx="2263140" cy="50292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5-minute guided onboarding</a:t>
            </a:r>
            <a:endParaRPr lang="en-US" sz="1000" dirty="0"/>
          </a:p>
        </p:txBody>
      </p:sp>
      <p:sp>
        <p:nvSpPr>
          <p:cNvPr id="31" name="Shape 29"/>
          <p:cNvSpPr/>
          <p:nvPr/>
        </p:nvSpPr>
        <p:spPr>
          <a:xfrm>
            <a:off x="640080" y="6419088"/>
            <a:ext cx="10881360" cy="0"/>
          </a:xfrm>
          <a:prstGeom prst="line">
            <a:avLst/>
          </a:prstGeom>
          <a:noFill/>
          <a:ln w="6350">
            <a:solidFill>
              <a:srgbClr val="181822"/>
            </a:solidFill>
            <a:prstDash val="solid"/>
          </a:ln>
        </p:spPr>
      </p:sp>
      <p:sp>
        <p:nvSpPr>
          <p:cNvPr id="32" name="Text 30"/>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33" name="Text 31"/>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4 / 15</a:t>
            </a:r>
            <a:endParaRPr lang="en-US" sz="800" dirty="0"/>
          </a:p>
        </p:txBody>
      </p:sp>
      <p:sp>
        <p:nvSpPr>
          <p:cNvPr id="34" name="Text 32"/>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DIFFERENTIATION</a:t>
            </a:r>
            <a:endParaRPr lang="en-US" sz="900" dirty="0"/>
          </a:p>
        </p:txBody>
      </p:sp>
      <p:sp>
        <p:nvSpPr>
          <p:cNvPr id="3" name="Text 1"/>
          <p:cNvSpPr/>
          <p:nvPr/>
        </p:nvSpPr>
        <p:spPr>
          <a:xfrm>
            <a:off x="640080" y="868680"/>
            <a:ext cx="10881360" cy="685800"/>
          </a:xfrm>
          <a:prstGeom prst="rect">
            <a:avLst/>
          </a:prstGeom>
          <a:noFill/>
          <a:ln/>
        </p:spPr>
        <p:txBody>
          <a:bodyPr wrap="square" lIns="0" tIns="0" rIns="0" bIns="0" rtlCol="0" anchor="ctr"/>
          <a:lstStyle/>
          <a:p>
            <a:pPr indent="0" marL="0">
              <a:buNone/>
            </a:pPr>
            <a:r>
              <a:rPr lang="en-US" sz="3400" dirty="0">
                <a:solidFill>
                  <a:srgbClr val="FFFFFF"/>
                </a:solidFill>
                <a:latin typeface="Helvetica Neue" pitchFamily="34" charset="0"/>
                <a:ea typeface="Helvetica Neue" pitchFamily="34" charset="-122"/>
                <a:cs typeface="Helvetica Neue" pitchFamily="34" charset="-120"/>
              </a:rPr>
              <a:t>Everyone is building chat.</a:t>
            </a:r>
            <a:endParaRPr lang="en-US" sz="3400" dirty="0"/>
          </a:p>
        </p:txBody>
      </p:sp>
      <p:sp>
        <p:nvSpPr>
          <p:cNvPr id="4" name="Text 2"/>
          <p:cNvSpPr/>
          <p:nvPr/>
        </p:nvSpPr>
        <p:spPr>
          <a:xfrm>
            <a:off x="640080" y="1508760"/>
            <a:ext cx="10881360" cy="685800"/>
          </a:xfrm>
          <a:prstGeom prst="rect">
            <a:avLst/>
          </a:prstGeom>
          <a:noFill/>
          <a:ln/>
        </p:spPr>
        <p:txBody>
          <a:bodyPr wrap="square" lIns="0" tIns="0" rIns="0" bIns="0" rtlCol="0" anchor="ctr"/>
          <a:lstStyle/>
          <a:p>
            <a:pPr indent="0" marL="0">
              <a:buNone/>
            </a:pPr>
            <a:r>
              <a:rPr lang="en-US" sz="3400" dirty="0">
                <a:solidFill>
                  <a:srgbClr val="15AD70"/>
                </a:solidFill>
                <a:latin typeface="Helvetica Neue" pitchFamily="34" charset="0"/>
                <a:ea typeface="Helvetica Neue" pitchFamily="34" charset="-122"/>
                <a:cs typeface="Helvetica Neue" pitchFamily="34" charset="-120"/>
              </a:rPr>
              <a:t>We are building structure.</a:t>
            </a:r>
            <a:endParaRPr lang="en-US" sz="3400" dirty="0"/>
          </a:p>
        </p:txBody>
      </p:sp>
      <p:sp>
        <p:nvSpPr>
          <p:cNvPr id="5" name="Shape 3"/>
          <p:cNvSpPr/>
          <p:nvPr/>
        </p:nvSpPr>
        <p:spPr>
          <a:xfrm>
            <a:off x="640080" y="2377440"/>
            <a:ext cx="10881360" cy="1280160"/>
          </a:xfrm>
          <a:prstGeom prst="roundRect">
            <a:avLst>
              <a:gd name="adj" fmla="val 5714"/>
            </a:avLst>
          </a:prstGeom>
          <a:solidFill>
            <a:srgbClr val="101018"/>
          </a:solidFill>
          <a:ln w="9525">
            <a:solidFill>
              <a:srgbClr val="1F1F2A"/>
            </a:solidFill>
            <a:prstDash val="solid"/>
          </a:ln>
        </p:spPr>
      </p:sp>
      <p:sp>
        <p:nvSpPr>
          <p:cNvPr id="6" name="Shape 4"/>
          <p:cNvSpPr/>
          <p:nvPr/>
        </p:nvSpPr>
        <p:spPr>
          <a:xfrm>
            <a:off x="649224" y="2386584"/>
            <a:ext cx="54864" cy="1261872"/>
          </a:xfrm>
          <a:prstGeom prst="rect">
            <a:avLst/>
          </a:prstGeom>
          <a:solidFill>
            <a:srgbClr val="15AD70"/>
          </a:solidFill>
          <a:ln w="12700">
            <a:solidFill>
              <a:srgbClr val="15AD70"/>
            </a:solidFill>
            <a:prstDash val="solid"/>
          </a:ln>
        </p:spPr>
      </p:sp>
      <p:sp>
        <p:nvSpPr>
          <p:cNvPr id="7" name="Text 5"/>
          <p:cNvSpPr/>
          <p:nvPr/>
        </p:nvSpPr>
        <p:spPr>
          <a:xfrm>
            <a:off x="1005840" y="2514600"/>
            <a:ext cx="45720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Not a tool — the layer tools run on.</a:t>
            </a:r>
            <a:endParaRPr lang="en-US" sz="1800" dirty="0"/>
          </a:p>
        </p:txBody>
      </p:sp>
      <p:sp>
        <p:nvSpPr>
          <p:cNvPr id="8" name="Text 6"/>
          <p:cNvSpPr/>
          <p:nvPr/>
        </p:nvSpPr>
        <p:spPr>
          <a:xfrm>
            <a:off x="1005840" y="2880360"/>
            <a:ext cx="6858000" cy="64008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Notion organizes. Monday tracks. GRID operationalizes. Docs trigger workflows. Goals surface health scores. Finance connects to the projects generating revenue. In GRID, everything is connected and everything acts.</a:t>
            </a:r>
            <a:endParaRPr lang="en-US" sz="1050" dirty="0"/>
          </a:p>
        </p:txBody>
      </p:sp>
      <p:sp>
        <p:nvSpPr>
          <p:cNvPr id="9" name="Shape 7"/>
          <p:cNvSpPr/>
          <p:nvPr/>
        </p:nvSpPr>
        <p:spPr>
          <a:xfrm>
            <a:off x="8046720" y="2560320"/>
            <a:ext cx="3200400" cy="320040"/>
          </a:xfrm>
          <a:prstGeom prst="roundRect">
            <a:avLst>
              <a:gd name="adj" fmla="val 11429"/>
            </a:avLst>
          </a:prstGeom>
          <a:solidFill>
            <a:srgbClr val="15AD70">
              <a:alpha val="12000"/>
            </a:srgbClr>
          </a:solidFill>
          <a:ln w="6350">
            <a:solidFill>
              <a:srgbClr val="15AD70"/>
            </a:solidFill>
            <a:prstDash val="solid"/>
          </a:ln>
        </p:spPr>
      </p:sp>
      <p:sp>
        <p:nvSpPr>
          <p:cNvPr id="10" name="Text 8"/>
          <p:cNvSpPr/>
          <p:nvPr/>
        </p:nvSpPr>
        <p:spPr>
          <a:xfrm>
            <a:off x="8046720" y="2560320"/>
            <a:ext cx="3200400" cy="320040"/>
          </a:xfrm>
          <a:prstGeom prst="rect">
            <a:avLst/>
          </a:prstGeom>
          <a:noFill/>
          <a:ln/>
        </p:spPr>
        <p:txBody>
          <a:bodyPr wrap="square" lIns="0" tIns="0" rIns="0" bIns="0" rtlCol="0" anchor="ctr"/>
          <a:lstStyle/>
          <a:p>
            <a:pPr algn="ctr" indent="0" marL="0">
              <a:buNone/>
            </a:pPr>
            <a:r>
              <a:rPr lang="en-US" sz="900" dirty="0">
                <a:solidFill>
                  <a:srgbClr val="15AD70"/>
                </a:solidFill>
                <a:latin typeface="Helvetica Neue" pitchFamily="34" charset="0"/>
                <a:ea typeface="Helvetica Neue" pitchFamily="34" charset="-122"/>
                <a:cs typeface="Helvetica Neue" pitchFamily="34" charset="-120"/>
              </a:rPr>
              <a:t>One platform replaces 12+ tools. Admin time drops 60%.</a:t>
            </a:r>
            <a:endParaRPr lang="en-US" sz="900" dirty="0"/>
          </a:p>
        </p:txBody>
      </p:sp>
      <p:sp>
        <p:nvSpPr>
          <p:cNvPr id="11" name="Shape 9"/>
          <p:cNvSpPr/>
          <p:nvPr/>
        </p:nvSpPr>
        <p:spPr>
          <a:xfrm>
            <a:off x="640080" y="3794760"/>
            <a:ext cx="10881360" cy="1280160"/>
          </a:xfrm>
          <a:prstGeom prst="roundRect">
            <a:avLst>
              <a:gd name="adj" fmla="val 5714"/>
            </a:avLst>
          </a:prstGeom>
          <a:solidFill>
            <a:srgbClr val="101018"/>
          </a:solidFill>
          <a:ln w="9525">
            <a:solidFill>
              <a:srgbClr val="1F1F2A"/>
            </a:solidFill>
            <a:prstDash val="solid"/>
          </a:ln>
        </p:spPr>
      </p:sp>
      <p:sp>
        <p:nvSpPr>
          <p:cNvPr id="12" name="Shape 10"/>
          <p:cNvSpPr/>
          <p:nvPr/>
        </p:nvSpPr>
        <p:spPr>
          <a:xfrm>
            <a:off x="649224" y="3803904"/>
            <a:ext cx="54864" cy="1261872"/>
          </a:xfrm>
          <a:prstGeom prst="rect">
            <a:avLst/>
          </a:prstGeom>
          <a:solidFill>
            <a:srgbClr val="7193ED"/>
          </a:solidFill>
          <a:ln w="12700">
            <a:solidFill>
              <a:srgbClr val="7193ED"/>
            </a:solidFill>
            <a:prstDash val="solid"/>
          </a:ln>
        </p:spPr>
      </p:sp>
      <p:sp>
        <p:nvSpPr>
          <p:cNvPr id="13" name="Text 11"/>
          <p:cNvSpPr/>
          <p:nvPr/>
        </p:nvSpPr>
        <p:spPr>
          <a:xfrm>
            <a:off x="1005840" y="3931920"/>
            <a:ext cx="45720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Not a copilot — a constraint engine.</a:t>
            </a:r>
            <a:endParaRPr lang="en-US" sz="1800" dirty="0"/>
          </a:p>
        </p:txBody>
      </p:sp>
      <p:sp>
        <p:nvSpPr>
          <p:cNvPr id="14" name="Text 12"/>
          <p:cNvSpPr/>
          <p:nvPr/>
        </p:nvSpPr>
        <p:spPr>
          <a:xfrm>
            <a:off x="1005840" y="4297680"/>
            <a:ext cx="6858000" cy="64008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Every AI feature on the market is a chat window bolted onto an existing tool. Nova reads every system, validates output against your identity, scores quality, and creates feedback loops that suggest where to focus next. It keeps your brand close.</a:t>
            </a:r>
            <a:endParaRPr lang="en-US" sz="1050" dirty="0"/>
          </a:p>
        </p:txBody>
      </p:sp>
      <p:sp>
        <p:nvSpPr>
          <p:cNvPr id="15" name="Shape 13"/>
          <p:cNvSpPr/>
          <p:nvPr/>
        </p:nvSpPr>
        <p:spPr>
          <a:xfrm>
            <a:off x="8046720" y="3977640"/>
            <a:ext cx="3200400" cy="320040"/>
          </a:xfrm>
          <a:prstGeom prst="roundRect">
            <a:avLst>
              <a:gd name="adj" fmla="val 11429"/>
            </a:avLst>
          </a:prstGeom>
          <a:solidFill>
            <a:srgbClr val="7193ED">
              <a:alpha val="12000"/>
            </a:srgbClr>
          </a:solidFill>
          <a:ln w="6350">
            <a:solidFill>
              <a:srgbClr val="7193ED"/>
            </a:solidFill>
            <a:prstDash val="solid"/>
          </a:ln>
        </p:spPr>
      </p:sp>
      <p:sp>
        <p:nvSpPr>
          <p:cNvPr id="16" name="Text 14"/>
          <p:cNvSpPr/>
          <p:nvPr/>
        </p:nvSpPr>
        <p:spPr>
          <a:xfrm>
            <a:off x="8046720" y="3977640"/>
            <a:ext cx="3200400" cy="320040"/>
          </a:xfrm>
          <a:prstGeom prst="rect">
            <a:avLst/>
          </a:prstGeom>
          <a:noFill/>
          <a:ln/>
        </p:spPr>
        <p:txBody>
          <a:bodyPr wrap="square" lIns="0" tIns="0" rIns="0" bIns="0" rtlCol="0" anchor="ctr"/>
          <a:lstStyle/>
          <a:p>
            <a:pPr algn="ctr" indent="0" marL="0">
              <a:buNone/>
            </a:pPr>
            <a:r>
              <a:rPr lang="en-US" sz="900" dirty="0">
                <a:solidFill>
                  <a:srgbClr val="7193ED"/>
                </a:solidFill>
                <a:latin typeface="Helvetica Neue" pitchFamily="34" charset="0"/>
                <a:ea typeface="Helvetica Neue" pitchFamily="34" charset="-122"/>
                <a:cs typeface="Helvetica Neue" pitchFamily="34" charset="-120"/>
              </a:rPr>
              <a:t>AI output quality improves 40% in 4 weeks of use.</a:t>
            </a:r>
            <a:endParaRPr lang="en-US" sz="900" dirty="0"/>
          </a:p>
        </p:txBody>
      </p:sp>
      <p:sp>
        <p:nvSpPr>
          <p:cNvPr id="17" name="Shape 15"/>
          <p:cNvSpPr/>
          <p:nvPr/>
        </p:nvSpPr>
        <p:spPr>
          <a:xfrm>
            <a:off x="640080" y="5212080"/>
            <a:ext cx="10881360" cy="1280160"/>
          </a:xfrm>
          <a:prstGeom prst="roundRect">
            <a:avLst>
              <a:gd name="adj" fmla="val 5714"/>
            </a:avLst>
          </a:prstGeom>
          <a:solidFill>
            <a:srgbClr val="101018"/>
          </a:solidFill>
          <a:ln w="9525">
            <a:solidFill>
              <a:srgbClr val="1F1F2A"/>
            </a:solidFill>
            <a:prstDash val="solid"/>
          </a:ln>
        </p:spPr>
      </p:sp>
      <p:sp>
        <p:nvSpPr>
          <p:cNvPr id="18" name="Shape 16"/>
          <p:cNvSpPr/>
          <p:nvPr/>
        </p:nvSpPr>
        <p:spPr>
          <a:xfrm>
            <a:off x="649224" y="5221224"/>
            <a:ext cx="54864" cy="1261872"/>
          </a:xfrm>
          <a:prstGeom prst="rect">
            <a:avLst/>
          </a:prstGeom>
          <a:solidFill>
            <a:srgbClr val="BF9FF1"/>
          </a:solidFill>
          <a:ln w="12700">
            <a:solidFill>
              <a:srgbClr val="BF9FF1"/>
            </a:solidFill>
            <a:prstDash val="solid"/>
          </a:ln>
        </p:spPr>
      </p:sp>
      <p:sp>
        <p:nvSpPr>
          <p:cNvPr id="19" name="Text 17"/>
          <p:cNvSpPr/>
          <p:nvPr/>
        </p:nvSpPr>
        <p:spPr>
          <a:xfrm>
            <a:off x="1005840" y="5349240"/>
            <a:ext cx="45720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Structure is the moat, not the model.</a:t>
            </a:r>
            <a:endParaRPr lang="en-US" sz="1800" dirty="0"/>
          </a:p>
        </p:txBody>
      </p:sp>
      <p:sp>
        <p:nvSpPr>
          <p:cNvPr id="20" name="Text 18"/>
          <p:cNvSpPr/>
          <p:nvPr/>
        </p:nvSpPr>
        <p:spPr>
          <a:xfrm>
            <a:off x="1005840" y="5715000"/>
            <a:ext cx="6858000" cy="64008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Models commoditize. The organizational graph — who does what, in what context, connected to which goals — is what makes AI useful at work. That graph is yours, it compounds, and it's nearly impossible to replicate once populated.</a:t>
            </a:r>
            <a:endParaRPr lang="en-US" sz="1050" dirty="0"/>
          </a:p>
        </p:txBody>
      </p:sp>
      <p:sp>
        <p:nvSpPr>
          <p:cNvPr id="21" name="Shape 19"/>
          <p:cNvSpPr/>
          <p:nvPr/>
        </p:nvSpPr>
        <p:spPr>
          <a:xfrm>
            <a:off x="8046720" y="5394960"/>
            <a:ext cx="3200400" cy="320040"/>
          </a:xfrm>
          <a:prstGeom prst="roundRect">
            <a:avLst>
              <a:gd name="adj" fmla="val 11429"/>
            </a:avLst>
          </a:prstGeom>
          <a:solidFill>
            <a:srgbClr val="BF9FF1">
              <a:alpha val="12000"/>
            </a:srgbClr>
          </a:solidFill>
          <a:ln w="6350">
            <a:solidFill>
              <a:srgbClr val="BF9FF1"/>
            </a:solidFill>
            <a:prstDash val="solid"/>
          </a:ln>
        </p:spPr>
      </p:sp>
      <p:sp>
        <p:nvSpPr>
          <p:cNvPr id="22" name="Text 20"/>
          <p:cNvSpPr/>
          <p:nvPr/>
        </p:nvSpPr>
        <p:spPr>
          <a:xfrm>
            <a:off x="8046720" y="5394960"/>
            <a:ext cx="3200400" cy="320040"/>
          </a:xfrm>
          <a:prstGeom prst="rect">
            <a:avLst/>
          </a:prstGeom>
          <a:noFill/>
          <a:ln/>
        </p:spPr>
        <p:txBody>
          <a:bodyPr wrap="square" lIns="0" tIns="0" rIns="0" bIns="0" rtlCol="0" anchor="ctr"/>
          <a:lstStyle/>
          <a:p>
            <a:pPr algn="ctr" indent="0" marL="0">
              <a:buNone/>
            </a:pPr>
            <a:r>
              <a:rPr lang="en-US" sz="900" dirty="0">
                <a:solidFill>
                  <a:srgbClr val="BF9FF1"/>
                </a:solidFill>
                <a:latin typeface="Helvetica Neue" pitchFamily="34" charset="0"/>
                <a:ea typeface="Helvetica Neue" pitchFamily="34" charset="-122"/>
                <a:cs typeface="Helvetica Neue" pitchFamily="34" charset="-120"/>
              </a:rPr>
              <a:t>Model-agnostic. BYOK-ready. Structure-permanent.</a:t>
            </a:r>
            <a:endParaRPr lang="en-US" sz="900" dirty="0"/>
          </a:p>
        </p:txBody>
      </p:sp>
      <p:sp>
        <p:nvSpPr>
          <p:cNvPr id="23" name="Shape 21"/>
          <p:cNvSpPr/>
          <p:nvPr/>
        </p:nvSpPr>
        <p:spPr>
          <a:xfrm>
            <a:off x="640080" y="6419088"/>
            <a:ext cx="10881360" cy="0"/>
          </a:xfrm>
          <a:prstGeom prst="line">
            <a:avLst/>
          </a:prstGeom>
          <a:noFill/>
          <a:ln w="6350">
            <a:solidFill>
              <a:srgbClr val="181822"/>
            </a:solidFill>
            <a:prstDash val="solid"/>
          </a:ln>
        </p:spPr>
      </p:sp>
      <p:sp>
        <p:nvSpPr>
          <p:cNvPr id="24" name="Text 22"/>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25" name="Text 23"/>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5 / 15</a:t>
            </a:r>
            <a:endParaRPr lang="en-US" sz="800" dirty="0"/>
          </a:p>
        </p:txBody>
      </p:sp>
      <p:sp>
        <p:nvSpPr>
          <p:cNvPr id="26" name="Text 24"/>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PRODUCT  ·  HOME</a:t>
            </a:r>
            <a:endParaRPr lang="en-US" sz="900" dirty="0"/>
          </a:p>
        </p:txBody>
      </p:sp>
      <p:sp>
        <p:nvSpPr>
          <p:cNvPr id="3" name="Text 1"/>
          <p:cNvSpPr/>
          <p:nvPr/>
        </p:nvSpPr>
        <p:spPr>
          <a:xfrm>
            <a:off x="640080" y="868680"/>
            <a:ext cx="10881360" cy="777240"/>
          </a:xfrm>
          <a:prstGeom prst="rect">
            <a:avLst/>
          </a:prstGeom>
          <a:noFill/>
          <a:ln/>
        </p:spPr>
        <p:txBody>
          <a:bodyPr wrap="square" lIns="0" tIns="0" rIns="0" bIns="0" rtlCol="0" anchor="ctr"/>
          <a:lstStyle/>
          <a:p>
            <a:pPr indent="0" marL="0">
              <a:buNone/>
            </a:pPr>
            <a:r>
              <a:rPr lang="en-US" sz="3000" dirty="0">
                <a:solidFill>
                  <a:srgbClr val="FFFFFF"/>
                </a:solidFill>
                <a:latin typeface="Helvetica Neue" pitchFamily="34" charset="0"/>
                <a:ea typeface="Helvetica Neue" pitchFamily="34" charset="-122"/>
                <a:cs typeface="Helvetica Neue" pitchFamily="34" charset="-120"/>
              </a:rPr>
              <a:t>Attention, not notifications.</a:t>
            </a:r>
            <a:endParaRPr lang="en-US" sz="3000" dirty="0"/>
          </a:p>
        </p:txBody>
      </p:sp>
      <p:sp>
        <p:nvSpPr>
          <p:cNvPr id="4" name="Text 2"/>
          <p:cNvSpPr/>
          <p:nvPr/>
        </p:nvSpPr>
        <p:spPr>
          <a:xfrm>
            <a:off x="640080" y="1645920"/>
            <a:ext cx="7616952" cy="50292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Signals, failed executions, at-risk goals and unhealthy systems — ranked into one focus stream. Nova surfaces the 3 things that matter right now.</a:t>
            </a:r>
            <a:endParaRPr lang="en-US" sz="1300" dirty="0"/>
          </a:p>
        </p:txBody>
      </p:sp>
      <p:sp>
        <p:nvSpPr>
          <p:cNvPr id="5" name="Shape 3"/>
          <p:cNvSpPr/>
          <p:nvPr/>
        </p:nvSpPr>
        <p:spPr>
          <a:xfrm>
            <a:off x="640080" y="2331720"/>
            <a:ext cx="10881360" cy="3931920"/>
          </a:xfrm>
          <a:prstGeom prst="roundRect">
            <a:avLst>
              <a:gd name="adj" fmla="val 2326"/>
            </a:avLst>
          </a:prstGeom>
          <a:solidFill>
            <a:srgbClr val="0B0B12"/>
          </a:solidFill>
          <a:ln w="9525">
            <a:solidFill>
              <a:srgbClr val="1A1A24"/>
            </a:solidFill>
            <a:prstDash val="solid"/>
          </a:ln>
        </p:spPr>
      </p:sp>
      <p:sp>
        <p:nvSpPr>
          <p:cNvPr id="6" name="Shape 4"/>
          <p:cNvSpPr/>
          <p:nvPr/>
        </p:nvSpPr>
        <p:spPr>
          <a:xfrm>
            <a:off x="649224" y="2340864"/>
            <a:ext cx="10863072" cy="411480"/>
          </a:xfrm>
          <a:prstGeom prst="rect">
            <a:avLst/>
          </a:prstGeom>
          <a:solidFill>
            <a:srgbClr val="0D0D16"/>
          </a:solidFill>
          <a:ln w="12700">
            <a:solidFill>
              <a:srgbClr val="1A1A24"/>
            </a:solidFill>
            <a:prstDash val="solid"/>
          </a:ln>
        </p:spPr>
      </p:sp>
      <p:sp>
        <p:nvSpPr>
          <p:cNvPr id="7" name="Shape 5"/>
          <p:cNvSpPr/>
          <p:nvPr/>
        </p:nvSpPr>
        <p:spPr>
          <a:xfrm>
            <a:off x="822960" y="2468880"/>
            <a:ext cx="118872" cy="118872"/>
          </a:xfrm>
          <a:prstGeom prst="ellipse">
            <a:avLst/>
          </a:prstGeom>
          <a:solidFill>
            <a:srgbClr val="FF6B6B">
              <a:alpha val="55000"/>
            </a:srgbClr>
          </a:solidFill>
          <a:ln w="12700">
            <a:solidFill>
              <a:srgbClr val="FF6B6B"/>
            </a:solidFill>
            <a:prstDash val="solid"/>
          </a:ln>
        </p:spPr>
      </p:sp>
      <p:sp>
        <p:nvSpPr>
          <p:cNvPr id="8" name="Shape 6"/>
          <p:cNvSpPr/>
          <p:nvPr/>
        </p:nvSpPr>
        <p:spPr>
          <a:xfrm>
            <a:off x="1005840" y="2468880"/>
            <a:ext cx="118872" cy="118872"/>
          </a:xfrm>
          <a:prstGeom prst="ellipse">
            <a:avLst/>
          </a:prstGeom>
          <a:solidFill>
            <a:srgbClr val="F7C700">
              <a:alpha val="55000"/>
            </a:srgbClr>
          </a:solidFill>
          <a:ln w="12700">
            <a:solidFill>
              <a:srgbClr val="F7C700"/>
            </a:solidFill>
            <a:prstDash val="solid"/>
          </a:ln>
        </p:spPr>
      </p:sp>
      <p:sp>
        <p:nvSpPr>
          <p:cNvPr id="9" name="Shape 7"/>
          <p:cNvSpPr/>
          <p:nvPr/>
        </p:nvSpPr>
        <p:spPr>
          <a:xfrm>
            <a:off x="1188720" y="2468880"/>
            <a:ext cx="118872" cy="118872"/>
          </a:xfrm>
          <a:prstGeom prst="ellipse">
            <a:avLst/>
          </a:prstGeom>
          <a:solidFill>
            <a:srgbClr val="15AD70">
              <a:alpha val="55000"/>
            </a:srgbClr>
          </a:solidFill>
          <a:ln w="12700">
            <a:solidFill>
              <a:srgbClr val="15AD70"/>
            </a:solidFill>
            <a:prstDash val="solid"/>
          </a:ln>
        </p:spPr>
      </p:sp>
      <p:sp>
        <p:nvSpPr>
          <p:cNvPr id="10" name="Text 8"/>
          <p:cNvSpPr/>
          <p:nvPr/>
        </p:nvSpPr>
        <p:spPr>
          <a:xfrm>
            <a:off x="1508760" y="2404872"/>
            <a:ext cx="3657600" cy="274320"/>
          </a:xfrm>
          <a:prstGeom prst="rect">
            <a:avLst/>
          </a:prstGeom>
          <a:noFill/>
          <a:ln/>
        </p:spPr>
        <p:txBody>
          <a:bodyPr wrap="square" lIns="0" tIns="0" rIns="0" bIns="0" rtlCol="0" anchor="ctr"/>
          <a:lstStyle/>
          <a:p>
            <a:pPr indent="0" marL="0">
              <a:buNone/>
            </a:pPr>
            <a:r>
              <a:rPr lang="en-US" sz="1000" dirty="0">
                <a:solidFill>
                  <a:srgbClr val="60606A"/>
                </a:solidFill>
                <a:latin typeface="Helvetica Neue" pitchFamily="34" charset="0"/>
                <a:ea typeface="Helvetica Neue" pitchFamily="34" charset="-122"/>
                <a:cs typeface="Helvetica Neue" pitchFamily="34" charset="-120"/>
              </a:rPr>
              <a:t>grid.work  ·  Home</a:t>
            </a:r>
            <a:endParaRPr lang="en-US" sz="1000" dirty="0"/>
          </a:p>
        </p:txBody>
      </p:sp>
      <p:sp>
        <p:nvSpPr>
          <p:cNvPr id="11" name="Text 9"/>
          <p:cNvSpPr/>
          <p:nvPr/>
        </p:nvSpPr>
        <p:spPr>
          <a:xfrm>
            <a:off x="1051560" y="2926080"/>
            <a:ext cx="3657600" cy="228600"/>
          </a:xfrm>
          <a:prstGeom prst="rect">
            <a:avLst/>
          </a:prstGeom>
          <a:noFill/>
          <a:ln/>
        </p:spPr>
        <p:txBody>
          <a:bodyPr wrap="square" lIns="0" tIns="0" rIns="0" bIns="0" rtlCol="0" anchor="ctr"/>
          <a:lstStyle/>
          <a:p>
            <a:pPr indent="0" marL="0">
              <a:buNone/>
            </a:pPr>
            <a:r>
              <a:rPr lang="en-US" sz="900" spc="300" kern="0" dirty="0">
                <a:solidFill>
                  <a:srgbClr val="60606A"/>
                </a:solidFill>
                <a:latin typeface="Helvetica Neue" pitchFamily="34" charset="0"/>
                <a:ea typeface="Helvetica Neue" pitchFamily="34" charset="-122"/>
                <a:cs typeface="Helvetica Neue" pitchFamily="34" charset="-120"/>
              </a:rPr>
              <a:t>WORKSPACE</a:t>
            </a:r>
            <a:endParaRPr lang="en-US" sz="900" dirty="0"/>
          </a:p>
        </p:txBody>
      </p:sp>
      <p:sp>
        <p:nvSpPr>
          <p:cNvPr id="12" name="Text 10"/>
          <p:cNvSpPr/>
          <p:nvPr/>
        </p:nvSpPr>
        <p:spPr>
          <a:xfrm>
            <a:off x="1051560" y="3154680"/>
            <a:ext cx="6400800" cy="502920"/>
          </a:xfrm>
          <a:prstGeom prst="rect">
            <a:avLst/>
          </a:prstGeom>
          <a:noFill/>
          <a:ln/>
        </p:spPr>
        <p:txBody>
          <a:bodyPr wrap="square" lIns="0" tIns="0" rIns="0" bIns="0" rtlCol="0" anchor="ctr"/>
          <a:lstStyle/>
          <a:p>
            <a:pPr indent="0" marL="0">
              <a:buNone/>
            </a:pPr>
            <a:r>
              <a:rPr lang="en-US" sz="2200" dirty="0">
                <a:solidFill>
                  <a:srgbClr val="FFFFFF"/>
                </a:solidFill>
                <a:latin typeface="Helvetica Neue" pitchFamily="34" charset="0"/>
                <a:ea typeface="Helvetica Neue" pitchFamily="34" charset="-122"/>
                <a:cs typeface="Helvetica Neue" pitchFamily="34" charset="-120"/>
              </a:rPr>
              <a:t>Welcome back, Nicole</a:t>
            </a:r>
            <a:endParaRPr lang="en-US" sz="2200" dirty="0"/>
          </a:p>
        </p:txBody>
      </p:sp>
      <p:sp>
        <p:nvSpPr>
          <p:cNvPr id="13" name="Shape 11"/>
          <p:cNvSpPr/>
          <p:nvPr/>
        </p:nvSpPr>
        <p:spPr>
          <a:xfrm>
            <a:off x="1051560" y="3794760"/>
            <a:ext cx="10058400" cy="2286000"/>
          </a:xfrm>
          <a:prstGeom prst="roundRect">
            <a:avLst>
              <a:gd name="adj" fmla="val 3200"/>
            </a:avLst>
          </a:prstGeom>
          <a:solidFill>
            <a:srgbClr val="11111C"/>
          </a:solidFill>
          <a:ln w="9525">
            <a:solidFill>
              <a:srgbClr val="1E1E2A"/>
            </a:solidFill>
            <a:prstDash val="solid"/>
          </a:ln>
        </p:spPr>
      </p:sp>
      <p:sp>
        <p:nvSpPr>
          <p:cNvPr id="14" name="Text 12"/>
          <p:cNvSpPr/>
          <p:nvPr/>
        </p:nvSpPr>
        <p:spPr>
          <a:xfrm>
            <a:off x="1325880" y="3977640"/>
            <a:ext cx="2743200" cy="228600"/>
          </a:xfrm>
          <a:prstGeom prst="rect">
            <a:avLst/>
          </a:prstGeom>
          <a:noFill/>
          <a:ln/>
        </p:spPr>
        <p:txBody>
          <a:bodyPr wrap="square" lIns="0" tIns="0" rIns="0" bIns="0" rtlCol="0" anchor="ctr"/>
          <a:lstStyle/>
          <a:p>
            <a:pPr indent="0" marL="0">
              <a:buNone/>
            </a:pPr>
            <a:r>
              <a:rPr lang="en-US" sz="900" spc="300" kern="0" dirty="0">
                <a:solidFill>
                  <a:srgbClr val="60606A"/>
                </a:solidFill>
                <a:latin typeface="Helvetica Neue" pitchFamily="34" charset="0"/>
                <a:ea typeface="Helvetica Neue" pitchFamily="34" charset="-122"/>
                <a:cs typeface="Helvetica Neue" pitchFamily="34" charset="-120"/>
              </a:rPr>
              <a:t>ATTENTION</a:t>
            </a:r>
            <a:endParaRPr lang="en-US" sz="900" dirty="0"/>
          </a:p>
        </p:txBody>
      </p:sp>
      <p:sp>
        <p:nvSpPr>
          <p:cNvPr id="15" name="Text 13"/>
          <p:cNvSpPr/>
          <p:nvPr/>
        </p:nvSpPr>
        <p:spPr>
          <a:xfrm>
            <a:off x="1325880" y="4178808"/>
            <a:ext cx="4572000" cy="228600"/>
          </a:xfrm>
          <a:prstGeom prst="rect">
            <a:avLst/>
          </a:prstGeom>
          <a:noFill/>
          <a:ln/>
        </p:spPr>
        <p:txBody>
          <a:bodyPr wrap="square" lIns="0" tIns="0" rIns="0" bIns="0" rtlCol="0" anchor="ctr"/>
          <a:lstStyle/>
          <a:p>
            <a:pPr indent="0" marL="0">
              <a:buNone/>
            </a:pPr>
            <a:r>
              <a:rPr lang="en-US" sz="800" dirty="0">
                <a:solidFill>
                  <a:srgbClr val="40404A"/>
                </a:solidFill>
                <a:latin typeface="Helvetica Neue" pitchFamily="34" charset="0"/>
                <a:ea typeface="Helvetica Neue" pitchFamily="34" charset="-122"/>
                <a:cs typeface="Helvetica Neue" pitchFamily="34" charset="-120"/>
              </a:rPr>
              <a:t>What to focus on right now</a:t>
            </a:r>
            <a:endParaRPr lang="en-US" sz="800" dirty="0"/>
          </a:p>
        </p:txBody>
      </p:sp>
      <p:sp>
        <p:nvSpPr>
          <p:cNvPr id="16" name="Shape 14"/>
          <p:cNvSpPr/>
          <p:nvPr/>
        </p:nvSpPr>
        <p:spPr>
          <a:xfrm>
            <a:off x="1325880" y="4526280"/>
            <a:ext cx="9509760" cy="365760"/>
          </a:xfrm>
          <a:prstGeom prst="roundRect">
            <a:avLst>
              <a:gd name="adj" fmla="val 10000"/>
            </a:avLst>
          </a:prstGeom>
          <a:solidFill>
            <a:srgbClr val="15151F"/>
          </a:solidFill>
          <a:ln w="6350">
            <a:solidFill>
              <a:srgbClr val="1E1E2A"/>
            </a:solidFill>
            <a:prstDash val="solid"/>
          </a:ln>
        </p:spPr>
      </p:sp>
      <p:sp>
        <p:nvSpPr>
          <p:cNvPr id="17" name="Shape 15"/>
          <p:cNvSpPr/>
          <p:nvPr/>
        </p:nvSpPr>
        <p:spPr>
          <a:xfrm>
            <a:off x="1435608" y="4599432"/>
            <a:ext cx="384048" cy="210312"/>
          </a:xfrm>
          <a:prstGeom prst="roundRect">
            <a:avLst>
              <a:gd name="adj" fmla="val 17391"/>
            </a:avLst>
          </a:prstGeom>
          <a:solidFill>
            <a:srgbClr val="F7C700">
              <a:alpha val="12000"/>
            </a:srgbClr>
          </a:solidFill>
          <a:ln w="6350">
            <a:solidFill>
              <a:srgbClr val="F7C700"/>
            </a:solidFill>
            <a:prstDash val="solid"/>
          </a:ln>
        </p:spPr>
      </p:sp>
      <p:sp>
        <p:nvSpPr>
          <p:cNvPr id="18" name="Text 16"/>
          <p:cNvSpPr/>
          <p:nvPr/>
        </p:nvSpPr>
        <p:spPr>
          <a:xfrm>
            <a:off x="1435608" y="4599432"/>
            <a:ext cx="384048" cy="210312"/>
          </a:xfrm>
          <a:prstGeom prst="rect">
            <a:avLst/>
          </a:prstGeom>
          <a:noFill/>
          <a:ln/>
        </p:spPr>
        <p:txBody>
          <a:bodyPr wrap="square" lIns="0" tIns="0" rIns="0" bIns="0" rtlCol="0" anchor="ctr"/>
          <a:lstStyle/>
          <a:p>
            <a:pPr algn="ctr" indent="0" marL="0">
              <a:buNone/>
            </a:pPr>
            <a:r>
              <a:rPr lang="en-US" sz="700" spc="200" kern="0" dirty="0">
                <a:solidFill>
                  <a:srgbClr val="F7C700"/>
                </a:solidFill>
                <a:latin typeface="Helvetica Neue" pitchFamily="34" charset="0"/>
                <a:ea typeface="Helvetica Neue" pitchFamily="34" charset="-122"/>
                <a:cs typeface="Helvetica Neue" pitchFamily="34" charset="-120"/>
              </a:rPr>
              <a:t>SIG</a:t>
            </a:r>
            <a:endParaRPr lang="en-US" sz="700" dirty="0"/>
          </a:p>
        </p:txBody>
      </p:sp>
      <p:sp>
        <p:nvSpPr>
          <p:cNvPr id="19" name="Text 17"/>
          <p:cNvSpPr/>
          <p:nvPr/>
        </p:nvSpPr>
        <p:spPr>
          <a:xfrm>
            <a:off x="1920240" y="4562856"/>
            <a:ext cx="804672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URGENT: ContentOS pipeline failure</a:t>
            </a:r>
            <a:endParaRPr lang="en-US" sz="1000" dirty="0"/>
          </a:p>
        </p:txBody>
      </p:sp>
      <p:sp>
        <p:nvSpPr>
          <p:cNvPr id="20" name="Text 18"/>
          <p:cNvSpPr/>
          <p:nvPr/>
        </p:nvSpPr>
        <p:spPr>
          <a:xfrm>
            <a:off x="1920240" y="4727448"/>
            <a:ext cx="8046720" cy="164592"/>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Unread urgent signal  ·  Marketing</a:t>
            </a:r>
            <a:endParaRPr lang="en-US" sz="800" dirty="0"/>
          </a:p>
        </p:txBody>
      </p:sp>
      <p:sp>
        <p:nvSpPr>
          <p:cNvPr id="21" name="Text 19"/>
          <p:cNvSpPr/>
          <p:nvPr/>
        </p:nvSpPr>
        <p:spPr>
          <a:xfrm>
            <a:off x="10332720" y="4599432"/>
            <a:ext cx="365760" cy="228600"/>
          </a:xfrm>
          <a:prstGeom prst="rect">
            <a:avLst/>
          </a:prstGeom>
          <a:noFill/>
          <a:ln/>
        </p:spPr>
        <p:txBody>
          <a:bodyPr wrap="square" lIns="0" tIns="0" rIns="0" bIns="0" rtlCol="0" anchor="ctr"/>
          <a:lstStyle/>
          <a:p>
            <a:pPr algn="r" indent="0" marL="0">
              <a:buNone/>
            </a:pPr>
            <a:r>
              <a:rPr lang="en-US" sz="1300" dirty="0">
                <a:solidFill>
                  <a:srgbClr val="FF6B6B"/>
                </a:solidFill>
                <a:latin typeface="Helvetica Neue" pitchFamily="34" charset="0"/>
                <a:ea typeface="Helvetica Neue" pitchFamily="34" charset="-122"/>
                <a:cs typeface="Helvetica Neue" pitchFamily="34" charset="-120"/>
              </a:rPr>
              <a:t>94</a:t>
            </a:r>
            <a:endParaRPr lang="en-US" sz="1300" dirty="0"/>
          </a:p>
        </p:txBody>
      </p:sp>
      <p:sp>
        <p:nvSpPr>
          <p:cNvPr id="22" name="Shape 20"/>
          <p:cNvSpPr/>
          <p:nvPr/>
        </p:nvSpPr>
        <p:spPr>
          <a:xfrm>
            <a:off x="1920240" y="4800600"/>
            <a:ext cx="8046720" cy="36576"/>
          </a:xfrm>
          <a:prstGeom prst="rect">
            <a:avLst/>
          </a:prstGeom>
          <a:solidFill>
            <a:srgbClr val="1E1E2A"/>
          </a:solidFill>
          <a:ln w="12700">
            <a:solidFill>
              <a:srgbClr val="1E1E2A"/>
            </a:solidFill>
            <a:prstDash val="solid"/>
          </a:ln>
        </p:spPr>
      </p:sp>
      <p:sp>
        <p:nvSpPr>
          <p:cNvPr id="23" name="Shape 21"/>
          <p:cNvSpPr/>
          <p:nvPr/>
        </p:nvSpPr>
        <p:spPr>
          <a:xfrm>
            <a:off x="1920240" y="4800600"/>
            <a:ext cx="7563917" cy="36576"/>
          </a:xfrm>
          <a:prstGeom prst="rect">
            <a:avLst/>
          </a:prstGeom>
          <a:solidFill>
            <a:srgbClr val="FF6B6B">
              <a:alpha val="85000"/>
            </a:srgbClr>
          </a:solidFill>
          <a:ln w="12700">
            <a:solidFill>
              <a:srgbClr val="08080C"/>
            </a:solidFill>
            <a:prstDash val="solid"/>
          </a:ln>
        </p:spPr>
      </p:sp>
      <p:sp>
        <p:nvSpPr>
          <p:cNvPr id="24" name="Shape 22"/>
          <p:cNvSpPr/>
          <p:nvPr/>
        </p:nvSpPr>
        <p:spPr>
          <a:xfrm>
            <a:off x="1325880" y="4974336"/>
            <a:ext cx="9509760" cy="365760"/>
          </a:xfrm>
          <a:prstGeom prst="roundRect">
            <a:avLst>
              <a:gd name="adj" fmla="val 10000"/>
            </a:avLst>
          </a:prstGeom>
          <a:solidFill>
            <a:srgbClr val="15151F"/>
          </a:solidFill>
          <a:ln w="6350">
            <a:solidFill>
              <a:srgbClr val="1E1E2A"/>
            </a:solidFill>
            <a:prstDash val="solid"/>
          </a:ln>
        </p:spPr>
      </p:sp>
      <p:sp>
        <p:nvSpPr>
          <p:cNvPr id="25" name="Shape 23"/>
          <p:cNvSpPr/>
          <p:nvPr/>
        </p:nvSpPr>
        <p:spPr>
          <a:xfrm>
            <a:off x="1435608" y="5047488"/>
            <a:ext cx="384048" cy="210312"/>
          </a:xfrm>
          <a:prstGeom prst="roundRect">
            <a:avLst>
              <a:gd name="adj" fmla="val 17391"/>
            </a:avLst>
          </a:prstGeom>
          <a:solidFill>
            <a:srgbClr val="FF6B6B">
              <a:alpha val="12000"/>
            </a:srgbClr>
          </a:solidFill>
          <a:ln w="6350">
            <a:solidFill>
              <a:srgbClr val="FF6B6B"/>
            </a:solidFill>
            <a:prstDash val="solid"/>
          </a:ln>
        </p:spPr>
      </p:sp>
      <p:sp>
        <p:nvSpPr>
          <p:cNvPr id="26" name="Text 24"/>
          <p:cNvSpPr/>
          <p:nvPr/>
        </p:nvSpPr>
        <p:spPr>
          <a:xfrm>
            <a:off x="1435608" y="5047488"/>
            <a:ext cx="384048" cy="210312"/>
          </a:xfrm>
          <a:prstGeom prst="rect">
            <a:avLst/>
          </a:prstGeom>
          <a:noFill/>
          <a:ln/>
        </p:spPr>
        <p:txBody>
          <a:bodyPr wrap="square" lIns="0" tIns="0" rIns="0" bIns="0" rtlCol="0" anchor="ctr"/>
          <a:lstStyle/>
          <a:p>
            <a:pPr algn="ctr" indent="0" marL="0">
              <a:buNone/>
            </a:pPr>
            <a:r>
              <a:rPr lang="en-US" sz="700" spc="200" kern="0" dirty="0">
                <a:solidFill>
                  <a:srgbClr val="FF6B6B"/>
                </a:solidFill>
                <a:latin typeface="Helvetica Neue" pitchFamily="34" charset="0"/>
                <a:ea typeface="Helvetica Neue" pitchFamily="34" charset="-122"/>
                <a:cs typeface="Helvetica Neue" pitchFamily="34" charset="-120"/>
              </a:rPr>
              <a:t>RUN</a:t>
            </a:r>
            <a:endParaRPr lang="en-US" sz="700" dirty="0"/>
          </a:p>
        </p:txBody>
      </p:sp>
      <p:sp>
        <p:nvSpPr>
          <p:cNvPr id="27" name="Text 25"/>
          <p:cNvSpPr/>
          <p:nvPr/>
        </p:nvSpPr>
        <p:spPr>
          <a:xfrm>
            <a:off x="1920240" y="5010912"/>
            <a:ext cx="804672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Social Campaign: Q2 Launch</a:t>
            </a:r>
            <a:endParaRPr lang="en-US" sz="1000" dirty="0"/>
          </a:p>
        </p:txBody>
      </p:sp>
      <p:sp>
        <p:nvSpPr>
          <p:cNvPr id="28" name="Text 26"/>
          <p:cNvSpPr/>
          <p:nvPr/>
        </p:nvSpPr>
        <p:spPr>
          <a:xfrm>
            <a:off x="1920240" y="5175504"/>
            <a:ext cx="8046720" cy="164592"/>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Execution failed  ·  Marketing</a:t>
            </a:r>
            <a:endParaRPr lang="en-US" sz="800" dirty="0"/>
          </a:p>
        </p:txBody>
      </p:sp>
      <p:sp>
        <p:nvSpPr>
          <p:cNvPr id="29" name="Text 27"/>
          <p:cNvSpPr/>
          <p:nvPr/>
        </p:nvSpPr>
        <p:spPr>
          <a:xfrm>
            <a:off x="10332720" y="5047488"/>
            <a:ext cx="365760" cy="228600"/>
          </a:xfrm>
          <a:prstGeom prst="rect">
            <a:avLst/>
          </a:prstGeom>
          <a:noFill/>
          <a:ln/>
        </p:spPr>
        <p:txBody>
          <a:bodyPr wrap="square" lIns="0" tIns="0" rIns="0" bIns="0" rtlCol="0" anchor="ctr"/>
          <a:lstStyle/>
          <a:p>
            <a:pPr algn="r" indent="0" marL="0">
              <a:buNone/>
            </a:pPr>
            <a:r>
              <a:rPr lang="en-US" sz="1300" dirty="0">
                <a:solidFill>
                  <a:srgbClr val="FF6B6B"/>
                </a:solidFill>
                <a:latin typeface="Helvetica Neue" pitchFamily="34" charset="0"/>
                <a:ea typeface="Helvetica Neue" pitchFamily="34" charset="-122"/>
                <a:cs typeface="Helvetica Neue" pitchFamily="34" charset="-120"/>
              </a:rPr>
              <a:t>88</a:t>
            </a:r>
            <a:endParaRPr lang="en-US" sz="1300" dirty="0"/>
          </a:p>
        </p:txBody>
      </p:sp>
      <p:sp>
        <p:nvSpPr>
          <p:cNvPr id="30" name="Shape 28"/>
          <p:cNvSpPr/>
          <p:nvPr/>
        </p:nvSpPr>
        <p:spPr>
          <a:xfrm>
            <a:off x="1920240" y="5248656"/>
            <a:ext cx="8046720" cy="36576"/>
          </a:xfrm>
          <a:prstGeom prst="rect">
            <a:avLst/>
          </a:prstGeom>
          <a:solidFill>
            <a:srgbClr val="1E1E2A"/>
          </a:solidFill>
          <a:ln w="12700">
            <a:solidFill>
              <a:srgbClr val="1E1E2A"/>
            </a:solidFill>
            <a:prstDash val="solid"/>
          </a:ln>
        </p:spPr>
      </p:sp>
      <p:sp>
        <p:nvSpPr>
          <p:cNvPr id="31" name="Shape 29"/>
          <p:cNvSpPr/>
          <p:nvPr/>
        </p:nvSpPr>
        <p:spPr>
          <a:xfrm>
            <a:off x="1920240" y="5248656"/>
            <a:ext cx="7081114" cy="36576"/>
          </a:xfrm>
          <a:prstGeom prst="rect">
            <a:avLst/>
          </a:prstGeom>
          <a:solidFill>
            <a:srgbClr val="FF6B6B">
              <a:alpha val="85000"/>
            </a:srgbClr>
          </a:solidFill>
          <a:ln w="12700">
            <a:solidFill>
              <a:srgbClr val="08080C"/>
            </a:solidFill>
            <a:prstDash val="solid"/>
          </a:ln>
        </p:spPr>
      </p:sp>
      <p:sp>
        <p:nvSpPr>
          <p:cNvPr id="32" name="Shape 30"/>
          <p:cNvSpPr/>
          <p:nvPr/>
        </p:nvSpPr>
        <p:spPr>
          <a:xfrm>
            <a:off x="1325880" y="5422392"/>
            <a:ext cx="9509760" cy="365760"/>
          </a:xfrm>
          <a:prstGeom prst="roundRect">
            <a:avLst>
              <a:gd name="adj" fmla="val 10000"/>
            </a:avLst>
          </a:prstGeom>
          <a:solidFill>
            <a:srgbClr val="15151F"/>
          </a:solidFill>
          <a:ln w="6350">
            <a:solidFill>
              <a:srgbClr val="1E1E2A"/>
            </a:solidFill>
            <a:prstDash val="solid"/>
          </a:ln>
        </p:spPr>
      </p:sp>
      <p:sp>
        <p:nvSpPr>
          <p:cNvPr id="33" name="Shape 31"/>
          <p:cNvSpPr/>
          <p:nvPr/>
        </p:nvSpPr>
        <p:spPr>
          <a:xfrm>
            <a:off x="1435608" y="5495544"/>
            <a:ext cx="384048" cy="210312"/>
          </a:xfrm>
          <a:prstGeom prst="roundRect">
            <a:avLst>
              <a:gd name="adj" fmla="val 17391"/>
            </a:avLst>
          </a:prstGeom>
          <a:solidFill>
            <a:srgbClr val="BF9FF1">
              <a:alpha val="12000"/>
            </a:srgbClr>
          </a:solidFill>
          <a:ln w="6350">
            <a:solidFill>
              <a:srgbClr val="BF9FF1"/>
            </a:solidFill>
            <a:prstDash val="solid"/>
          </a:ln>
        </p:spPr>
      </p:sp>
      <p:sp>
        <p:nvSpPr>
          <p:cNvPr id="34" name="Text 32"/>
          <p:cNvSpPr/>
          <p:nvPr/>
        </p:nvSpPr>
        <p:spPr>
          <a:xfrm>
            <a:off x="1435608" y="5495544"/>
            <a:ext cx="384048" cy="210312"/>
          </a:xfrm>
          <a:prstGeom prst="rect">
            <a:avLst/>
          </a:prstGeom>
          <a:noFill/>
          <a:ln/>
        </p:spPr>
        <p:txBody>
          <a:bodyPr wrap="square" lIns="0" tIns="0" rIns="0" bIns="0" rtlCol="0" anchor="ctr"/>
          <a:lstStyle/>
          <a:p>
            <a:pPr algn="ctr" indent="0" marL="0">
              <a:buNone/>
            </a:pPr>
            <a:r>
              <a:rPr lang="en-US" sz="700" spc="200" kern="0" dirty="0">
                <a:solidFill>
                  <a:srgbClr val="BF9FF1"/>
                </a:solidFill>
                <a:latin typeface="Helvetica Neue" pitchFamily="34" charset="0"/>
                <a:ea typeface="Helvetica Neue" pitchFamily="34" charset="-122"/>
                <a:cs typeface="Helvetica Neue" pitchFamily="34" charset="-120"/>
              </a:rPr>
              <a:t>GOAL</a:t>
            </a:r>
            <a:endParaRPr lang="en-US" sz="700" dirty="0"/>
          </a:p>
        </p:txBody>
      </p:sp>
      <p:sp>
        <p:nvSpPr>
          <p:cNvPr id="35" name="Text 33"/>
          <p:cNvSpPr/>
          <p:nvPr/>
        </p:nvSpPr>
        <p:spPr>
          <a:xfrm>
            <a:off x="1920240" y="5458968"/>
            <a:ext cx="804672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Close 3 design partners</a:t>
            </a:r>
            <a:endParaRPr lang="en-US" sz="1000" dirty="0"/>
          </a:p>
        </p:txBody>
      </p:sp>
      <p:sp>
        <p:nvSpPr>
          <p:cNvPr id="36" name="Text 34"/>
          <p:cNvSpPr/>
          <p:nvPr/>
        </p:nvSpPr>
        <p:spPr>
          <a:xfrm>
            <a:off x="1920240" y="5623560"/>
            <a:ext cx="8046720" cy="164592"/>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Goal at risk  ·  Operations</a:t>
            </a:r>
            <a:endParaRPr lang="en-US" sz="800" dirty="0"/>
          </a:p>
        </p:txBody>
      </p:sp>
      <p:sp>
        <p:nvSpPr>
          <p:cNvPr id="37" name="Text 35"/>
          <p:cNvSpPr/>
          <p:nvPr/>
        </p:nvSpPr>
        <p:spPr>
          <a:xfrm>
            <a:off x="10332720" y="5495544"/>
            <a:ext cx="365760" cy="228600"/>
          </a:xfrm>
          <a:prstGeom prst="rect">
            <a:avLst/>
          </a:prstGeom>
          <a:noFill/>
          <a:ln/>
        </p:spPr>
        <p:txBody>
          <a:bodyPr wrap="square" lIns="0" tIns="0" rIns="0" bIns="0" rtlCol="0" anchor="ctr"/>
          <a:lstStyle/>
          <a:p>
            <a:pPr algn="r" indent="0" marL="0">
              <a:buNone/>
            </a:pPr>
            <a:r>
              <a:rPr lang="en-US" sz="1300" dirty="0">
                <a:solidFill>
                  <a:srgbClr val="F7C700"/>
                </a:solidFill>
                <a:latin typeface="Helvetica Neue" pitchFamily="34" charset="0"/>
                <a:ea typeface="Helvetica Neue" pitchFamily="34" charset="-122"/>
                <a:cs typeface="Helvetica Neue" pitchFamily="34" charset="-120"/>
              </a:rPr>
              <a:t>72</a:t>
            </a:r>
            <a:endParaRPr lang="en-US" sz="1300" dirty="0"/>
          </a:p>
        </p:txBody>
      </p:sp>
      <p:sp>
        <p:nvSpPr>
          <p:cNvPr id="38" name="Shape 36"/>
          <p:cNvSpPr/>
          <p:nvPr/>
        </p:nvSpPr>
        <p:spPr>
          <a:xfrm>
            <a:off x="1920240" y="5696712"/>
            <a:ext cx="8046720" cy="36576"/>
          </a:xfrm>
          <a:prstGeom prst="rect">
            <a:avLst/>
          </a:prstGeom>
          <a:solidFill>
            <a:srgbClr val="1E1E2A"/>
          </a:solidFill>
          <a:ln w="12700">
            <a:solidFill>
              <a:srgbClr val="1E1E2A"/>
            </a:solidFill>
            <a:prstDash val="solid"/>
          </a:ln>
        </p:spPr>
      </p:sp>
      <p:sp>
        <p:nvSpPr>
          <p:cNvPr id="39" name="Shape 37"/>
          <p:cNvSpPr/>
          <p:nvPr/>
        </p:nvSpPr>
        <p:spPr>
          <a:xfrm>
            <a:off x="1920240" y="5696712"/>
            <a:ext cx="5793638" cy="36576"/>
          </a:xfrm>
          <a:prstGeom prst="rect">
            <a:avLst/>
          </a:prstGeom>
          <a:solidFill>
            <a:srgbClr val="F7C700">
              <a:alpha val="85000"/>
            </a:srgbClr>
          </a:solidFill>
          <a:ln w="12700">
            <a:solidFill>
              <a:srgbClr val="08080C"/>
            </a:solidFill>
            <a:prstDash val="solid"/>
          </a:ln>
        </p:spPr>
      </p:sp>
      <p:sp>
        <p:nvSpPr>
          <p:cNvPr id="40" name="Shape 38"/>
          <p:cNvSpPr/>
          <p:nvPr/>
        </p:nvSpPr>
        <p:spPr>
          <a:xfrm>
            <a:off x="1325880" y="5870448"/>
            <a:ext cx="9509760" cy="365760"/>
          </a:xfrm>
          <a:prstGeom prst="roundRect">
            <a:avLst>
              <a:gd name="adj" fmla="val 10000"/>
            </a:avLst>
          </a:prstGeom>
          <a:solidFill>
            <a:srgbClr val="15151F"/>
          </a:solidFill>
          <a:ln w="6350">
            <a:solidFill>
              <a:srgbClr val="1E1E2A"/>
            </a:solidFill>
            <a:prstDash val="solid"/>
          </a:ln>
        </p:spPr>
      </p:sp>
      <p:sp>
        <p:nvSpPr>
          <p:cNvPr id="41" name="Shape 39"/>
          <p:cNvSpPr/>
          <p:nvPr/>
        </p:nvSpPr>
        <p:spPr>
          <a:xfrm>
            <a:off x="1435608" y="5943600"/>
            <a:ext cx="384048" cy="210312"/>
          </a:xfrm>
          <a:prstGeom prst="roundRect">
            <a:avLst>
              <a:gd name="adj" fmla="val 17391"/>
            </a:avLst>
          </a:prstGeom>
          <a:solidFill>
            <a:srgbClr val="7193ED">
              <a:alpha val="12000"/>
            </a:srgbClr>
          </a:solidFill>
          <a:ln w="6350">
            <a:solidFill>
              <a:srgbClr val="7193ED"/>
            </a:solidFill>
            <a:prstDash val="solid"/>
          </a:ln>
        </p:spPr>
      </p:sp>
      <p:sp>
        <p:nvSpPr>
          <p:cNvPr id="42" name="Text 40"/>
          <p:cNvSpPr/>
          <p:nvPr/>
        </p:nvSpPr>
        <p:spPr>
          <a:xfrm>
            <a:off x="1435608" y="5943600"/>
            <a:ext cx="384048" cy="210312"/>
          </a:xfrm>
          <a:prstGeom prst="rect">
            <a:avLst/>
          </a:prstGeom>
          <a:noFill/>
          <a:ln/>
        </p:spPr>
        <p:txBody>
          <a:bodyPr wrap="square" lIns="0" tIns="0" rIns="0" bIns="0" rtlCol="0" anchor="ctr"/>
          <a:lstStyle/>
          <a:p>
            <a:pPr algn="ctr" indent="0" marL="0">
              <a:buNone/>
            </a:pPr>
            <a:r>
              <a:rPr lang="en-US" sz="700" spc="200" kern="0" dirty="0">
                <a:solidFill>
                  <a:srgbClr val="7193ED"/>
                </a:solidFill>
                <a:latin typeface="Helvetica Neue" pitchFamily="34" charset="0"/>
                <a:ea typeface="Helvetica Neue" pitchFamily="34" charset="-122"/>
                <a:cs typeface="Helvetica Neue" pitchFamily="34" charset="-120"/>
              </a:rPr>
              <a:t>SYS</a:t>
            </a:r>
            <a:endParaRPr lang="en-US" sz="700" dirty="0"/>
          </a:p>
        </p:txBody>
      </p:sp>
      <p:sp>
        <p:nvSpPr>
          <p:cNvPr id="43" name="Text 41"/>
          <p:cNvSpPr/>
          <p:nvPr/>
        </p:nvSpPr>
        <p:spPr>
          <a:xfrm>
            <a:off x="1920240" y="5907024"/>
            <a:ext cx="804672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Analytics System</a:t>
            </a:r>
            <a:endParaRPr lang="en-US" sz="1000" dirty="0"/>
          </a:p>
        </p:txBody>
      </p:sp>
      <p:sp>
        <p:nvSpPr>
          <p:cNvPr id="44" name="Text 42"/>
          <p:cNvSpPr/>
          <p:nvPr/>
        </p:nvSpPr>
        <p:spPr>
          <a:xfrm>
            <a:off x="1920240" y="6071616"/>
            <a:ext cx="8046720" cy="164592"/>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System degraded  ·  Product</a:t>
            </a:r>
            <a:endParaRPr lang="en-US" sz="800" dirty="0"/>
          </a:p>
        </p:txBody>
      </p:sp>
      <p:sp>
        <p:nvSpPr>
          <p:cNvPr id="45" name="Text 43"/>
          <p:cNvSpPr/>
          <p:nvPr/>
        </p:nvSpPr>
        <p:spPr>
          <a:xfrm>
            <a:off x="10332720" y="5943600"/>
            <a:ext cx="365760" cy="228600"/>
          </a:xfrm>
          <a:prstGeom prst="rect">
            <a:avLst/>
          </a:prstGeom>
          <a:noFill/>
          <a:ln/>
        </p:spPr>
        <p:txBody>
          <a:bodyPr wrap="square" lIns="0" tIns="0" rIns="0" bIns="0" rtlCol="0" anchor="ctr"/>
          <a:lstStyle/>
          <a:p>
            <a:pPr algn="r" indent="0" marL="0">
              <a:buNone/>
            </a:pPr>
            <a:r>
              <a:rPr lang="en-US" sz="1300" dirty="0">
                <a:solidFill>
                  <a:srgbClr val="BF9FF1"/>
                </a:solidFill>
                <a:latin typeface="Helvetica Neue" pitchFamily="34" charset="0"/>
                <a:ea typeface="Helvetica Neue" pitchFamily="34" charset="-122"/>
                <a:cs typeface="Helvetica Neue" pitchFamily="34" charset="-120"/>
              </a:rPr>
              <a:t>58</a:t>
            </a:r>
            <a:endParaRPr lang="en-US" sz="1300" dirty="0"/>
          </a:p>
        </p:txBody>
      </p:sp>
      <p:sp>
        <p:nvSpPr>
          <p:cNvPr id="46" name="Shape 44"/>
          <p:cNvSpPr/>
          <p:nvPr/>
        </p:nvSpPr>
        <p:spPr>
          <a:xfrm>
            <a:off x="1920240" y="6144768"/>
            <a:ext cx="8046720" cy="36576"/>
          </a:xfrm>
          <a:prstGeom prst="rect">
            <a:avLst/>
          </a:prstGeom>
          <a:solidFill>
            <a:srgbClr val="1E1E2A"/>
          </a:solidFill>
          <a:ln w="12700">
            <a:solidFill>
              <a:srgbClr val="1E1E2A"/>
            </a:solidFill>
            <a:prstDash val="solid"/>
          </a:ln>
        </p:spPr>
      </p:sp>
      <p:sp>
        <p:nvSpPr>
          <p:cNvPr id="47" name="Shape 45"/>
          <p:cNvSpPr/>
          <p:nvPr/>
        </p:nvSpPr>
        <p:spPr>
          <a:xfrm>
            <a:off x="1920240" y="6144768"/>
            <a:ext cx="4667098" cy="36576"/>
          </a:xfrm>
          <a:prstGeom prst="rect">
            <a:avLst/>
          </a:prstGeom>
          <a:solidFill>
            <a:srgbClr val="BF9FF1">
              <a:alpha val="85000"/>
            </a:srgbClr>
          </a:solidFill>
          <a:ln w="12700">
            <a:solidFill>
              <a:srgbClr val="08080C"/>
            </a:solidFill>
            <a:prstDash val="solid"/>
          </a:ln>
        </p:spPr>
      </p:sp>
      <p:sp>
        <p:nvSpPr>
          <p:cNvPr id="48" name="Shape 46"/>
          <p:cNvSpPr/>
          <p:nvPr/>
        </p:nvSpPr>
        <p:spPr>
          <a:xfrm>
            <a:off x="640080" y="6419088"/>
            <a:ext cx="10881360" cy="0"/>
          </a:xfrm>
          <a:prstGeom prst="line">
            <a:avLst/>
          </a:prstGeom>
          <a:noFill/>
          <a:ln w="6350">
            <a:solidFill>
              <a:srgbClr val="181822"/>
            </a:solidFill>
            <a:prstDash val="solid"/>
          </a:ln>
        </p:spPr>
      </p:sp>
      <p:sp>
        <p:nvSpPr>
          <p:cNvPr id="49" name="Text 47"/>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50" name="Text 48"/>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6 / 15</a:t>
            </a:r>
            <a:endParaRPr lang="en-US" sz="800" dirty="0"/>
          </a:p>
        </p:txBody>
      </p:sp>
      <p:sp>
        <p:nvSpPr>
          <p:cNvPr id="51" name="Text 49"/>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USE CASES  ·  MEASURED</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2800" dirty="0">
                <a:solidFill>
                  <a:srgbClr val="FFFFFF"/>
                </a:solidFill>
                <a:latin typeface="Helvetica Neue" pitchFamily="34" charset="0"/>
                <a:ea typeface="Helvetica Neue" pitchFamily="34" charset="-122"/>
                <a:cs typeface="Helvetica Neue" pitchFamily="34" charset="-120"/>
              </a:rPr>
              <a:t>Every department. One system. Visible outcomes.</a:t>
            </a:r>
            <a:endParaRPr lang="en-US" sz="2800" dirty="0"/>
          </a:p>
        </p:txBody>
      </p:sp>
      <p:sp>
        <p:nvSpPr>
          <p:cNvPr id="4" name="Text 2"/>
          <p:cNvSpPr/>
          <p:nvPr/>
        </p:nvSpPr>
        <p:spPr>
          <a:xfrm>
            <a:off x="640080" y="1600200"/>
            <a:ext cx="8487461" cy="50292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Domain experts keep their expertise. GRID translates it into working systems that sustain — with feedback loops that make outcomes visible and improvements continuous.</a:t>
            </a:r>
            <a:endParaRPr lang="en-US" sz="1300" dirty="0"/>
          </a:p>
        </p:txBody>
      </p:sp>
      <p:sp>
        <p:nvSpPr>
          <p:cNvPr id="5" name="Shape 3"/>
          <p:cNvSpPr/>
          <p:nvPr/>
        </p:nvSpPr>
        <p:spPr>
          <a:xfrm>
            <a:off x="640080" y="2331720"/>
            <a:ext cx="5303520" cy="1874520"/>
          </a:xfrm>
          <a:prstGeom prst="roundRect">
            <a:avLst>
              <a:gd name="adj" fmla="val 3902"/>
            </a:avLst>
          </a:prstGeom>
          <a:solidFill>
            <a:srgbClr val="101018"/>
          </a:solidFill>
          <a:ln w="9525">
            <a:solidFill>
              <a:srgbClr val="1F1F2A"/>
            </a:solidFill>
            <a:prstDash val="solid"/>
          </a:ln>
        </p:spPr>
      </p:sp>
      <p:sp>
        <p:nvSpPr>
          <p:cNvPr id="6" name="Shape 4"/>
          <p:cNvSpPr/>
          <p:nvPr/>
        </p:nvSpPr>
        <p:spPr>
          <a:xfrm>
            <a:off x="649224" y="2340864"/>
            <a:ext cx="5285232" cy="36576"/>
          </a:xfrm>
          <a:prstGeom prst="rect">
            <a:avLst/>
          </a:prstGeom>
          <a:solidFill>
            <a:srgbClr val="7193ED"/>
          </a:solidFill>
          <a:ln w="12700">
            <a:solidFill>
              <a:srgbClr val="7193ED"/>
            </a:solidFill>
            <a:prstDash val="solid"/>
          </a:ln>
        </p:spPr>
      </p:sp>
      <p:sp>
        <p:nvSpPr>
          <p:cNvPr id="7" name="Text 5"/>
          <p:cNvSpPr/>
          <p:nvPr/>
        </p:nvSpPr>
        <p:spPr>
          <a:xfrm>
            <a:off x="960120" y="2514600"/>
            <a:ext cx="2743200" cy="228600"/>
          </a:xfrm>
          <a:prstGeom prst="rect">
            <a:avLst/>
          </a:prstGeom>
          <a:noFill/>
          <a:ln/>
        </p:spPr>
        <p:txBody>
          <a:bodyPr wrap="square" lIns="0" tIns="0" rIns="0" bIns="0" rtlCol="0" anchor="ctr"/>
          <a:lstStyle/>
          <a:p>
            <a:pPr indent="0" marL="0">
              <a:buNone/>
            </a:pPr>
            <a:r>
              <a:rPr lang="en-US" sz="800" spc="300" kern="0" dirty="0">
                <a:solidFill>
                  <a:srgbClr val="7193ED"/>
                </a:solidFill>
                <a:latin typeface="Helvetica Neue" pitchFamily="34" charset="0"/>
                <a:ea typeface="Helvetica Neue" pitchFamily="34" charset="-122"/>
                <a:cs typeface="Helvetica Neue" pitchFamily="34" charset="-120"/>
              </a:rPr>
              <a:t>CONTENT OPS</a:t>
            </a:r>
            <a:endParaRPr lang="en-US" sz="800" dirty="0"/>
          </a:p>
        </p:txBody>
      </p:sp>
      <p:sp>
        <p:nvSpPr>
          <p:cNvPr id="8" name="Text 6"/>
          <p:cNvSpPr/>
          <p:nvPr/>
        </p:nvSpPr>
        <p:spPr>
          <a:xfrm>
            <a:off x="960120" y="2743200"/>
            <a:ext cx="4663440" cy="3200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Brief to Publish</a:t>
            </a:r>
            <a:endParaRPr lang="en-US" sz="1600" dirty="0"/>
          </a:p>
        </p:txBody>
      </p:sp>
      <p:sp>
        <p:nvSpPr>
          <p:cNvPr id="9" name="Shape 7"/>
          <p:cNvSpPr/>
          <p:nvPr/>
        </p:nvSpPr>
        <p:spPr>
          <a:xfrm>
            <a:off x="960120" y="3154680"/>
            <a:ext cx="4663440" cy="320040"/>
          </a:xfrm>
          <a:prstGeom prst="roundRect">
            <a:avLst>
              <a:gd name="adj" fmla="val 11429"/>
            </a:avLst>
          </a:prstGeom>
          <a:solidFill>
            <a:srgbClr val="15151F"/>
          </a:solidFill>
          <a:ln w="6350">
            <a:solidFill>
              <a:srgbClr val="1F1F2A"/>
            </a:solidFill>
            <a:prstDash val="solid"/>
          </a:ln>
        </p:spPr>
      </p:sp>
      <p:sp>
        <p:nvSpPr>
          <p:cNvPr id="10" name="Text 8"/>
          <p:cNvSpPr/>
          <p:nvPr/>
        </p:nvSpPr>
        <p:spPr>
          <a:xfrm>
            <a:off x="1051560" y="3154680"/>
            <a:ext cx="4480560" cy="32004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Before: </a:t>
            </a:r>
            <a:pPr indent="0" marL="0">
              <a:buNone/>
            </a:pPr>
            <a:r>
              <a:rPr lang="en-US" sz="900" dirty="0">
                <a:solidFill>
                  <a:srgbClr val="FF6B6B"/>
                </a:solidFill>
                <a:latin typeface="Helvetica Neue" pitchFamily="34" charset="0"/>
                <a:ea typeface="Helvetica Neue" pitchFamily="34" charset="-122"/>
                <a:cs typeface="Helvetica Neue" pitchFamily="34" charset="-120"/>
              </a:rPr>
              <a:t>6–8 hours</a:t>
            </a:r>
            <a:pPr indent="0" marL="0">
              <a:buNone/>
            </a:pPr>
            <a:r>
              <a:rPr lang="en-US" sz="900" dirty="0">
                <a:solidFill>
                  <a:srgbClr val="40404A"/>
                </a:solidFill>
                <a:latin typeface="Helvetica Neue" pitchFamily="34" charset="0"/>
                <a:ea typeface="Helvetica Neue" pitchFamily="34" charset="-122"/>
                <a:cs typeface="Helvetica Neue" pitchFamily="34" charset="-120"/>
              </a:rPr>
              <a:t>   →   </a:t>
            </a:r>
            <a:pPr indent="0" marL="0">
              <a:buNone/>
            </a:pPr>
            <a:r>
              <a:rPr lang="en-US" sz="900" dirty="0">
                <a:solidFill>
                  <a:srgbClr val="60606A"/>
                </a:solidFill>
                <a:latin typeface="Helvetica Neue" pitchFamily="34" charset="0"/>
                <a:ea typeface="Helvetica Neue" pitchFamily="34" charset="-122"/>
                <a:cs typeface="Helvetica Neue" pitchFamily="34" charset="-120"/>
              </a:rPr>
              <a:t>After: </a:t>
            </a:r>
            <a:pPr indent="0" marL="0">
              <a:buNone/>
            </a:pPr>
            <a:r>
              <a:rPr lang="en-US" sz="900" dirty="0">
                <a:solidFill>
                  <a:srgbClr val="15AD70"/>
                </a:solidFill>
                <a:latin typeface="Helvetica Neue" pitchFamily="34" charset="0"/>
                <a:ea typeface="Helvetica Neue" pitchFamily="34" charset="-122"/>
                <a:cs typeface="Helvetica Neue" pitchFamily="34" charset="-120"/>
              </a:rPr>
              <a:t>4 minutes</a:t>
            </a:r>
            <a:endParaRPr lang="en-US" sz="900" dirty="0"/>
          </a:p>
        </p:txBody>
      </p:sp>
      <p:sp>
        <p:nvSpPr>
          <p:cNvPr id="11" name="Text 9"/>
          <p:cNvSpPr/>
          <p:nvPr/>
        </p:nvSpPr>
        <p:spPr>
          <a:xfrm>
            <a:off x="960120" y="3566160"/>
            <a:ext cx="4663440" cy="27432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Blog post from brief to publish-ready</a:t>
            </a:r>
            <a:endParaRPr lang="en-US" sz="1050" dirty="0"/>
          </a:p>
        </p:txBody>
      </p:sp>
      <p:sp>
        <p:nvSpPr>
          <p:cNvPr id="12" name="Text 10"/>
          <p:cNvSpPr/>
          <p:nvPr/>
        </p:nvSpPr>
        <p:spPr>
          <a:xfrm>
            <a:off x="960120" y="3794760"/>
            <a:ext cx="4663440" cy="228600"/>
          </a:xfrm>
          <a:prstGeom prst="rect">
            <a:avLst/>
          </a:prstGeom>
          <a:noFill/>
          <a:ln/>
        </p:spPr>
        <p:txBody>
          <a:bodyPr wrap="square" lIns="0" tIns="0" rIns="0" bIns="0" rtlCol="0" anchor="ctr"/>
          <a:lstStyle/>
          <a:p>
            <a:pPr indent="0" marL="0">
              <a:buNone/>
            </a:pPr>
            <a:r>
              <a:rPr lang="en-US" sz="900" dirty="0">
                <a:solidFill>
                  <a:srgbClr val="7193ED"/>
                </a:solidFill>
                <a:latin typeface="Helvetica Neue" pitchFamily="34" charset="0"/>
                <a:ea typeface="Helvetica Neue" pitchFamily="34" charset="-122"/>
                <a:cs typeface="Helvetica Neue" pitchFamily="34" charset="-120"/>
              </a:rPr>
              <a:t>8.4 / 10 avg quality score</a:t>
            </a:r>
            <a:endParaRPr lang="en-US" sz="900" dirty="0"/>
          </a:p>
        </p:txBody>
      </p:sp>
      <p:sp>
        <p:nvSpPr>
          <p:cNvPr id="13" name="Shape 11"/>
          <p:cNvSpPr/>
          <p:nvPr/>
        </p:nvSpPr>
        <p:spPr>
          <a:xfrm>
            <a:off x="6217920" y="2331720"/>
            <a:ext cx="5303520" cy="1874520"/>
          </a:xfrm>
          <a:prstGeom prst="roundRect">
            <a:avLst>
              <a:gd name="adj" fmla="val 3902"/>
            </a:avLst>
          </a:prstGeom>
          <a:solidFill>
            <a:srgbClr val="101018"/>
          </a:solidFill>
          <a:ln w="9525">
            <a:solidFill>
              <a:srgbClr val="1F1F2A"/>
            </a:solidFill>
            <a:prstDash val="solid"/>
          </a:ln>
        </p:spPr>
      </p:sp>
      <p:sp>
        <p:nvSpPr>
          <p:cNvPr id="14" name="Shape 12"/>
          <p:cNvSpPr/>
          <p:nvPr/>
        </p:nvSpPr>
        <p:spPr>
          <a:xfrm>
            <a:off x="6227064" y="2340864"/>
            <a:ext cx="5285232" cy="36576"/>
          </a:xfrm>
          <a:prstGeom prst="rect">
            <a:avLst/>
          </a:prstGeom>
          <a:solidFill>
            <a:srgbClr val="FF6B6B"/>
          </a:solidFill>
          <a:ln w="12700">
            <a:solidFill>
              <a:srgbClr val="FF6B6B"/>
            </a:solidFill>
            <a:prstDash val="solid"/>
          </a:ln>
        </p:spPr>
      </p:sp>
      <p:sp>
        <p:nvSpPr>
          <p:cNvPr id="15" name="Text 13"/>
          <p:cNvSpPr/>
          <p:nvPr/>
        </p:nvSpPr>
        <p:spPr>
          <a:xfrm>
            <a:off x="6537960" y="2514600"/>
            <a:ext cx="2743200" cy="228600"/>
          </a:xfrm>
          <a:prstGeom prst="rect">
            <a:avLst/>
          </a:prstGeom>
          <a:noFill/>
          <a:ln/>
        </p:spPr>
        <p:txBody>
          <a:bodyPr wrap="square" lIns="0" tIns="0" rIns="0" bIns="0" rtlCol="0" anchor="ctr"/>
          <a:lstStyle/>
          <a:p>
            <a:pPr indent="0" marL="0">
              <a:buNone/>
            </a:pPr>
            <a:r>
              <a:rPr lang="en-US" sz="800" spc="300" kern="0" dirty="0">
                <a:solidFill>
                  <a:srgbClr val="FF6B6B"/>
                </a:solidFill>
                <a:latin typeface="Helvetica Neue" pitchFamily="34" charset="0"/>
                <a:ea typeface="Helvetica Neue" pitchFamily="34" charset="-122"/>
                <a:cs typeface="Helvetica Neue" pitchFamily="34" charset="-120"/>
              </a:rPr>
              <a:t>MARKETING</a:t>
            </a:r>
            <a:endParaRPr lang="en-US" sz="800" dirty="0"/>
          </a:p>
        </p:txBody>
      </p:sp>
      <p:sp>
        <p:nvSpPr>
          <p:cNvPr id="16" name="Text 14"/>
          <p:cNvSpPr/>
          <p:nvPr/>
        </p:nvSpPr>
        <p:spPr>
          <a:xfrm>
            <a:off x="6537960" y="2743200"/>
            <a:ext cx="4663440" cy="3200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Campaign Launch</a:t>
            </a:r>
            <a:endParaRPr lang="en-US" sz="1600" dirty="0"/>
          </a:p>
        </p:txBody>
      </p:sp>
      <p:sp>
        <p:nvSpPr>
          <p:cNvPr id="17" name="Shape 15"/>
          <p:cNvSpPr/>
          <p:nvPr/>
        </p:nvSpPr>
        <p:spPr>
          <a:xfrm>
            <a:off x="6537960" y="3154680"/>
            <a:ext cx="4663440" cy="320040"/>
          </a:xfrm>
          <a:prstGeom prst="roundRect">
            <a:avLst>
              <a:gd name="adj" fmla="val 11429"/>
            </a:avLst>
          </a:prstGeom>
          <a:solidFill>
            <a:srgbClr val="15151F"/>
          </a:solidFill>
          <a:ln w="6350">
            <a:solidFill>
              <a:srgbClr val="1F1F2A"/>
            </a:solidFill>
            <a:prstDash val="solid"/>
          </a:ln>
        </p:spPr>
      </p:sp>
      <p:sp>
        <p:nvSpPr>
          <p:cNvPr id="18" name="Text 16"/>
          <p:cNvSpPr/>
          <p:nvPr/>
        </p:nvSpPr>
        <p:spPr>
          <a:xfrm>
            <a:off x="6629400" y="3154680"/>
            <a:ext cx="4480560" cy="32004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Before: </a:t>
            </a:r>
            <a:pPr indent="0" marL="0">
              <a:buNone/>
            </a:pPr>
            <a:r>
              <a:rPr lang="en-US" sz="900" dirty="0">
                <a:solidFill>
                  <a:srgbClr val="FF6B6B"/>
                </a:solidFill>
                <a:latin typeface="Helvetica Neue" pitchFamily="34" charset="0"/>
                <a:ea typeface="Helvetica Neue" pitchFamily="34" charset="-122"/>
                <a:cs typeface="Helvetica Neue" pitchFamily="34" charset="-120"/>
              </a:rPr>
              <a:t>2–3 days with team</a:t>
            </a:r>
            <a:pPr indent="0" marL="0">
              <a:buNone/>
            </a:pPr>
            <a:r>
              <a:rPr lang="en-US" sz="900" dirty="0">
                <a:solidFill>
                  <a:srgbClr val="40404A"/>
                </a:solidFill>
                <a:latin typeface="Helvetica Neue" pitchFamily="34" charset="0"/>
                <a:ea typeface="Helvetica Neue" pitchFamily="34" charset="-122"/>
                <a:cs typeface="Helvetica Neue" pitchFamily="34" charset="-120"/>
              </a:rPr>
              <a:t>   →   </a:t>
            </a:r>
            <a:pPr indent="0" marL="0">
              <a:buNone/>
            </a:pPr>
            <a:r>
              <a:rPr lang="en-US" sz="900" dirty="0">
                <a:solidFill>
                  <a:srgbClr val="60606A"/>
                </a:solidFill>
                <a:latin typeface="Helvetica Neue" pitchFamily="34" charset="0"/>
                <a:ea typeface="Helvetica Neue" pitchFamily="34" charset="-122"/>
                <a:cs typeface="Helvetica Neue" pitchFamily="34" charset="-120"/>
              </a:rPr>
              <a:t>After: </a:t>
            </a:r>
            <a:pPr indent="0" marL="0">
              <a:buNone/>
            </a:pPr>
            <a:r>
              <a:rPr lang="en-US" sz="900" dirty="0">
                <a:solidFill>
                  <a:srgbClr val="15AD70"/>
                </a:solidFill>
                <a:latin typeface="Helvetica Neue" pitchFamily="34" charset="0"/>
                <a:ea typeface="Helvetica Neue" pitchFamily="34" charset="-122"/>
                <a:cs typeface="Helvetica Neue" pitchFamily="34" charset="-120"/>
              </a:rPr>
              <a:t>3 minutes</a:t>
            </a:r>
            <a:endParaRPr lang="en-US" sz="900" dirty="0"/>
          </a:p>
        </p:txBody>
      </p:sp>
      <p:sp>
        <p:nvSpPr>
          <p:cNvPr id="19" name="Text 17"/>
          <p:cNvSpPr/>
          <p:nvPr/>
        </p:nvSpPr>
        <p:spPr>
          <a:xfrm>
            <a:off x="6537960" y="3566160"/>
            <a:ext cx="4663440" cy="27432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Full 3-platform social campaign</a:t>
            </a:r>
            <a:endParaRPr lang="en-US" sz="1050" dirty="0"/>
          </a:p>
        </p:txBody>
      </p:sp>
      <p:sp>
        <p:nvSpPr>
          <p:cNvPr id="20" name="Text 18"/>
          <p:cNvSpPr/>
          <p:nvPr/>
        </p:nvSpPr>
        <p:spPr>
          <a:xfrm>
            <a:off x="6537960" y="3794760"/>
            <a:ext cx="4663440" cy="228600"/>
          </a:xfrm>
          <a:prstGeom prst="rect">
            <a:avLst/>
          </a:prstGeom>
          <a:noFill/>
          <a:ln/>
        </p:spPr>
        <p:txBody>
          <a:bodyPr wrap="square" lIns="0" tIns="0" rIns="0" bIns="0" rtlCol="0" anchor="ctr"/>
          <a:lstStyle/>
          <a:p>
            <a:pPr indent="0" marL="0">
              <a:buNone/>
            </a:pPr>
            <a:r>
              <a:rPr lang="en-US" sz="900" dirty="0">
                <a:solidFill>
                  <a:srgbClr val="FF6B6B"/>
                </a:solidFill>
                <a:latin typeface="Helvetica Neue" pitchFamily="34" charset="0"/>
                <a:ea typeface="Helvetica Neue" pitchFamily="34" charset="-122"/>
                <a:cs typeface="Helvetica Neue" pitchFamily="34" charset="-120"/>
              </a:rPr>
              <a:t>14 posts ready to schedule</a:t>
            </a:r>
            <a:endParaRPr lang="en-US" sz="900" dirty="0"/>
          </a:p>
        </p:txBody>
      </p:sp>
      <p:sp>
        <p:nvSpPr>
          <p:cNvPr id="21" name="Shape 19"/>
          <p:cNvSpPr/>
          <p:nvPr/>
        </p:nvSpPr>
        <p:spPr>
          <a:xfrm>
            <a:off x="640080" y="4389120"/>
            <a:ext cx="5303520" cy="1874520"/>
          </a:xfrm>
          <a:prstGeom prst="roundRect">
            <a:avLst>
              <a:gd name="adj" fmla="val 3902"/>
            </a:avLst>
          </a:prstGeom>
          <a:solidFill>
            <a:srgbClr val="101018"/>
          </a:solidFill>
          <a:ln w="9525">
            <a:solidFill>
              <a:srgbClr val="1F1F2A"/>
            </a:solidFill>
            <a:prstDash val="solid"/>
          </a:ln>
        </p:spPr>
      </p:sp>
      <p:sp>
        <p:nvSpPr>
          <p:cNvPr id="22" name="Shape 20"/>
          <p:cNvSpPr/>
          <p:nvPr/>
        </p:nvSpPr>
        <p:spPr>
          <a:xfrm>
            <a:off x="649224" y="4398264"/>
            <a:ext cx="5285232" cy="36576"/>
          </a:xfrm>
          <a:prstGeom prst="rect">
            <a:avLst/>
          </a:prstGeom>
          <a:solidFill>
            <a:srgbClr val="15AD70"/>
          </a:solidFill>
          <a:ln w="12700">
            <a:solidFill>
              <a:srgbClr val="15AD70"/>
            </a:solidFill>
            <a:prstDash val="solid"/>
          </a:ln>
        </p:spPr>
      </p:sp>
      <p:sp>
        <p:nvSpPr>
          <p:cNvPr id="23" name="Text 21"/>
          <p:cNvSpPr/>
          <p:nvPr/>
        </p:nvSpPr>
        <p:spPr>
          <a:xfrm>
            <a:off x="960120" y="4572000"/>
            <a:ext cx="2743200" cy="228600"/>
          </a:xfrm>
          <a:prstGeom prst="rect">
            <a:avLst/>
          </a:prstGeom>
          <a:noFill/>
          <a:ln/>
        </p:spPr>
        <p:txBody>
          <a:bodyPr wrap="square" lIns="0" tIns="0" rIns="0" bIns="0" rtlCol="0" anchor="ctr"/>
          <a:lstStyle/>
          <a:p>
            <a:pPr indent="0" marL="0">
              <a:buNone/>
            </a:pPr>
            <a:r>
              <a:rPr lang="en-US" sz="800" spc="300" kern="0" dirty="0">
                <a:solidFill>
                  <a:srgbClr val="15AD70"/>
                </a:solidFill>
                <a:latin typeface="Helvetica Neue" pitchFamily="34" charset="0"/>
                <a:ea typeface="Helvetica Neue" pitchFamily="34" charset="-122"/>
                <a:cs typeface="Helvetica Neue" pitchFamily="34" charset="-120"/>
              </a:rPr>
              <a:t>OPERATIONS</a:t>
            </a:r>
            <a:endParaRPr lang="en-US" sz="800" dirty="0"/>
          </a:p>
        </p:txBody>
      </p:sp>
      <p:sp>
        <p:nvSpPr>
          <p:cNvPr id="24" name="Text 22"/>
          <p:cNvSpPr/>
          <p:nvPr/>
        </p:nvSpPr>
        <p:spPr>
          <a:xfrm>
            <a:off x="960120" y="4800600"/>
            <a:ext cx="4663440" cy="3200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Client Onboarding</a:t>
            </a:r>
            <a:endParaRPr lang="en-US" sz="1600" dirty="0"/>
          </a:p>
        </p:txBody>
      </p:sp>
      <p:sp>
        <p:nvSpPr>
          <p:cNvPr id="25" name="Shape 23"/>
          <p:cNvSpPr/>
          <p:nvPr/>
        </p:nvSpPr>
        <p:spPr>
          <a:xfrm>
            <a:off x="960120" y="5212080"/>
            <a:ext cx="4663440" cy="320040"/>
          </a:xfrm>
          <a:prstGeom prst="roundRect">
            <a:avLst>
              <a:gd name="adj" fmla="val 11429"/>
            </a:avLst>
          </a:prstGeom>
          <a:solidFill>
            <a:srgbClr val="15151F"/>
          </a:solidFill>
          <a:ln w="6350">
            <a:solidFill>
              <a:srgbClr val="1F1F2A"/>
            </a:solidFill>
            <a:prstDash val="solid"/>
          </a:ln>
        </p:spPr>
      </p:sp>
      <p:sp>
        <p:nvSpPr>
          <p:cNvPr id="26" name="Text 24"/>
          <p:cNvSpPr/>
          <p:nvPr/>
        </p:nvSpPr>
        <p:spPr>
          <a:xfrm>
            <a:off x="1051560" y="5212080"/>
            <a:ext cx="4480560" cy="32004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Before: </a:t>
            </a:r>
            <a:pPr indent="0" marL="0">
              <a:buNone/>
            </a:pPr>
            <a:r>
              <a:rPr lang="en-US" sz="900" dirty="0">
                <a:solidFill>
                  <a:srgbClr val="FF6B6B"/>
                </a:solidFill>
                <a:latin typeface="Helvetica Neue" pitchFamily="34" charset="0"/>
                <a:ea typeface="Helvetica Neue" pitchFamily="34" charset="-122"/>
                <a:cs typeface="Helvetica Neue" pitchFamily="34" charset="-120"/>
              </a:rPr>
              <a:t>Manual follow-ups</a:t>
            </a:r>
            <a:pPr indent="0" marL="0">
              <a:buNone/>
            </a:pPr>
            <a:r>
              <a:rPr lang="en-US" sz="900" dirty="0">
                <a:solidFill>
                  <a:srgbClr val="40404A"/>
                </a:solidFill>
                <a:latin typeface="Helvetica Neue" pitchFamily="34" charset="0"/>
                <a:ea typeface="Helvetica Neue" pitchFamily="34" charset="-122"/>
                <a:cs typeface="Helvetica Neue" pitchFamily="34" charset="-120"/>
              </a:rPr>
              <a:t>   →   </a:t>
            </a:r>
            <a:pPr indent="0" marL="0">
              <a:buNone/>
            </a:pPr>
            <a:r>
              <a:rPr lang="en-US" sz="900" dirty="0">
                <a:solidFill>
                  <a:srgbClr val="60606A"/>
                </a:solidFill>
                <a:latin typeface="Helvetica Neue" pitchFamily="34" charset="0"/>
                <a:ea typeface="Helvetica Neue" pitchFamily="34" charset="-122"/>
                <a:cs typeface="Helvetica Neue" pitchFamily="34" charset="-120"/>
              </a:rPr>
              <a:t>After: </a:t>
            </a:r>
            <a:pPr indent="0" marL="0">
              <a:buNone/>
            </a:pPr>
            <a:r>
              <a:rPr lang="en-US" sz="900" dirty="0">
                <a:solidFill>
                  <a:srgbClr val="15AD70"/>
                </a:solidFill>
                <a:latin typeface="Helvetica Neue" pitchFamily="34" charset="0"/>
                <a:ea typeface="Helvetica Neue" pitchFamily="34" charset="-122"/>
                <a:cs typeface="Helvetica Neue" pitchFamily="34" charset="-120"/>
              </a:rPr>
              <a:t>Self-reporting</a:t>
            </a:r>
            <a:endParaRPr lang="en-US" sz="900" dirty="0"/>
          </a:p>
        </p:txBody>
      </p:sp>
      <p:sp>
        <p:nvSpPr>
          <p:cNvPr id="27" name="Text 25"/>
          <p:cNvSpPr/>
          <p:nvPr/>
        </p:nvSpPr>
        <p:spPr>
          <a:xfrm>
            <a:off x="960120" y="5623560"/>
            <a:ext cx="4663440" cy="27432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Structured onboarding with health scores</a:t>
            </a:r>
            <a:endParaRPr lang="en-US" sz="1050" dirty="0"/>
          </a:p>
        </p:txBody>
      </p:sp>
      <p:sp>
        <p:nvSpPr>
          <p:cNvPr id="28" name="Text 26"/>
          <p:cNvSpPr/>
          <p:nvPr/>
        </p:nvSpPr>
        <p:spPr>
          <a:xfrm>
            <a:off x="960120" y="5852160"/>
            <a:ext cx="4663440" cy="228600"/>
          </a:xfrm>
          <a:prstGeom prst="rect">
            <a:avLst/>
          </a:prstGeom>
          <a:noFill/>
          <a:ln/>
        </p:spPr>
        <p:txBody>
          <a:bodyPr wrap="square" lIns="0" tIns="0" rIns="0" bIns="0" rtlCol="0" anchor="ctr"/>
          <a:lstStyle/>
          <a:p>
            <a:pPr indent="0" marL="0">
              <a:buNone/>
            </a:pPr>
            <a:r>
              <a:rPr lang="en-US" sz="900" dirty="0">
                <a:solidFill>
                  <a:srgbClr val="15AD70"/>
                </a:solidFill>
                <a:latin typeface="Helvetica Neue" pitchFamily="34" charset="0"/>
                <a:ea typeface="Helvetica Neue" pitchFamily="34" charset="-122"/>
                <a:cs typeface="Helvetica Neue" pitchFamily="34" charset="-120"/>
              </a:rPr>
              <a:t>60% less friction · 0 status meetings</a:t>
            </a:r>
            <a:endParaRPr lang="en-US" sz="900" dirty="0"/>
          </a:p>
        </p:txBody>
      </p:sp>
      <p:sp>
        <p:nvSpPr>
          <p:cNvPr id="29" name="Shape 27"/>
          <p:cNvSpPr/>
          <p:nvPr/>
        </p:nvSpPr>
        <p:spPr>
          <a:xfrm>
            <a:off x="6217920" y="4389120"/>
            <a:ext cx="5303520" cy="1874520"/>
          </a:xfrm>
          <a:prstGeom prst="roundRect">
            <a:avLst>
              <a:gd name="adj" fmla="val 3902"/>
            </a:avLst>
          </a:prstGeom>
          <a:solidFill>
            <a:srgbClr val="101018"/>
          </a:solidFill>
          <a:ln w="9525">
            <a:solidFill>
              <a:srgbClr val="1F1F2A"/>
            </a:solidFill>
            <a:prstDash val="solid"/>
          </a:ln>
        </p:spPr>
      </p:sp>
      <p:sp>
        <p:nvSpPr>
          <p:cNvPr id="30" name="Shape 28"/>
          <p:cNvSpPr/>
          <p:nvPr/>
        </p:nvSpPr>
        <p:spPr>
          <a:xfrm>
            <a:off x="6227064" y="4398264"/>
            <a:ext cx="5285232" cy="36576"/>
          </a:xfrm>
          <a:prstGeom prst="rect">
            <a:avLst/>
          </a:prstGeom>
          <a:solidFill>
            <a:srgbClr val="F7C700"/>
          </a:solidFill>
          <a:ln w="12700">
            <a:solidFill>
              <a:srgbClr val="F7C700"/>
            </a:solidFill>
            <a:prstDash val="solid"/>
          </a:ln>
        </p:spPr>
      </p:sp>
      <p:sp>
        <p:nvSpPr>
          <p:cNvPr id="31" name="Text 29"/>
          <p:cNvSpPr/>
          <p:nvPr/>
        </p:nvSpPr>
        <p:spPr>
          <a:xfrm>
            <a:off x="6537960" y="4572000"/>
            <a:ext cx="2743200" cy="228600"/>
          </a:xfrm>
          <a:prstGeom prst="rect">
            <a:avLst/>
          </a:prstGeom>
          <a:noFill/>
          <a:ln/>
        </p:spPr>
        <p:txBody>
          <a:bodyPr wrap="square" lIns="0" tIns="0" rIns="0" bIns="0" rtlCol="0" anchor="ctr"/>
          <a:lstStyle/>
          <a:p>
            <a:pPr indent="0" marL="0">
              <a:buNone/>
            </a:pPr>
            <a:r>
              <a:rPr lang="en-US" sz="800" spc="300" kern="0" dirty="0">
                <a:solidFill>
                  <a:srgbClr val="F7C700"/>
                </a:solidFill>
                <a:latin typeface="Helvetica Neue" pitchFamily="34" charset="0"/>
                <a:ea typeface="Helvetica Neue" pitchFamily="34" charset="-122"/>
                <a:cs typeface="Helvetica Neue" pitchFamily="34" charset="-120"/>
              </a:rPr>
              <a:t>REVENUE</a:t>
            </a:r>
            <a:endParaRPr lang="en-US" sz="800" dirty="0"/>
          </a:p>
        </p:txBody>
      </p:sp>
      <p:sp>
        <p:nvSpPr>
          <p:cNvPr id="32" name="Text 30"/>
          <p:cNvSpPr/>
          <p:nvPr/>
        </p:nvSpPr>
        <p:spPr>
          <a:xfrm>
            <a:off x="6537960" y="4800600"/>
            <a:ext cx="4663440" cy="3200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Business Intelligence</a:t>
            </a:r>
            <a:endParaRPr lang="en-US" sz="1600" dirty="0"/>
          </a:p>
        </p:txBody>
      </p:sp>
      <p:sp>
        <p:nvSpPr>
          <p:cNvPr id="33" name="Shape 31"/>
          <p:cNvSpPr/>
          <p:nvPr/>
        </p:nvSpPr>
        <p:spPr>
          <a:xfrm>
            <a:off x="6537960" y="5212080"/>
            <a:ext cx="4663440" cy="320040"/>
          </a:xfrm>
          <a:prstGeom prst="roundRect">
            <a:avLst>
              <a:gd name="adj" fmla="val 11429"/>
            </a:avLst>
          </a:prstGeom>
          <a:solidFill>
            <a:srgbClr val="15151F"/>
          </a:solidFill>
          <a:ln w="6350">
            <a:solidFill>
              <a:srgbClr val="1F1F2A"/>
            </a:solidFill>
            <a:prstDash val="solid"/>
          </a:ln>
        </p:spPr>
      </p:sp>
      <p:sp>
        <p:nvSpPr>
          <p:cNvPr id="34" name="Text 32"/>
          <p:cNvSpPr/>
          <p:nvPr/>
        </p:nvSpPr>
        <p:spPr>
          <a:xfrm>
            <a:off x="6629400" y="5212080"/>
            <a:ext cx="4480560" cy="32004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Before: </a:t>
            </a:r>
            <a:pPr indent="0" marL="0">
              <a:buNone/>
            </a:pPr>
            <a:r>
              <a:rPr lang="en-US" sz="900" dirty="0">
                <a:solidFill>
                  <a:srgbClr val="FF6B6B"/>
                </a:solidFill>
                <a:latin typeface="Helvetica Neue" pitchFamily="34" charset="0"/>
                <a:ea typeface="Helvetica Neue" pitchFamily="34" charset="-122"/>
                <a:cs typeface="Helvetica Neue" pitchFamily="34" charset="-120"/>
              </a:rPr>
              <a:t>$6K / mo</a:t>
            </a:r>
            <a:pPr indent="0" marL="0">
              <a:buNone/>
            </a:pPr>
            <a:r>
              <a:rPr lang="en-US" sz="900" dirty="0">
                <a:solidFill>
                  <a:srgbClr val="40404A"/>
                </a:solidFill>
                <a:latin typeface="Helvetica Neue" pitchFamily="34" charset="0"/>
                <a:ea typeface="Helvetica Neue" pitchFamily="34" charset="-122"/>
                <a:cs typeface="Helvetica Neue" pitchFamily="34" charset="-120"/>
              </a:rPr>
              <a:t>   →   </a:t>
            </a:r>
            <a:pPr indent="0" marL="0">
              <a:buNone/>
            </a:pPr>
            <a:r>
              <a:rPr lang="en-US" sz="900" dirty="0">
                <a:solidFill>
                  <a:srgbClr val="60606A"/>
                </a:solidFill>
                <a:latin typeface="Helvetica Neue" pitchFamily="34" charset="0"/>
                <a:ea typeface="Helvetica Neue" pitchFamily="34" charset="-122"/>
                <a:cs typeface="Helvetica Neue" pitchFamily="34" charset="-120"/>
              </a:rPr>
              <a:t>After: </a:t>
            </a:r>
            <a:pPr indent="0" marL="0">
              <a:buNone/>
            </a:pPr>
            <a:r>
              <a:rPr lang="en-US" sz="900" dirty="0">
                <a:solidFill>
                  <a:srgbClr val="15AD70"/>
                </a:solidFill>
                <a:latin typeface="Helvetica Neue" pitchFamily="34" charset="0"/>
                <a:ea typeface="Helvetica Neue" pitchFamily="34" charset="-122"/>
                <a:cs typeface="Helvetica Neue" pitchFamily="34" charset="-120"/>
              </a:rPr>
              <a:t>$8.2K / mo</a:t>
            </a:r>
            <a:endParaRPr lang="en-US" sz="900" dirty="0"/>
          </a:p>
        </p:txBody>
      </p:sp>
      <p:sp>
        <p:nvSpPr>
          <p:cNvPr id="35" name="Text 33"/>
          <p:cNvSpPr/>
          <p:nvPr/>
        </p:nvSpPr>
        <p:spPr>
          <a:xfrm>
            <a:off x="6537960" y="5623560"/>
            <a:ext cx="4663440" cy="27432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Revenue impact in first 30 days</a:t>
            </a:r>
            <a:endParaRPr lang="en-US" sz="1050" dirty="0"/>
          </a:p>
        </p:txBody>
      </p:sp>
      <p:sp>
        <p:nvSpPr>
          <p:cNvPr id="36" name="Text 34"/>
          <p:cNvSpPr/>
          <p:nvPr/>
        </p:nvSpPr>
        <p:spPr>
          <a:xfrm>
            <a:off x="6537960" y="5852160"/>
            <a:ext cx="4663440" cy="228600"/>
          </a:xfrm>
          <a:prstGeom prst="rect">
            <a:avLst/>
          </a:prstGeom>
          <a:noFill/>
          <a:ln/>
        </p:spPr>
        <p:txBody>
          <a:bodyPr wrap="square" lIns="0" tIns="0" rIns="0" bIns="0" rtlCol="0" anchor="ctr"/>
          <a:lstStyle/>
          <a:p>
            <a:pPr indent="0" marL="0">
              <a:buNone/>
            </a:pPr>
            <a:r>
              <a:rPr lang="en-US" sz="900" dirty="0">
                <a:solidFill>
                  <a:srgbClr val="F7C700"/>
                </a:solidFill>
                <a:latin typeface="Helvetica Neue" pitchFamily="34" charset="0"/>
                <a:ea typeface="Helvetica Neue" pitchFamily="34" charset="-122"/>
                <a:cs typeface="Helvetica Neue" pitchFamily="34" charset="-120"/>
              </a:rPr>
              <a:t>Admin: 15h/wk → 6h/wk (-60%)</a:t>
            </a:r>
            <a:endParaRPr lang="en-US" sz="900" dirty="0"/>
          </a:p>
        </p:txBody>
      </p:sp>
      <p:sp>
        <p:nvSpPr>
          <p:cNvPr id="37" name="Shape 35"/>
          <p:cNvSpPr/>
          <p:nvPr/>
        </p:nvSpPr>
        <p:spPr>
          <a:xfrm>
            <a:off x="640080" y="6419088"/>
            <a:ext cx="10881360" cy="0"/>
          </a:xfrm>
          <a:prstGeom prst="line">
            <a:avLst/>
          </a:prstGeom>
          <a:noFill/>
          <a:ln w="6350">
            <a:solidFill>
              <a:srgbClr val="181822"/>
            </a:solidFill>
            <a:prstDash val="solid"/>
          </a:ln>
        </p:spPr>
      </p:sp>
      <p:sp>
        <p:nvSpPr>
          <p:cNvPr id="38" name="Text 36"/>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39" name="Text 37"/>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7 / 15</a:t>
            </a:r>
            <a:endParaRPr lang="en-US" sz="800" dirty="0"/>
          </a:p>
        </p:txBody>
      </p:sp>
      <p:sp>
        <p:nvSpPr>
          <p:cNvPr id="40" name="Text 38"/>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THE BIG PICTURE  ·  WHITE-LABEL OPPORTUNITY</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2600" dirty="0">
                <a:solidFill>
                  <a:srgbClr val="FFFFFF"/>
                </a:solidFill>
                <a:latin typeface="Helvetica Neue" pitchFamily="34" charset="0"/>
                <a:ea typeface="Helvetica Neue" pitchFamily="34" charset="-122"/>
                <a:cs typeface="Helvetica Neue" pitchFamily="34" charset="-120"/>
              </a:rPr>
              <a:t>A business OS anyone can use. A platform anyone can resell.</a:t>
            </a:r>
            <a:endParaRPr lang="en-US" sz="2600" dirty="0"/>
          </a:p>
        </p:txBody>
      </p:sp>
      <p:sp>
        <p:nvSpPr>
          <p:cNvPr id="4" name="Shape 2"/>
          <p:cNvSpPr/>
          <p:nvPr/>
        </p:nvSpPr>
        <p:spPr>
          <a:xfrm>
            <a:off x="640080" y="1828800"/>
            <a:ext cx="6217920" cy="1828800"/>
          </a:xfrm>
          <a:prstGeom prst="roundRect">
            <a:avLst>
              <a:gd name="adj" fmla="val 5000"/>
            </a:avLst>
          </a:prstGeom>
          <a:solidFill>
            <a:srgbClr val="0B0B12"/>
          </a:solidFill>
          <a:ln w="9525">
            <a:solidFill>
              <a:srgbClr val="1A1A24"/>
            </a:solidFill>
            <a:prstDash val="solid"/>
          </a:ln>
        </p:spPr>
      </p:sp>
      <p:sp>
        <p:nvSpPr>
          <p:cNvPr id="5" name="Shape 3"/>
          <p:cNvSpPr/>
          <p:nvPr/>
        </p:nvSpPr>
        <p:spPr>
          <a:xfrm>
            <a:off x="777240" y="1938528"/>
            <a:ext cx="91440" cy="91440"/>
          </a:xfrm>
          <a:prstGeom prst="ellipse">
            <a:avLst/>
          </a:prstGeom>
          <a:solidFill>
            <a:srgbClr val="FF6B6B">
              <a:alpha val="55000"/>
            </a:srgbClr>
          </a:solidFill>
          <a:ln w="12700">
            <a:solidFill>
              <a:srgbClr val="FF6B6B"/>
            </a:solidFill>
            <a:prstDash val="solid"/>
          </a:ln>
        </p:spPr>
      </p:sp>
      <p:sp>
        <p:nvSpPr>
          <p:cNvPr id="6" name="Shape 4"/>
          <p:cNvSpPr/>
          <p:nvPr/>
        </p:nvSpPr>
        <p:spPr>
          <a:xfrm>
            <a:off x="914400" y="1938528"/>
            <a:ext cx="91440" cy="91440"/>
          </a:xfrm>
          <a:prstGeom prst="ellipse">
            <a:avLst/>
          </a:prstGeom>
          <a:solidFill>
            <a:srgbClr val="F7C700">
              <a:alpha val="55000"/>
            </a:srgbClr>
          </a:solidFill>
          <a:ln w="12700">
            <a:solidFill>
              <a:srgbClr val="F7C700"/>
            </a:solidFill>
            <a:prstDash val="solid"/>
          </a:ln>
        </p:spPr>
      </p:sp>
      <p:sp>
        <p:nvSpPr>
          <p:cNvPr id="7" name="Shape 5"/>
          <p:cNvSpPr/>
          <p:nvPr/>
        </p:nvSpPr>
        <p:spPr>
          <a:xfrm>
            <a:off x="1051560" y="1938528"/>
            <a:ext cx="91440" cy="91440"/>
          </a:xfrm>
          <a:prstGeom prst="ellipse">
            <a:avLst/>
          </a:prstGeom>
          <a:solidFill>
            <a:srgbClr val="15AD70">
              <a:alpha val="55000"/>
            </a:srgbClr>
          </a:solidFill>
          <a:ln w="12700">
            <a:solidFill>
              <a:srgbClr val="15AD70"/>
            </a:solidFill>
            <a:prstDash val="solid"/>
          </a:ln>
        </p:spPr>
      </p:sp>
      <p:sp>
        <p:nvSpPr>
          <p:cNvPr id="8" name="Text 6"/>
          <p:cNvSpPr/>
          <p:nvPr/>
        </p:nvSpPr>
        <p:spPr>
          <a:xfrm>
            <a:off x="1280160" y="1892808"/>
            <a:ext cx="365760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grid.work  ·  Dashboard  ·  A founder's morning view</a:t>
            </a:r>
            <a:endParaRPr lang="en-US" sz="800" dirty="0"/>
          </a:p>
        </p:txBody>
      </p:sp>
      <p:sp>
        <p:nvSpPr>
          <p:cNvPr id="9" name="Text 7"/>
          <p:cNvSpPr/>
          <p:nvPr/>
        </p:nvSpPr>
        <p:spPr>
          <a:xfrm>
            <a:off x="1005840" y="2286000"/>
            <a:ext cx="5486400" cy="1097280"/>
          </a:xfrm>
          <a:prstGeom prst="rect">
            <a:avLst/>
          </a:prstGeom>
          <a:noFill/>
          <a:ln/>
        </p:spPr>
        <p:txBody>
          <a:bodyPr wrap="square" lIns="0" tIns="0" rIns="0" bIns="0" rtlCol="0" anchor="ctr"/>
          <a:lstStyle/>
          <a:p>
            <a:pPr indent="0" marL="0">
              <a:buNone/>
            </a:pPr>
            <a:r>
              <a:rPr lang="en-US" sz="950" dirty="0">
                <a:solidFill>
                  <a:srgbClr val="40404A"/>
                </a:solidFill>
                <a:latin typeface="Menlo" pitchFamily="34" charset="0"/>
                <a:ea typeface="Menlo" pitchFamily="34" charset="-122"/>
                <a:cs typeface="Menlo" pitchFamily="34" charset="-120"/>
              </a:rPr>
              <a:t>[ Screenshot: Health scores across Marketing (92%),</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Operations (78%), Content (85%). Attention widget</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showing "3 things to focus on today." Familiar layout —</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like Notion meets a business dashboard. ]</a:t>
            </a:r>
            <a:endParaRPr lang="en-US" sz="950" dirty="0"/>
          </a:p>
        </p:txBody>
      </p:sp>
      <p:sp>
        <p:nvSpPr>
          <p:cNvPr id="10" name="Shape 8"/>
          <p:cNvSpPr/>
          <p:nvPr/>
        </p:nvSpPr>
        <p:spPr>
          <a:xfrm>
            <a:off x="640080" y="3840480"/>
            <a:ext cx="6217920" cy="1828800"/>
          </a:xfrm>
          <a:prstGeom prst="roundRect">
            <a:avLst>
              <a:gd name="adj" fmla="val 5000"/>
            </a:avLst>
          </a:prstGeom>
          <a:solidFill>
            <a:srgbClr val="0B0B12"/>
          </a:solidFill>
          <a:ln w="9525">
            <a:solidFill>
              <a:srgbClr val="1A1A24"/>
            </a:solidFill>
            <a:prstDash val="solid"/>
          </a:ln>
        </p:spPr>
      </p:sp>
      <p:sp>
        <p:nvSpPr>
          <p:cNvPr id="11" name="Shape 9"/>
          <p:cNvSpPr/>
          <p:nvPr/>
        </p:nvSpPr>
        <p:spPr>
          <a:xfrm>
            <a:off x="777240" y="3950208"/>
            <a:ext cx="91440" cy="91440"/>
          </a:xfrm>
          <a:prstGeom prst="ellipse">
            <a:avLst/>
          </a:prstGeom>
          <a:solidFill>
            <a:srgbClr val="FF6B6B">
              <a:alpha val="55000"/>
            </a:srgbClr>
          </a:solidFill>
          <a:ln w="12700">
            <a:solidFill>
              <a:srgbClr val="FF6B6B"/>
            </a:solidFill>
            <a:prstDash val="solid"/>
          </a:ln>
        </p:spPr>
      </p:sp>
      <p:sp>
        <p:nvSpPr>
          <p:cNvPr id="12" name="Shape 10"/>
          <p:cNvSpPr/>
          <p:nvPr/>
        </p:nvSpPr>
        <p:spPr>
          <a:xfrm>
            <a:off x="914400" y="3950208"/>
            <a:ext cx="91440" cy="91440"/>
          </a:xfrm>
          <a:prstGeom prst="ellipse">
            <a:avLst/>
          </a:prstGeom>
          <a:solidFill>
            <a:srgbClr val="F7C700">
              <a:alpha val="55000"/>
            </a:srgbClr>
          </a:solidFill>
          <a:ln w="12700">
            <a:solidFill>
              <a:srgbClr val="F7C700"/>
            </a:solidFill>
            <a:prstDash val="solid"/>
          </a:ln>
        </p:spPr>
      </p:sp>
      <p:sp>
        <p:nvSpPr>
          <p:cNvPr id="13" name="Shape 11"/>
          <p:cNvSpPr/>
          <p:nvPr/>
        </p:nvSpPr>
        <p:spPr>
          <a:xfrm>
            <a:off x="1051560" y="3950208"/>
            <a:ext cx="91440" cy="91440"/>
          </a:xfrm>
          <a:prstGeom prst="ellipse">
            <a:avLst/>
          </a:prstGeom>
          <a:solidFill>
            <a:srgbClr val="15AD70">
              <a:alpha val="55000"/>
            </a:srgbClr>
          </a:solidFill>
          <a:ln w="12700">
            <a:solidFill>
              <a:srgbClr val="15AD70"/>
            </a:solidFill>
            <a:prstDash val="solid"/>
          </a:ln>
        </p:spPr>
      </p:sp>
      <p:sp>
        <p:nvSpPr>
          <p:cNvPr id="14" name="Text 12"/>
          <p:cNvSpPr/>
          <p:nvPr/>
        </p:nvSpPr>
        <p:spPr>
          <a:xfrm>
            <a:off x="1280160" y="3904488"/>
            <a:ext cx="365760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grid.work  ·  White-Label  ·  Agency client view</a:t>
            </a:r>
            <a:endParaRPr lang="en-US" sz="800" dirty="0"/>
          </a:p>
        </p:txBody>
      </p:sp>
      <p:sp>
        <p:nvSpPr>
          <p:cNvPr id="15" name="Text 13"/>
          <p:cNvSpPr/>
          <p:nvPr/>
        </p:nvSpPr>
        <p:spPr>
          <a:xfrm>
            <a:off x="1005840" y="4297680"/>
            <a:ext cx="5486400" cy="1097280"/>
          </a:xfrm>
          <a:prstGeom prst="rect">
            <a:avLst/>
          </a:prstGeom>
          <a:noFill/>
          <a:ln/>
        </p:spPr>
        <p:txBody>
          <a:bodyPr wrap="square" lIns="0" tIns="0" rIns="0" bIns="0" rtlCol="0" anchor="ctr"/>
          <a:lstStyle/>
          <a:p>
            <a:pPr indent="0" marL="0">
              <a:buNone/>
            </a:pPr>
            <a:r>
              <a:rPr lang="en-US" sz="950" dirty="0">
                <a:solidFill>
                  <a:srgbClr val="40404A"/>
                </a:solidFill>
                <a:latin typeface="Menlo" pitchFamily="34" charset="0"/>
                <a:ea typeface="Menlo" pitchFamily="34" charset="-122"/>
                <a:cs typeface="Menlo" pitchFamily="34" charset="-120"/>
              </a:rPr>
              <a:t>[ Screenshot: Same interface, client's brand colors</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and logo. Custom environment: "Acme Co Operations."</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The agency manages 12 clients — each sees their own</a:t>
            </a:r>
            <a:endParaRPr lang="en-US" sz="950" dirty="0"/>
          </a:p>
          <a:p>
            <a:pPr indent="0" marL="0">
              <a:buNone/>
            </a:pPr>
            <a:r>
              <a:rPr lang="en-US" sz="950" dirty="0">
                <a:solidFill>
                  <a:srgbClr val="40404A"/>
                </a:solidFill>
                <a:latin typeface="Menlo" pitchFamily="34" charset="0"/>
                <a:ea typeface="Menlo" pitchFamily="34" charset="-122"/>
                <a:cs typeface="Menlo" pitchFamily="34" charset="-120"/>
              </a:rPr>
              <a:t>  branded workspace. No code. One click to set up. ]</a:t>
            </a:r>
            <a:endParaRPr lang="en-US" sz="950" dirty="0"/>
          </a:p>
        </p:txBody>
      </p:sp>
      <p:sp>
        <p:nvSpPr>
          <p:cNvPr id="16" name="Shape 14"/>
          <p:cNvSpPr/>
          <p:nvPr/>
        </p:nvSpPr>
        <p:spPr>
          <a:xfrm>
            <a:off x="7086600" y="1828800"/>
            <a:ext cx="4434840" cy="1920240"/>
          </a:xfrm>
          <a:prstGeom prst="roundRect">
            <a:avLst>
              <a:gd name="adj" fmla="val 3810"/>
            </a:avLst>
          </a:prstGeom>
          <a:solidFill>
            <a:srgbClr val="101018"/>
          </a:solidFill>
          <a:ln w="9525">
            <a:solidFill>
              <a:srgbClr val="1F1F2A"/>
            </a:solidFill>
            <a:prstDash val="solid"/>
          </a:ln>
        </p:spPr>
      </p:sp>
      <p:sp>
        <p:nvSpPr>
          <p:cNvPr id="17" name="Text 15"/>
          <p:cNvSpPr/>
          <p:nvPr/>
        </p:nvSpPr>
        <p:spPr>
          <a:xfrm>
            <a:off x="7360920" y="2011680"/>
            <a:ext cx="3657600" cy="228600"/>
          </a:xfrm>
          <a:prstGeom prst="rect">
            <a:avLst/>
          </a:prstGeom>
          <a:noFill/>
          <a:ln/>
        </p:spPr>
        <p:txBody>
          <a:bodyPr wrap="square" lIns="0" tIns="0" rIns="0" bIns="0" rtlCol="0" anchor="ctr"/>
          <a:lstStyle/>
          <a:p>
            <a:pPr indent="0" marL="0">
              <a:buNone/>
            </a:pPr>
            <a:r>
              <a:rPr lang="en-US" sz="800" spc="300" kern="0" dirty="0">
                <a:solidFill>
                  <a:srgbClr val="15AD70"/>
                </a:solidFill>
                <a:latin typeface="Helvetica Neue" pitchFamily="34" charset="0"/>
                <a:ea typeface="Helvetica Neue" pitchFamily="34" charset="-122"/>
                <a:cs typeface="Helvetica Neue" pitchFamily="34" charset="-120"/>
              </a:rPr>
              <a:t>THE WHITE-LABEL PLAY</a:t>
            </a:r>
            <a:endParaRPr lang="en-US" sz="800" dirty="0"/>
          </a:p>
        </p:txBody>
      </p:sp>
      <p:sp>
        <p:nvSpPr>
          <p:cNvPr id="18" name="Text 16"/>
          <p:cNvSpPr/>
          <p:nvPr/>
        </p:nvSpPr>
        <p:spPr>
          <a:xfrm>
            <a:off x="7360920" y="2286000"/>
            <a:ext cx="3886200" cy="1280160"/>
          </a:xfrm>
          <a:prstGeom prst="rect">
            <a:avLst/>
          </a:prstGeom>
          <a:noFill/>
          <a:ln/>
        </p:spPr>
        <p:txBody>
          <a:bodyPr wrap="square" lIns="0" tIns="0" rIns="0" bIns="0" rtlCol="0" anchor="ctr"/>
          <a:lstStyle/>
          <a:p>
            <a:pPr indent="0" marL="0">
              <a:buNone/>
            </a:pPr>
            <a:r>
              <a:rPr lang="en-US" sz="1050" dirty="0">
                <a:solidFill>
                  <a:srgbClr val="A0A0B0"/>
                </a:solidFill>
                <a:latin typeface="Helvetica Neue" pitchFamily="34" charset="0"/>
                <a:ea typeface="Helvetica Neue" pitchFamily="34" charset="-122"/>
                <a:cs typeface="Helvetica Neue" pitchFamily="34" charset="-120"/>
              </a:rPr>
              <a:t>GRID isn't just for operators — it's a platform agencies and consultants can resell under their own brand.</a:t>
            </a:r>
            <a:endParaRPr lang="en-US" sz="1050" dirty="0"/>
          </a:p>
          <a:p>
            <a:pPr indent="0" marL="0">
              <a:buNone/>
            </a:pPr>
            <a:endParaRPr lang="en-US" sz="1050" dirty="0"/>
          </a:p>
          <a:p>
            <a:pPr indent="0" marL="0">
              <a:buNone/>
            </a:pPr>
            <a:r>
              <a:rPr lang="en-US" sz="1050" dirty="0">
                <a:solidFill>
                  <a:srgbClr val="A0A0B0"/>
                </a:solidFill>
                <a:latin typeface="Helvetica Neue" pitchFamily="34" charset="0"/>
                <a:ea typeface="Helvetica Neue" pitchFamily="34" charset="-122"/>
                <a:cs typeface="Helvetica Neue" pitchFamily="34" charset="-120"/>
              </a:rPr>
              <a:t>Custom logo, colors, and domain per client. Each environment is a white-labeled workspace. $299/env/mo adds $43K/yr margin per 12 clients. Every agency becomes a distribution channel.</a:t>
            </a:r>
            <a:endParaRPr lang="en-US" sz="1050" dirty="0"/>
          </a:p>
        </p:txBody>
      </p:sp>
      <p:sp>
        <p:nvSpPr>
          <p:cNvPr id="19" name="Shape 17"/>
          <p:cNvSpPr/>
          <p:nvPr/>
        </p:nvSpPr>
        <p:spPr>
          <a:xfrm>
            <a:off x="7086600" y="3931920"/>
            <a:ext cx="4434840" cy="1737360"/>
          </a:xfrm>
          <a:prstGeom prst="roundRect">
            <a:avLst>
              <a:gd name="adj" fmla="val 4211"/>
            </a:avLst>
          </a:prstGeom>
          <a:solidFill>
            <a:srgbClr val="14141E"/>
          </a:solidFill>
          <a:ln w="9525">
            <a:solidFill>
              <a:srgbClr val="1F1F2A"/>
            </a:solidFill>
            <a:prstDash val="solid"/>
          </a:ln>
        </p:spPr>
      </p:sp>
      <p:sp>
        <p:nvSpPr>
          <p:cNvPr id="20" name="Text 18"/>
          <p:cNvSpPr/>
          <p:nvPr/>
        </p:nvSpPr>
        <p:spPr>
          <a:xfrm>
            <a:off x="7360920" y="4069080"/>
            <a:ext cx="365760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COMPARABLE THESIS</a:t>
            </a:r>
            <a:endParaRPr lang="en-US" sz="800" dirty="0"/>
          </a:p>
        </p:txBody>
      </p:sp>
      <p:sp>
        <p:nvSpPr>
          <p:cNvPr id="21" name="Shape 19"/>
          <p:cNvSpPr/>
          <p:nvPr/>
        </p:nvSpPr>
        <p:spPr>
          <a:xfrm>
            <a:off x="7360920" y="4453128"/>
            <a:ext cx="73152" cy="73152"/>
          </a:xfrm>
          <a:prstGeom prst="ellipse">
            <a:avLst/>
          </a:prstGeom>
          <a:solidFill>
            <a:srgbClr val="15AD70"/>
          </a:solidFill>
          <a:ln w="12700">
            <a:solidFill>
              <a:srgbClr val="15AD70"/>
            </a:solidFill>
            <a:prstDash val="solid"/>
          </a:ln>
        </p:spPr>
      </p:sp>
      <p:sp>
        <p:nvSpPr>
          <p:cNvPr id="22" name="Text 20"/>
          <p:cNvSpPr/>
          <p:nvPr/>
        </p:nvSpPr>
        <p:spPr>
          <a:xfrm>
            <a:off x="7525512" y="4370832"/>
            <a:ext cx="3703320" cy="201168"/>
          </a:xfrm>
          <a:prstGeom prst="rect">
            <a:avLst/>
          </a:prstGeom>
          <a:noFill/>
          <a:ln/>
        </p:spPr>
        <p:txBody>
          <a:bodyPr wrap="square" lIns="0" tIns="0" rIns="0" bIns="0" rtlCol="0" anchor="ctr"/>
          <a:lstStyle/>
          <a:p>
            <a:pPr indent="0" marL="0">
              <a:buNone/>
            </a:pPr>
            <a:r>
              <a:rPr lang="en-US" sz="1100" dirty="0">
                <a:solidFill>
                  <a:srgbClr val="FFFFFF"/>
                </a:solidFill>
                <a:latin typeface="Helvetica Neue" pitchFamily="34" charset="0"/>
                <a:ea typeface="Helvetica Neue" pitchFamily="34" charset="-122"/>
                <a:cs typeface="Helvetica Neue" pitchFamily="34" charset="-120"/>
              </a:rPr>
              <a:t>Stripe</a:t>
            </a:r>
            <a:pPr indent="0" marL="0">
              <a:buNone/>
            </a:pPr>
            <a:r>
              <a:rPr lang="en-US" sz="900" dirty="0">
                <a:solidFill>
                  <a:srgbClr val="15AD70"/>
                </a:solidFill>
                <a:latin typeface="Helvetica Neue" pitchFamily="34" charset="0"/>
                <a:ea typeface="Helvetica Neue" pitchFamily="34" charset="-122"/>
                <a:cs typeface="Helvetica Neue" pitchFamily="34" charset="-120"/>
              </a:rPr>
              <a:t>  $95B</a:t>
            </a:r>
            <a:endParaRPr lang="en-US" sz="1100" dirty="0"/>
          </a:p>
        </p:txBody>
      </p:sp>
      <p:sp>
        <p:nvSpPr>
          <p:cNvPr id="23" name="Text 21"/>
          <p:cNvSpPr/>
          <p:nvPr/>
        </p:nvSpPr>
        <p:spPr>
          <a:xfrm>
            <a:off x="7525512" y="4553712"/>
            <a:ext cx="3703320" cy="18288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Built structure for payments</a:t>
            </a:r>
            <a:endParaRPr lang="en-US" sz="850" dirty="0"/>
          </a:p>
        </p:txBody>
      </p:sp>
      <p:sp>
        <p:nvSpPr>
          <p:cNvPr id="24" name="Shape 22"/>
          <p:cNvSpPr/>
          <p:nvPr/>
        </p:nvSpPr>
        <p:spPr>
          <a:xfrm>
            <a:off x="7360920" y="4837176"/>
            <a:ext cx="73152" cy="73152"/>
          </a:xfrm>
          <a:prstGeom prst="ellipse">
            <a:avLst/>
          </a:prstGeom>
          <a:solidFill>
            <a:srgbClr val="7193ED"/>
          </a:solidFill>
          <a:ln w="12700">
            <a:solidFill>
              <a:srgbClr val="7193ED"/>
            </a:solidFill>
            <a:prstDash val="solid"/>
          </a:ln>
        </p:spPr>
      </p:sp>
      <p:sp>
        <p:nvSpPr>
          <p:cNvPr id="25" name="Text 23"/>
          <p:cNvSpPr/>
          <p:nvPr/>
        </p:nvSpPr>
        <p:spPr>
          <a:xfrm>
            <a:off x="7525512" y="4754880"/>
            <a:ext cx="3703320" cy="201168"/>
          </a:xfrm>
          <a:prstGeom prst="rect">
            <a:avLst/>
          </a:prstGeom>
          <a:noFill/>
          <a:ln/>
        </p:spPr>
        <p:txBody>
          <a:bodyPr wrap="square" lIns="0" tIns="0" rIns="0" bIns="0" rtlCol="0" anchor="ctr"/>
          <a:lstStyle/>
          <a:p>
            <a:pPr indent="0" marL="0">
              <a:buNone/>
            </a:pPr>
            <a:r>
              <a:rPr lang="en-US" sz="1100" dirty="0">
                <a:solidFill>
                  <a:srgbClr val="FFFFFF"/>
                </a:solidFill>
                <a:latin typeface="Helvetica Neue" pitchFamily="34" charset="0"/>
                <a:ea typeface="Helvetica Neue" pitchFamily="34" charset="-122"/>
                <a:cs typeface="Helvetica Neue" pitchFamily="34" charset="-120"/>
              </a:rPr>
              <a:t>Figma</a:t>
            </a:r>
            <a:pPr indent="0" marL="0">
              <a:buNone/>
            </a:pPr>
            <a:r>
              <a:rPr lang="en-US" sz="900" dirty="0">
                <a:solidFill>
                  <a:srgbClr val="7193ED"/>
                </a:solidFill>
                <a:latin typeface="Helvetica Neue" pitchFamily="34" charset="0"/>
                <a:ea typeface="Helvetica Neue" pitchFamily="34" charset="-122"/>
                <a:cs typeface="Helvetica Neue" pitchFamily="34" charset="-120"/>
              </a:rPr>
              <a:t>  $20B</a:t>
            </a:r>
            <a:endParaRPr lang="en-US" sz="1100" dirty="0"/>
          </a:p>
        </p:txBody>
      </p:sp>
      <p:sp>
        <p:nvSpPr>
          <p:cNvPr id="26" name="Text 24"/>
          <p:cNvSpPr/>
          <p:nvPr/>
        </p:nvSpPr>
        <p:spPr>
          <a:xfrm>
            <a:off x="7525512" y="4937760"/>
            <a:ext cx="3703320" cy="18288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Built structure for design</a:t>
            </a:r>
            <a:endParaRPr lang="en-US" sz="850" dirty="0"/>
          </a:p>
        </p:txBody>
      </p:sp>
      <p:sp>
        <p:nvSpPr>
          <p:cNvPr id="27" name="Shape 25"/>
          <p:cNvSpPr/>
          <p:nvPr/>
        </p:nvSpPr>
        <p:spPr>
          <a:xfrm>
            <a:off x="7360920" y="5221224"/>
            <a:ext cx="73152" cy="73152"/>
          </a:xfrm>
          <a:prstGeom prst="ellipse">
            <a:avLst/>
          </a:prstGeom>
          <a:solidFill>
            <a:srgbClr val="BF9FF1"/>
          </a:solidFill>
          <a:ln w="12700">
            <a:solidFill>
              <a:srgbClr val="BF9FF1"/>
            </a:solidFill>
            <a:prstDash val="solid"/>
          </a:ln>
        </p:spPr>
      </p:sp>
      <p:sp>
        <p:nvSpPr>
          <p:cNvPr id="28" name="Text 26"/>
          <p:cNvSpPr/>
          <p:nvPr/>
        </p:nvSpPr>
        <p:spPr>
          <a:xfrm>
            <a:off x="7525512" y="5138928"/>
            <a:ext cx="3703320" cy="201168"/>
          </a:xfrm>
          <a:prstGeom prst="rect">
            <a:avLst/>
          </a:prstGeom>
          <a:noFill/>
          <a:ln/>
        </p:spPr>
        <p:txBody>
          <a:bodyPr wrap="square" lIns="0" tIns="0" rIns="0" bIns="0" rtlCol="0" anchor="ctr"/>
          <a:lstStyle/>
          <a:p>
            <a:pPr indent="0" marL="0">
              <a:buNone/>
            </a:pPr>
            <a:r>
              <a:rPr lang="en-US" sz="1100" dirty="0">
                <a:solidFill>
                  <a:srgbClr val="FFFFFF"/>
                </a:solidFill>
                <a:latin typeface="Helvetica Neue" pitchFamily="34" charset="0"/>
                <a:ea typeface="Helvetica Neue" pitchFamily="34" charset="-122"/>
                <a:cs typeface="Helvetica Neue" pitchFamily="34" charset="-120"/>
              </a:rPr>
              <a:t>Linear</a:t>
            </a:r>
            <a:pPr indent="0" marL="0">
              <a:buNone/>
            </a:pPr>
            <a:r>
              <a:rPr lang="en-US" sz="900" dirty="0">
                <a:solidFill>
                  <a:srgbClr val="BF9FF1"/>
                </a:solidFill>
                <a:latin typeface="Helvetica Neue" pitchFamily="34" charset="0"/>
                <a:ea typeface="Helvetica Neue" pitchFamily="34" charset="-122"/>
                <a:cs typeface="Helvetica Neue" pitchFamily="34" charset="-120"/>
              </a:rPr>
              <a:t>  $400M+</a:t>
            </a:r>
            <a:endParaRPr lang="en-US" sz="1100" dirty="0"/>
          </a:p>
        </p:txBody>
      </p:sp>
      <p:sp>
        <p:nvSpPr>
          <p:cNvPr id="29" name="Text 27"/>
          <p:cNvSpPr/>
          <p:nvPr/>
        </p:nvSpPr>
        <p:spPr>
          <a:xfrm>
            <a:off x="7525512" y="5321808"/>
            <a:ext cx="3703320" cy="18288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Built structure for eng</a:t>
            </a:r>
            <a:endParaRPr lang="en-US" sz="850" dirty="0"/>
          </a:p>
        </p:txBody>
      </p:sp>
      <p:sp>
        <p:nvSpPr>
          <p:cNvPr id="30" name="Shape 28"/>
          <p:cNvSpPr/>
          <p:nvPr/>
        </p:nvSpPr>
        <p:spPr>
          <a:xfrm>
            <a:off x="7360920" y="5605272"/>
            <a:ext cx="73152" cy="73152"/>
          </a:xfrm>
          <a:prstGeom prst="ellipse">
            <a:avLst/>
          </a:prstGeom>
          <a:solidFill>
            <a:srgbClr val="F7C700"/>
          </a:solidFill>
          <a:ln w="12700">
            <a:solidFill>
              <a:srgbClr val="F7C700"/>
            </a:solidFill>
            <a:prstDash val="solid"/>
          </a:ln>
        </p:spPr>
      </p:sp>
      <p:sp>
        <p:nvSpPr>
          <p:cNvPr id="31" name="Text 29"/>
          <p:cNvSpPr/>
          <p:nvPr/>
        </p:nvSpPr>
        <p:spPr>
          <a:xfrm>
            <a:off x="7525512" y="5522976"/>
            <a:ext cx="3703320" cy="201168"/>
          </a:xfrm>
          <a:prstGeom prst="rect">
            <a:avLst/>
          </a:prstGeom>
          <a:noFill/>
          <a:ln/>
        </p:spPr>
        <p:txBody>
          <a:bodyPr wrap="square" lIns="0" tIns="0" rIns="0" bIns="0" rtlCol="0" anchor="ctr"/>
          <a:lstStyle/>
          <a:p>
            <a:pPr indent="0" marL="0">
              <a:buNone/>
            </a:pPr>
            <a:r>
              <a:rPr lang="en-US" sz="1100" dirty="0">
                <a:solidFill>
                  <a:srgbClr val="FFFFFF"/>
                </a:solidFill>
                <a:latin typeface="Helvetica Neue" pitchFamily="34" charset="0"/>
                <a:ea typeface="Helvetica Neue" pitchFamily="34" charset="-122"/>
                <a:cs typeface="Helvetica Neue" pitchFamily="34" charset="-120"/>
              </a:rPr>
              <a:t>Notion</a:t>
            </a:r>
            <a:pPr indent="0" marL="0">
              <a:buNone/>
            </a:pPr>
            <a:r>
              <a:rPr lang="en-US" sz="900" dirty="0">
                <a:solidFill>
                  <a:srgbClr val="F7C700"/>
                </a:solidFill>
                <a:latin typeface="Helvetica Neue" pitchFamily="34" charset="0"/>
                <a:ea typeface="Helvetica Neue" pitchFamily="34" charset="-122"/>
                <a:cs typeface="Helvetica Neue" pitchFamily="34" charset="-120"/>
              </a:rPr>
              <a:t>  $10B</a:t>
            </a:r>
            <a:endParaRPr lang="en-US" sz="1100" dirty="0"/>
          </a:p>
        </p:txBody>
      </p:sp>
      <p:sp>
        <p:nvSpPr>
          <p:cNvPr id="32" name="Text 30"/>
          <p:cNvSpPr/>
          <p:nvPr/>
        </p:nvSpPr>
        <p:spPr>
          <a:xfrm>
            <a:off x="7525512" y="5705856"/>
            <a:ext cx="3703320" cy="18288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Built structure for docs</a:t>
            </a:r>
            <a:endParaRPr lang="en-US" sz="850" dirty="0"/>
          </a:p>
        </p:txBody>
      </p:sp>
      <p:sp>
        <p:nvSpPr>
          <p:cNvPr id="33" name="Shape 31"/>
          <p:cNvSpPr/>
          <p:nvPr/>
        </p:nvSpPr>
        <p:spPr>
          <a:xfrm>
            <a:off x="7360920" y="5166360"/>
            <a:ext cx="3886200" cy="0"/>
          </a:xfrm>
          <a:prstGeom prst="line">
            <a:avLst/>
          </a:prstGeom>
          <a:noFill/>
          <a:ln w="12700">
            <a:solidFill>
              <a:srgbClr val="15AD70"/>
            </a:solidFill>
            <a:prstDash val="solid"/>
          </a:ln>
        </p:spPr>
      </p:sp>
      <p:sp>
        <p:nvSpPr>
          <p:cNvPr id="34" name="Text 32"/>
          <p:cNvSpPr/>
          <p:nvPr/>
        </p:nvSpPr>
        <p:spPr>
          <a:xfrm>
            <a:off x="7360920" y="5257800"/>
            <a:ext cx="3886200" cy="320040"/>
          </a:xfrm>
          <a:prstGeom prst="rect">
            <a:avLst/>
          </a:prstGeom>
          <a:noFill/>
          <a:ln/>
        </p:spPr>
        <p:txBody>
          <a:bodyPr wrap="square" lIns="0" tIns="0" rIns="0" bIns="0" rtlCol="0" anchor="ctr"/>
          <a:lstStyle/>
          <a:p>
            <a:pPr indent="0" marL="0">
              <a:buNone/>
            </a:pPr>
            <a:r>
              <a:rPr lang="en-US" sz="1200" dirty="0">
                <a:solidFill>
                  <a:srgbClr val="15AD70"/>
                </a:solidFill>
                <a:latin typeface="Helvetica Neue" pitchFamily="34" charset="0"/>
                <a:ea typeface="Helvetica Neue" pitchFamily="34" charset="-122"/>
                <a:cs typeface="Helvetica Neue" pitchFamily="34" charset="-120"/>
              </a:rPr>
              <a:t>GRID</a:t>
            </a:r>
            <a:pPr indent="0" marL="0">
              <a:buNone/>
            </a:pPr>
            <a:r>
              <a:rPr lang="en-US" sz="1000" dirty="0">
                <a:solidFill>
                  <a:srgbClr val="A0A0B0"/>
                </a:solidFill>
                <a:latin typeface="Helvetica Neue" pitchFamily="34" charset="0"/>
                <a:ea typeface="Helvetica Neue" pitchFamily="34" charset="-122"/>
                <a:cs typeface="Helvetica Neue" pitchFamily="34" charset="-120"/>
              </a:rPr>
              <a:t>  =  structure for organizational intelligence</a:t>
            </a:r>
            <a:endParaRPr lang="en-US" sz="1200" dirty="0"/>
          </a:p>
        </p:txBody>
      </p:sp>
      <p:sp>
        <p:nvSpPr>
          <p:cNvPr id="35" name="Shape 33"/>
          <p:cNvSpPr/>
          <p:nvPr/>
        </p:nvSpPr>
        <p:spPr>
          <a:xfrm>
            <a:off x="640080" y="6419088"/>
            <a:ext cx="10881360" cy="0"/>
          </a:xfrm>
          <a:prstGeom prst="line">
            <a:avLst/>
          </a:prstGeom>
          <a:noFill/>
          <a:ln w="6350">
            <a:solidFill>
              <a:srgbClr val="181822"/>
            </a:solidFill>
            <a:prstDash val="solid"/>
          </a:ln>
        </p:spPr>
      </p:sp>
      <p:sp>
        <p:nvSpPr>
          <p:cNvPr id="36" name="Text 34"/>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37" name="Text 35"/>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8 / 15</a:t>
            </a:r>
            <a:endParaRPr lang="en-US" sz="800" dirty="0"/>
          </a:p>
        </p:txBody>
      </p:sp>
      <p:sp>
        <p:nvSpPr>
          <p:cNvPr id="38" name="Text 36"/>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FOUNDER  ·  ORIGIN</a:t>
            </a:r>
            <a:endParaRPr lang="en-US" sz="900" dirty="0"/>
          </a:p>
        </p:txBody>
      </p:sp>
      <p:sp>
        <p:nvSpPr>
          <p:cNvPr id="3" name="Text 1"/>
          <p:cNvSpPr/>
          <p:nvPr/>
        </p:nvSpPr>
        <p:spPr>
          <a:xfrm>
            <a:off x="640080" y="868680"/>
            <a:ext cx="10881360" cy="640080"/>
          </a:xfrm>
          <a:prstGeom prst="rect">
            <a:avLst/>
          </a:prstGeom>
          <a:noFill/>
          <a:ln/>
        </p:spPr>
        <p:txBody>
          <a:bodyPr wrap="square" lIns="0" tIns="0" rIns="0" bIns="0" rtlCol="0" anchor="ctr"/>
          <a:lstStyle/>
          <a:p>
            <a:pPr indent="0" marL="0">
              <a:buNone/>
            </a:pPr>
            <a:r>
              <a:rPr lang="en-US" sz="3200" dirty="0">
                <a:solidFill>
                  <a:srgbClr val="FFFFFF"/>
                </a:solidFill>
                <a:latin typeface="Helvetica Neue" pitchFamily="34" charset="0"/>
                <a:ea typeface="Helvetica Neue" pitchFamily="34" charset="-122"/>
                <a:cs typeface="Helvetica Neue" pitchFamily="34" charset="-120"/>
              </a:rPr>
              <a:t>I didn't start with a pitch.</a:t>
            </a:r>
            <a:endParaRPr lang="en-US" sz="3200" dirty="0"/>
          </a:p>
        </p:txBody>
      </p:sp>
      <p:sp>
        <p:nvSpPr>
          <p:cNvPr id="4" name="Text 2"/>
          <p:cNvSpPr/>
          <p:nvPr/>
        </p:nvSpPr>
        <p:spPr>
          <a:xfrm>
            <a:off x="640080" y="1463040"/>
            <a:ext cx="10881360" cy="502920"/>
          </a:xfrm>
          <a:prstGeom prst="rect">
            <a:avLst/>
          </a:prstGeom>
          <a:noFill/>
          <a:ln/>
        </p:spPr>
        <p:txBody>
          <a:bodyPr wrap="square" lIns="0" tIns="0" rIns="0" bIns="0" rtlCol="0" anchor="ctr"/>
          <a:lstStyle/>
          <a:p>
            <a:pPr indent="0" marL="0">
              <a:buNone/>
            </a:pPr>
            <a:r>
              <a:rPr lang="en-US" sz="2200" dirty="0">
                <a:solidFill>
                  <a:srgbClr val="15AD70"/>
                </a:solidFill>
                <a:latin typeface="Helvetica Neue" pitchFamily="34" charset="0"/>
                <a:ea typeface="Helvetica Neue" pitchFamily="34" charset="-122"/>
                <a:cs typeface="Helvetica Neue" pitchFamily="34" charset="-120"/>
              </a:rPr>
              <a:t>I started with a problem I couldn't stop living in.</a:t>
            </a:r>
            <a:endParaRPr lang="en-US" sz="2200" dirty="0"/>
          </a:p>
        </p:txBody>
      </p:sp>
      <p:sp>
        <p:nvSpPr>
          <p:cNvPr id="5" name="Shape 3"/>
          <p:cNvSpPr/>
          <p:nvPr/>
        </p:nvSpPr>
        <p:spPr>
          <a:xfrm>
            <a:off x="640080" y="2148840"/>
            <a:ext cx="6217920" cy="3840480"/>
          </a:xfrm>
          <a:prstGeom prst="roundRect">
            <a:avLst>
              <a:gd name="adj" fmla="val 1905"/>
            </a:avLst>
          </a:prstGeom>
          <a:solidFill>
            <a:srgbClr val="101018"/>
          </a:solidFill>
          <a:ln w="9525">
            <a:solidFill>
              <a:srgbClr val="1F1F2A"/>
            </a:solidFill>
            <a:prstDash val="solid"/>
          </a:ln>
        </p:spPr>
      </p:sp>
      <p:sp>
        <p:nvSpPr>
          <p:cNvPr id="6" name="Shape 4"/>
          <p:cNvSpPr/>
          <p:nvPr/>
        </p:nvSpPr>
        <p:spPr>
          <a:xfrm>
            <a:off x="960120" y="2423160"/>
            <a:ext cx="1005840" cy="1005840"/>
          </a:xfrm>
          <a:prstGeom prst="ellipse">
            <a:avLst/>
          </a:prstGeom>
          <a:solidFill>
            <a:srgbClr val="15AD70">
              <a:alpha val="20000"/>
            </a:srgbClr>
          </a:solidFill>
          <a:ln w="15875">
            <a:solidFill>
              <a:srgbClr val="15AD70"/>
            </a:solidFill>
            <a:prstDash val="solid"/>
          </a:ln>
        </p:spPr>
      </p:sp>
      <p:sp>
        <p:nvSpPr>
          <p:cNvPr id="7" name="Text 5"/>
          <p:cNvSpPr/>
          <p:nvPr/>
        </p:nvSpPr>
        <p:spPr>
          <a:xfrm>
            <a:off x="960120" y="2423160"/>
            <a:ext cx="1005840" cy="1005840"/>
          </a:xfrm>
          <a:prstGeom prst="rect">
            <a:avLst/>
          </a:prstGeom>
          <a:noFill/>
          <a:ln/>
        </p:spPr>
        <p:txBody>
          <a:bodyPr wrap="square" lIns="0" tIns="0" rIns="0" bIns="0" rtlCol="0" anchor="ctr"/>
          <a:lstStyle/>
          <a:p>
            <a:pPr algn="ctr" indent="0" marL="0">
              <a:buNone/>
            </a:pPr>
            <a:r>
              <a:rPr lang="en-US" sz="2800" dirty="0">
                <a:solidFill>
                  <a:srgbClr val="15AD70"/>
                </a:solidFill>
                <a:latin typeface="Helvetica Neue" pitchFamily="34" charset="0"/>
                <a:ea typeface="Helvetica Neue" pitchFamily="34" charset="-122"/>
                <a:cs typeface="Helvetica Neue" pitchFamily="34" charset="-120"/>
              </a:rPr>
              <a:t>NC</a:t>
            </a:r>
            <a:endParaRPr lang="en-US" sz="2800" dirty="0"/>
          </a:p>
        </p:txBody>
      </p:sp>
      <p:sp>
        <p:nvSpPr>
          <p:cNvPr id="8" name="Text 6"/>
          <p:cNvSpPr/>
          <p:nvPr/>
        </p:nvSpPr>
        <p:spPr>
          <a:xfrm>
            <a:off x="2194560" y="2423160"/>
            <a:ext cx="3657600" cy="365760"/>
          </a:xfrm>
          <a:prstGeom prst="rect">
            <a:avLst/>
          </a:prstGeom>
          <a:noFill/>
          <a:ln/>
        </p:spPr>
        <p:txBody>
          <a:bodyPr wrap="square" lIns="0" tIns="0" rIns="0" bIns="0" rtlCol="0" anchor="ctr"/>
          <a:lstStyle/>
          <a:p>
            <a:pPr indent="0" marL="0">
              <a:buNone/>
            </a:pPr>
            <a:r>
              <a:rPr lang="en-US" sz="2000" dirty="0">
                <a:solidFill>
                  <a:srgbClr val="FFFFFF"/>
                </a:solidFill>
                <a:latin typeface="Helvetica Neue" pitchFamily="34" charset="0"/>
                <a:ea typeface="Helvetica Neue" pitchFamily="34" charset="-122"/>
                <a:cs typeface="Helvetica Neue" pitchFamily="34" charset="-120"/>
              </a:rPr>
              <a:t>Nicole Cain</a:t>
            </a:r>
            <a:endParaRPr lang="en-US" sz="2000" dirty="0"/>
          </a:p>
        </p:txBody>
      </p:sp>
      <p:sp>
        <p:nvSpPr>
          <p:cNvPr id="9" name="Text 7"/>
          <p:cNvSpPr/>
          <p:nvPr/>
        </p:nvSpPr>
        <p:spPr>
          <a:xfrm>
            <a:off x="2194560" y="2788920"/>
            <a:ext cx="3657600" cy="228600"/>
          </a:xfrm>
          <a:prstGeom prst="rect">
            <a:avLst/>
          </a:prstGeom>
          <a:noFill/>
          <a:ln/>
        </p:spPr>
        <p:txBody>
          <a:bodyPr wrap="square" lIns="0" tIns="0" rIns="0" bIns="0" rtlCol="0" anchor="ctr"/>
          <a:lstStyle/>
          <a:p>
            <a:pPr indent="0" marL="0">
              <a:buNone/>
            </a:pPr>
            <a:r>
              <a:rPr lang="en-US" sz="1000" spc="100" kern="0" dirty="0">
                <a:solidFill>
                  <a:srgbClr val="15AD70"/>
                </a:solidFill>
                <a:latin typeface="Helvetica Neue" pitchFamily="34" charset="0"/>
                <a:ea typeface="Helvetica Neue" pitchFamily="34" charset="-122"/>
                <a:cs typeface="Helvetica Neue" pitchFamily="34" charset="-120"/>
              </a:rPr>
              <a:t>Systems Designer  ·  Founder, GRID</a:t>
            </a:r>
            <a:endParaRPr lang="en-US" sz="1000" dirty="0"/>
          </a:p>
        </p:txBody>
      </p:sp>
      <p:sp>
        <p:nvSpPr>
          <p:cNvPr id="10" name="Text 8"/>
          <p:cNvSpPr/>
          <p:nvPr/>
        </p:nvSpPr>
        <p:spPr>
          <a:xfrm>
            <a:off x="2194560" y="3017520"/>
            <a:ext cx="4114800" cy="228600"/>
          </a:xfrm>
          <a:prstGeom prst="rect">
            <a:avLst/>
          </a:prstGeom>
          <a:noFill/>
          <a:ln/>
        </p:spPr>
        <p:txBody>
          <a:bodyPr wrap="square" lIns="0" tIns="0" rIns="0" bIns="0" rtlCol="0" anchor="ctr"/>
          <a:lstStyle/>
          <a:p>
            <a:pPr indent="0" marL="0">
              <a:buNone/>
            </a:pPr>
            <a:r>
              <a:rPr lang="en-US" sz="900" i="1" dirty="0">
                <a:solidFill>
                  <a:srgbClr val="60606A"/>
                </a:solidFill>
                <a:latin typeface="Helvetica Neue" pitchFamily="34" charset="0"/>
                <a:ea typeface="Helvetica Neue" pitchFamily="34" charset="-122"/>
                <a:cs typeface="Helvetica Neue" pitchFamily="34" charset="-120"/>
              </a:rPr>
              <a:t>"Exploring human behavior in digital environments"</a:t>
            </a:r>
            <a:endParaRPr lang="en-US" sz="900" dirty="0"/>
          </a:p>
        </p:txBody>
      </p:sp>
      <p:sp>
        <p:nvSpPr>
          <p:cNvPr id="11" name="Text 9"/>
          <p:cNvSpPr/>
          <p:nvPr/>
        </p:nvSpPr>
        <p:spPr>
          <a:xfrm>
            <a:off x="960120" y="3383280"/>
            <a:ext cx="5577840" cy="246888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I spent years running creative operations — managing clients, shipping content across platforms, tracking revenue in spreadsheets, coordinating between 12+ tools that never talked to each other. Every week I watched the same pattern: smart people drowning in coordination. Not because they lacked talent. Because their systems were broken.</a:t>
            </a:r>
            <a:endParaRPr lang="en-US" sz="1000" dirty="0"/>
          </a:p>
          <a:p>
            <a:pPr indent="0" marL="0">
              <a:buNone/>
            </a:pPr>
            <a:endParaRPr lang="en-US" sz="1000" dirty="0"/>
          </a:p>
          <a:p>
            <a:pPr indent="0" marL="0">
              <a:buNone/>
            </a:pPr>
            <a:r>
              <a:rPr lang="en-US" sz="1000" dirty="0">
                <a:solidFill>
                  <a:srgbClr val="A0A0B0"/>
                </a:solidFill>
                <a:latin typeface="Helvetica Neue" pitchFamily="34" charset="0"/>
                <a:ea typeface="Helvetica Neue" pitchFamily="34" charset="-122"/>
                <a:cs typeface="Helvetica Neue" pitchFamily="34" charset="-120"/>
              </a:rPr>
              <a:t>I'd spend 15 hours a week on admin that didn't move the business forward. Invoices would slip. Content would stall in review. Client follow-ups would fall through the cracks. I was the bottleneck in my own system — and I could see the same thing happening inside every small team and agency I worked with.</a:t>
            </a:r>
            <a:endParaRPr lang="en-US" sz="1000" dirty="0"/>
          </a:p>
          <a:p>
            <a:pPr indent="0" marL="0">
              <a:buNone/>
            </a:pPr>
            <a:endParaRPr lang="en-US" sz="1000" dirty="0"/>
          </a:p>
          <a:p>
            <a:pPr indent="0" marL="0">
              <a:buNone/>
            </a:pPr>
            <a:r>
              <a:rPr lang="en-US" sz="1000" dirty="0">
                <a:solidFill>
                  <a:srgbClr val="A0A0B0"/>
                </a:solidFill>
                <a:latin typeface="Helvetica Neue" pitchFamily="34" charset="0"/>
                <a:ea typeface="Helvetica Neue" pitchFamily="34" charset="-122"/>
                <a:cs typeface="Helvetica Neue" pitchFamily="34" charset="-120"/>
              </a:rPr>
              <a:t>Then AI tools arrived. And the problem got worse. More output, faster — but into the same broken infrastructure. I had 8 different AI tools, no system connecting them, and no way to know if any of it was actually working. That's when I stopped looking for a solution and started building one.</a:t>
            </a:r>
            <a:endParaRPr lang="en-US" sz="1000" dirty="0"/>
          </a:p>
        </p:txBody>
      </p:sp>
      <p:sp>
        <p:nvSpPr>
          <p:cNvPr id="12" name="Shape 10"/>
          <p:cNvSpPr/>
          <p:nvPr/>
        </p:nvSpPr>
        <p:spPr>
          <a:xfrm>
            <a:off x="7086600" y="2148840"/>
            <a:ext cx="4434840" cy="2240280"/>
          </a:xfrm>
          <a:prstGeom prst="roundRect">
            <a:avLst>
              <a:gd name="adj" fmla="val 3265"/>
            </a:avLst>
          </a:prstGeom>
          <a:solidFill>
            <a:srgbClr val="101018"/>
          </a:solidFill>
          <a:ln w="9525">
            <a:solidFill>
              <a:srgbClr val="1F1F2A"/>
            </a:solidFill>
            <a:prstDash val="solid"/>
          </a:ln>
        </p:spPr>
      </p:sp>
      <p:sp>
        <p:nvSpPr>
          <p:cNvPr id="13" name="Text 11"/>
          <p:cNvSpPr/>
          <p:nvPr/>
        </p:nvSpPr>
        <p:spPr>
          <a:xfrm>
            <a:off x="7360920" y="2331720"/>
            <a:ext cx="2743200" cy="228600"/>
          </a:xfrm>
          <a:prstGeom prst="rect">
            <a:avLst/>
          </a:prstGeom>
          <a:noFill/>
          <a:ln/>
        </p:spPr>
        <p:txBody>
          <a:bodyPr wrap="square" lIns="0" tIns="0" rIns="0" bIns="0" rtlCol="0" anchor="ctr"/>
          <a:lstStyle/>
          <a:p>
            <a:pPr indent="0" marL="0">
              <a:buNone/>
            </a:pPr>
            <a:r>
              <a:rPr lang="en-US" sz="800" spc="300" kern="0" dirty="0">
                <a:solidFill>
                  <a:srgbClr val="F7C700"/>
                </a:solidFill>
                <a:latin typeface="Helvetica Neue" pitchFamily="34" charset="0"/>
                <a:ea typeface="Helvetica Neue" pitchFamily="34" charset="-122"/>
                <a:cs typeface="Helvetica Neue" pitchFamily="34" charset="-120"/>
              </a:rPr>
              <a:t>WHY NOW</a:t>
            </a:r>
            <a:endParaRPr lang="en-US" sz="800" dirty="0"/>
          </a:p>
        </p:txBody>
      </p:sp>
      <p:sp>
        <p:nvSpPr>
          <p:cNvPr id="14" name="Text 12"/>
          <p:cNvSpPr/>
          <p:nvPr/>
        </p:nvSpPr>
        <p:spPr>
          <a:xfrm>
            <a:off x="7360920" y="2560320"/>
            <a:ext cx="3886200" cy="320040"/>
          </a:xfrm>
          <a:prstGeom prst="rect">
            <a:avLst/>
          </a:prstGeom>
          <a:noFill/>
          <a:ln/>
        </p:spPr>
        <p:txBody>
          <a:bodyPr wrap="square" lIns="0" tIns="0" rIns="0" bIns="0" rtlCol="0" anchor="ctr"/>
          <a:lstStyle/>
          <a:p>
            <a:pPr indent="0" marL="0">
              <a:buNone/>
            </a:pPr>
            <a:r>
              <a:rPr lang="en-US" sz="1400" dirty="0">
                <a:solidFill>
                  <a:srgbClr val="FFFFFF"/>
                </a:solidFill>
                <a:latin typeface="Helvetica Neue" pitchFamily="34" charset="0"/>
                <a:ea typeface="Helvetica Neue" pitchFamily="34" charset="-122"/>
                <a:cs typeface="Helvetica Neue" pitchFamily="34" charset="-120"/>
              </a:rPr>
              <a:t>The market caught up.</a:t>
            </a:r>
            <a:endParaRPr lang="en-US" sz="1400" dirty="0"/>
          </a:p>
        </p:txBody>
      </p:sp>
      <p:sp>
        <p:nvSpPr>
          <p:cNvPr id="15" name="Shape 13"/>
          <p:cNvSpPr/>
          <p:nvPr/>
        </p:nvSpPr>
        <p:spPr>
          <a:xfrm>
            <a:off x="7360920" y="3035808"/>
            <a:ext cx="73152" cy="73152"/>
          </a:xfrm>
          <a:prstGeom prst="ellipse">
            <a:avLst/>
          </a:prstGeom>
          <a:solidFill>
            <a:srgbClr val="F7C700"/>
          </a:solidFill>
          <a:ln w="12700">
            <a:solidFill>
              <a:srgbClr val="F7C700"/>
            </a:solidFill>
            <a:prstDash val="solid"/>
          </a:ln>
        </p:spPr>
      </p:sp>
      <p:sp>
        <p:nvSpPr>
          <p:cNvPr id="16" name="Text 14"/>
          <p:cNvSpPr/>
          <p:nvPr/>
        </p:nvSpPr>
        <p:spPr>
          <a:xfrm>
            <a:off x="7525512" y="2944368"/>
            <a:ext cx="3703320" cy="201168"/>
          </a:xfrm>
          <a:prstGeom prst="rect">
            <a:avLst/>
          </a:prstGeom>
          <a:noFill/>
          <a:ln/>
        </p:spPr>
        <p:txBody>
          <a:bodyPr wrap="square" lIns="0" tIns="0" rIns="0" bIns="0" rtlCol="0" anchor="ctr"/>
          <a:lstStyle/>
          <a:p>
            <a:pPr indent="0" marL="0">
              <a:buNone/>
            </a:pPr>
            <a:r>
              <a:rPr lang="en-US" sz="1100" dirty="0">
                <a:solidFill>
                  <a:srgbClr val="F7C700"/>
                </a:solidFill>
                <a:latin typeface="Helvetica Neue" pitchFamily="34" charset="0"/>
                <a:ea typeface="Helvetica Neue" pitchFamily="34" charset="-122"/>
                <a:cs typeface="Helvetica Neue" pitchFamily="34" charset="-120"/>
              </a:rPr>
              <a:t>91%</a:t>
            </a:r>
            <a:pPr indent="0" marL="0">
              <a:buNone/>
            </a:pPr>
            <a:r>
              <a:rPr lang="en-US" sz="900" dirty="0">
                <a:solidFill>
                  <a:srgbClr val="A0A0B0"/>
                </a:solidFill>
                <a:latin typeface="Helvetica Neue" pitchFamily="34" charset="0"/>
                <a:ea typeface="Helvetica Neue" pitchFamily="34" charset="-122"/>
                <a:cs typeface="Helvetica Neue" pitchFamily="34" charset="-120"/>
              </a:rPr>
              <a:t>  of companies now use AI at work</a:t>
            </a:r>
            <a:endParaRPr lang="en-US" sz="1100" dirty="0"/>
          </a:p>
        </p:txBody>
      </p:sp>
      <p:sp>
        <p:nvSpPr>
          <p:cNvPr id="17" name="Text 15"/>
          <p:cNvSpPr/>
          <p:nvPr/>
        </p:nvSpPr>
        <p:spPr>
          <a:xfrm>
            <a:off x="7525512" y="3127248"/>
            <a:ext cx="3703320" cy="164592"/>
          </a:xfrm>
          <a:prstGeom prst="rect">
            <a:avLst/>
          </a:prstGeom>
          <a:noFill/>
          <a:ln/>
        </p:spPr>
        <p:txBody>
          <a:bodyPr wrap="square" lIns="0" tIns="0" rIns="0" bIns="0" rtlCol="0" anchor="ctr"/>
          <a:lstStyle/>
          <a:p>
            <a:pPr indent="0" marL="0">
              <a:buNone/>
            </a:pPr>
            <a:r>
              <a:rPr lang="en-US" sz="750" dirty="0">
                <a:solidFill>
                  <a:srgbClr val="40404A"/>
                </a:solidFill>
                <a:latin typeface="Helvetica Neue" pitchFamily="34" charset="0"/>
                <a:ea typeface="Helvetica Neue" pitchFamily="34" charset="-122"/>
                <a:cs typeface="Helvetica Neue" pitchFamily="34" charset="-120"/>
              </a:rPr>
              <a:t>McKinsey 2025</a:t>
            </a:r>
            <a:endParaRPr lang="en-US" sz="750" dirty="0"/>
          </a:p>
        </p:txBody>
      </p:sp>
      <p:sp>
        <p:nvSpPr>
          <p:cNvPr id="18" name="Shape 16"/>
          <p:cNvSpPr/>
          <p:nvPr/>
        </p:nvSpPr>
        <p:spPr>
          <a:xfrm>
            <a:off x="7360920" y="3374136"/>
            <a:ext cx="73152" cy="73152"/>
          </a:xfrm>
          <a:prstGeom prst="ellipse">
            <a:avLst/>
          </a:prstGeom>
          <a:solidFill>
            <a:srgbClr val="FF6B6B"/>
          </a:solidFill>
          <a:ln w="12700">
            <a:solidFill>
              <a:srgbClr val="FF6B6B"/>
            </a:solidFill>
            <a:prstDash val="solid"/>
          </a:ln>
        </p:spPr>
      </p:sp>
      <p:sp>
        <p:nvSpPr>
          <p:cNvPr id="19" name="Text 17"/>
          <p:cNvSpPr/>
          <p:nvPr/>
        </p:nvSpPr>
        <p:spPr>
          <a:xfrm>
            <a:off x="7525512" y="3282696"/>
            <a:ext cx="3703320" cy="201168"/>
          </a:xfrm>
          <a:prstGeom prst="rect">
            <a:avLst/>
          </a:prstGeom>
          <a:noFill/>
          <a:ln/>
        </p:spPr>
        <p:txBody>
          <a:bodyPr wrap="square" lIns="0" tIns="0" rIns="0" bIns="0" rtlCol="0" anchor="ctr"/>
          <a:lstStyle/>
          <a:p>
            <a:pPr indent="0" marL="0">
              <a:buNone/>
            </a:pPr>
            <a:r>
              <a:rPr lang="en-US" sz="1100" dirty="0">
                <a:solidFill>
                  <a:srgbClr val="FF6B6B"/>
                </a:solidFill>
                <a:latin typeface="Helvetica Neue" pitchFamily="34" charset="0"/>
                <a:ea typeface="Helvetica Neue" pitchFamily="34" charset="-122"/>
                <a:cs typeface="Helvetica Neue" pitchFamily="34" charset="-120"/>
              </a:rPr>
              <a:t>8–12</a:t>
            </a:r>
            <a:pPr indent="0" marL="0">
              <a:buNone/>
            </a:pPr>
            <a:r>
              <a:rPr lang="en-US" sz="900" dirty="0">
                <a:solidFill>
                  <a:srgbClr val="A0A0B0"/>
                </a:solidFill>
                <a:latin typeface="Helvetica Neue" pitchFamily="34" charset="0"/>
                <a:ea typeface="Helvetica Neue" pitchFamily="34" charset="-122"/>
                <a:cs typeface="Helvetica Neue" pitchFamily="34" charset="-120"/>
              </a:rPr>
              <a:t>  AI tools per creative business</a:t>
            </a:r>
            <a:endParaRPr lang="en-US" sz="1100" dirty="0"/>
          </a:p>
        </p:txBody>
      </p:sp>
      <p:sp>
        <p:nvSpPr>
          <p:cNvPr id="20" name="Text 18"/>
          <p:cNvSpPr/>
          <p:nvPr/>
        </p:nvSpPr>
        <p:spPr>
          <a:xfrm>
            <a:off x="7525512" y="3465576"/>
            <a:ext cx="3703320" cy="164592"/>
          </a:xfrm>
          <a:prstGeom prst="rect">
            <a:avLst/>
          </a:prstGeom>
          <a:noFill/>
          <a:ln/>
        </p:spPr>
        <p:txBody>
          <a:bodyPr wrap="square" lIns="0" tIns="0" rIns="0" bIns="0" rtlCol="0" anchor="ctr"/>
          <a:lstStyle/>
          <a:p>
            <a:pPr indent="0" marL="0">
              <a:buNone/>
            </a:pPr>
            <a:r>
              <a:rPr lang="en-US" sz="750" dirty="0">
                <a:solidFill>
                  <a:srgbClr val="40404A"/>
                </a:solidFill>
                <a:latin typeface="Helvetica Neue" pitchFamily="34" charset="0"/>
                <a:ea typeface="Helvetica Neue" pitchFamily="34" charset="-122"/>
                <a:cs typeface="Helvetica Neue" pitchFamily="34" charset="-120"/>
              </a:rPr>
              <a:t>zero system managing them</a:t>
            </a:r>
            <a:endParaRPr lang="en-US" sz="750" dirty="0"/>
          </a:p>
        </p:txBody>
      </p:sp>
      <p:sp>
        <p:nvSpPr>
          <p:cNvPr id="21" name="Shape 19"/>
          <p:cNvSpPr/>
          <p:nvPr/>
        </p:nvSpPr>
        <p:spPr>
          <a:xfrm>
            <a:off x="7360920" y="3712464"/>
            <a:ext cx="73152" cy="73152"/>
          </a:xfrm>
          <a:prstGeom prst="ellipse">
            <a:avLst/>
          </a:prstGeom>
          <a:solidFill>
            <a:srgbClr val="BF9FF1"/>
          </a:solidFill>
          <a:ln w="12700">
            <a:solidFill>
              <a:srgbClr val="BF9FF1"/>
            </a:solidFill>
            <a:prstDash val="solid"/>
          </a:ln>
        </p:spPr>
      </p:sp>
      <p:sp>
        <p:nvSpPr>
          <p:cNvPr id="22" name="Text 20"/>
          <p:cNvSpPr/>
          <p:nvPr/>
        </p:nvSpPr>
        <p:spPr>
          <a:xfrm>
            <a:off x="7525512" y="3621024"/>
            <a:ext cx="3703320" cy="201168"/>
          </a:xfrm>
          <a:prstGeom prst="rect">
            <a:avLst/>
          </a:prstGeom>
          <a:noFill/>
          <a:ln/>
        </p:spPr>
        <p:txBody>
          <a:bodyPr wrap="square" lIns="0" tIns="0" rIns="0" bIns="0" rtlCol="0" anchor="ctr"/>
          <a:lstStyle/>
          <a:p>
            <a:pPr indent="0" marL="0">
              <a:buNone/>
            </a:pPr>
            <a:r>
              <a:rPr lang="en-US" sz="1100" dirty="0">
                <a:solidFill>
                  <a:srgbClr val="BF9FF1"/>
                </a:solidFill>
                <a:latin typeface="Helvetica Neue" pitchFamily="34" charset="0"/>
                <a:ea typeface="Helvetica Neue" pitchFamily="34" charset="-122"/>
                <a:cs typeface="Helvetica Neue" pitchFamily="34" charset="-120"/>
              </a:rPr>
              <a:t>72%</a:t>
            </a:r>
            <a:pPr indent="0" marL="0">
              <a:buNone/>
            </a:pPr>
            <a:r>
              <a:rPr lang="en-US" sz="900" dirty="0">
                <a:solidFill>
                  <a:srgbClr val="A0A0B0"/>
                </a:solidFill>
                <a:latin typeface="Helvetica Neue" pitchFamily="34" charset="0"/>
                <a:ea typeface="Helvetica Neue" pitchFamily="34" charset="-122"/>
                <a:cs typeface="Helvetica Neue" pitchFamily="34" charset="-120"/>
              </a:rPr>
              <a:t>  say AI increased workload</a:t>
            </a:r>
            <a:endParaRPr lang="en-US" sz="1100" dirty="0"/>
          </a:p>
        </p:txBody>
      </p:sp>
      <p:sp>
        <p:nvSpPr>
          <p:cNvPr id="23" name="Text 21"/>
          <p:cNvSpPr/>
          <p:nvPr/>
        </p:nvSpPr>
        <p:spPr>
          <a:xfrm>
            <a:off x="7525512" y="3803904"/>
            <a:ext cx="3703320" cy="164592"/>
          </a:xfrm>
          <a:prstGeom prst="rect">
            <a:avLst/>
          </a:prstGeom>
          <a:noFill/>
          <a:ln/>
        </p:spPr>
        <p:txBody>
          <a:bodyPr wrap="square" lIns="0" tIns="0" rIns="0" bIns="0" rtlCol="0" anchor="ctr"/>
          <a:lstStyle/>
          <a:p>
            <a:pPr indent="0" marL="0">
              <a:buNone/>
            </a:pPr>
            <a:r>
              <a:rPr lang="en-US" sz="750" dirty="0">
                <a:solidFill>
                  <a:srgbClr val="40404A"/>
                </a:solidFill>
                <a:latin typeface="Helvetica Neue" pitchFamily="34" charset="0"/>
                <a:ea typeface="Helvetica Neue" pitchFamily="34" charset="-122"/>
                <a:cs typeface="Helvetica Neue" pitchFamily="34" charset="-120"/>
              </a:rPr>
              <a:t>Upwork Research 2024</a:t>
            </a:r>
            <a:endParaRPr lang="en-US" sz="750" dirty="0"/>
          </a:p>
        </p:txBody>
      </p:sp>
      <p:sp>
        <p:nvSpPr>
          <p:cNvPr id="24" name="Shape 22"/>
          <p:cNvSpPr/>
          <p:nvPr/>
        </p:nvSpPr>
        <p:spPr>
          <a:xfrm>
            <a:off x="7360920" y="4050792"/>
            <a:ext cx="73152" cy="73152"/>
          </a:xfrm>
          <a:prstGeom prst="ellipse">
            <a:avLst/>
          </a:prstGeom>
          <a:solidFill>
            <a:srgbClr val="15AD70"/>
          </a:solidFill>
          <a:ln w="12700">
            <a:solidFill>
              <a:srgbClr val="15AD70"/>
            </a:solidFill>
            <a:prstDash val="solid"/>
          </a:ln>
        </p:spPr>
      </p:sp>
      <p:sp>
        <p:nvSpPr>
          <p:cNvPr id="25" name="Text 23"/>
          <p:cNvSpPr/>
          <p:nvPr/>
        </p:nvSpPr>
        <p:spPr>
          <a:xfrm>
            <a:off x="7525512" y="3959352"/>
            <a:ext cx="3703320" cy="201168"/>
          </a:xfrm>
          <a:prstGeom prst="rect">
            <a:avLst/>
          </a:prstGeom>
          <a:noFill/>
          <a:ln/>
        </p:spPr>
        <p:txBody>
          <a:bodyPr wrap="square" lIns="0" tIns="0" rIns="0" bIns="0" rtlCol="0" anchor="ctr"/>
          <a:lstStyle/>
          <a:p>
            <a:pPr indent="0" marL="0">
              <a:buNone/>
            </a:pPr>
            <a:r>
              <a:rPr lang="en-US" sz="1100" dirty="0">
                <a:solidFill>
                  <a:srgbClr val="15AD70"/>
                </a:solidFill>
                <a:latin typeface="Helvetica Neue" pitchFamily="34" charset="0"/>
                <a:ea typeface="Helvetica Neue" pitchFamily="34" charset="-122"/>
                <a:cs typeface="Helvetica Neue" pitchFamily="34" charset="-120"/>
              </a:rPr>
              <a:t>$4.1T</a:t>
            </a:r>
            <a:pPr indent="0" marL="0">
              <a:buNone/>
            </a:pPr>
            <a:r>
              <a:rPr lang="en-US" sz="900" dirty="0">
                <a:solidFill>
                  <a:srgbClr val="A0A0B0"/>
                </a:solidFill>
                <a:latin typeface="Helvetica Neue" pitchFamily="34" charset="0"/>
                <a:ea typeface="Helvetica Neue" pitchFamily="34" charset="-122"/>
                <a:cs typeface="Helvetica Neue" pitchFamily="34" charset="-120"/>
              </a:rPr>
              <a:t>  in productivity gains at stake</a:t>
            </a:r>
            <a:endParaRPr lang="en-US" sz="1100" dirty="0"/>
          </a:p>
        </p:txBody>
      </p:sp>
      <p:sp>
        <p:nvSpPr>
          <p:cNvPr id="26" name="Text 24"/>
          <p:cNvSpPr/>
          <p:nvPr/>
        </p:nvSpPr>
        <p:spPr>
          <a:xfrm>
            <a:off x="7525512" y="4142232"/>
            <a:ext cx="3703320" cy="164592"/>
          </a:xfrm>
          <a:prstGeom prst="rect">
            <a:avLst/>
          </a:prstGeom>
          <a:noFill/>
          <a:ln/>
        </p:spPr>
        <p:txBody>
          <a:bodyPr wrap="square" lIns="0" tIns="0" rIns="0" bIns="0" rtlCol="0" anchor="ctr"/>
          <a:lstStyle/>
          <a:p>
            <a:pPr indent="0" marL="0">
              <a:buNone/>
            </a:pPr>
            <a:r>
              <a:rPr lang="en-US" sz="750" dirty="0">
                <a:solidFill>
                  <a:srgbClr val="40404A"/>
                </a:solidFill>
                <a:latin typeface="Helvetica Neue" pitchFamily="34" charset="0"/>
                <a:ea typeface="Helvetica Neue" pitchFamily="34" charset="-122"/>
                <a:cs typeface="Helvetica Neue" pitchFamily="34" charset="-120"/>
              </a:rPr>
              <a:t>McKinsey AI economic potential</a:t>
            </a:r>
            <a:endParaRPr lang="en-US" sz="750" dirty="0"/>
          </a:p>
        </p:txBody>
      </p:sp>
      <p:sp>
        <p:nvSpPr>
          <p:cNvPr id="27" name="Shape 25"/>
          <p:cNvSpPr/>
          <p:nvPr/>
        </p:nvSpPr>
        <p:spPr>
          <a:xfrm>
            <a:off x="7086600" y="4526280"/>
            <a:ext cx="4434840" cy="1463040"/>
          </a:xfrm>
          <a:prstGeom prst="roundRect">
            <a:avLst>
              <a:gd name="adj" fmla="val 5000"/>
            </a:avLst>
          </a:prstGeom>
          <a:solidFill>
            <a:srgbClr val="14141E"/>
          </a:solidFill>
          <a:ln w="9525">
            <a:solidFill>
              <a:srgbClr val="1F1F2A"/>
            </a:solidFill>
            <a:prstDash val="solid"/>
          </a:ln>
        </p:spPr>
      </p:sp>
      <p:sp>
        <p:nvSpPr>
          <p:cNvPr id="28" name="Text 26"/>
          <p:cNvSpPr/>
          <p:nvPr/>
        </p:nvSpPr>
        <p:spPr>
          <a:xfrm>
            <a:off x="7360920" y="4663440"/>
            <a:ext cx="3657600" cy="228600"/>
          </a:xfrm>
          <a:prstGeom prst="rect">
            <a:avLst/>
          </a:prstGeom>
          <a:noFill/>
          <a:ln/>
        </p:spPr>
        <p:txBody>
          <a:bodyPr wrap="square" lIns="0" tIns="0" rIns="0" bIns="0" rtlCol="0" anchor="ctr"/>
          <a:lstStyle/>
          <a:p>
            <a:pPr indent="0" marL="0">
              <a:buNone/>
            </a:pPr>
            <a:r>
              <a:rPr lang="en-US" sz="800" spc="300" kern="0" dirty="0">
                <a:solidFill>
                  <a:srgbClr val="15AD70"/>
                </a:solidFill>
                <a:latin typeface="Helvetica Neue" pitchFamily="34" charset="0"/>
                <a:ea typeface="Helvetica Neue" pitchFamily="34" charset="-122"/>
                <a:cs typeface="Helvetica Neue" pitchFamily="34" charset="-120"/>
              </a:rPr>
              <a:t>18 MONTHS BUILDING</a:t>
            </a:r>
            <a:endParaRPr lang="en-US" sz="800" dirty="0"/>
          </a:p>
        </p:txBody>
      </p:sp>
      <p:sp>
        <p:nvSpPr>
          <p:cNvPr id="29" name="Text 27"/>
          <p:cNvSpPr/>
          <p:nvPr/>
        </p:nvSpPr>
        <p:spPr>
          <a:xfrm>
            <a:off x="7360920" y="4873752"/>
            <a:ext cx="3886200" cy="228600"/>
          </a:xfrm>
          <a:prstGeom prst="rect">
            <a:avLst/>
          </a:prstGeom>
          <a:noFill/>
          <a:ln/>
        </p:spPr>
        <p:txBody>
          <a:bodyPr wrap="square" lIns="0" tIns="0" rIns="0" bIns="0" rtlCol="0" anchor="ctr"/>
          <a:lstStyle/>
          <a:p>
            <a:pPr indent="0" marL="0">
              <a:buNone/>
            </a:pPr>
            <a:r>
              <a:rPr lang="en-US" sz="900" i="1" dirty="0">
                <a:solidFill>
                  <a:srgbClr val="60606A"/>
                </a:solidFill>
                <a:latin typeface="Helvetica Neue" pitchFamily="34" charset="0"/>
                <a:ea typeface="Helvetica Neue" pitchFamily="34" charset="-122"/>
                <a:cs typeface="Helvetica Neue" pitchFamily="34" charset="-120"/>
              </a:rPr>
              <a:t>Before anyone was paying attention.</a:t>
            </a:r>
            <a:endParaRPr lang="en-US" sz="900" dirty="0"/>
          </a:p>
        </p:txBody>
      </p:sp>
      <p:sp>
        <p:nvSpPr>
          <p:cNvPr id="30" name="Text 28"/>
          <p:cNvSpPr/>
          <p:nvPr/>
        </p:nvSpPr>
        <p:spPr>
          <a:xfrm>
            <a:off x="7360920" y="5166360"/>
            <a:ext cx="874395" cy="320040"/>
          </a:xfrm>
          <a:prstGeom prst="rect">
            <a:avLst/>
          </a:prstGeom>
          <a:noFill/>
          <a:ln/>
        </p:spPr>
        <p:txBody>
          <a:bodyPr wrap="square" lIns="0" tIns="0" rIns="0" bIns="0" rtlCol="0" anchor="ctr"/>
          <a:lstStyle/>
          <a:p>
            <a:pPr indent="0" marL="0">
              <a:buNone/>
            </a:pPr>
            <a:r>
              <a:rPr lang="en-US" sz="1800" dirty="0">
                <a:solidFill>
                  <a:srgbClr val="15AD70"/>
                </a:solidFill>
                <a:latin typeface="Helvetica Neue" pitchFamily="34" charset="0"/>
                <a:ea typeface="Helvetica Neue" pitchFamily="34" charset="-122"/>
                <a:cs typeface="Helvetica Neue" pitchFamily="34" charset="-120"/>
              </a:rPr>
              <a:t>483</a:t>
            </a:r>
            <a:endParaRPr lang="en-US" sz="1800" dirty="0"/>
          </a:p>
        </p:txBody>
      </p:sp>
      <p:sp>
        <p:nvSpPr>
          <p:cNvPr id="31" name="Text 29"/>
          <p:cNvSpPr/>
          <p:nvPr/>
        </p:nvSpPr>
        <p:spPr>
          <a:xfrm>
            <a:off x="8235315" y="5212080"/>
            <a:ext cx="1068705" cy="2743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files shipped</a:t>
            </a:r>
            <a:endParaRPr lang="en-US" sz="850" dirty="0"/>
          </a:p>
        </p:txBody>
      </p:sp>
      <p:sp>
        <p:nvSpPr>
          <p:cNvPr id="32" name="Text 30"/>
          <p:cNvSpPr/>
          <p:nvPr/>
        </p:nvSpPr>
        <p:spPr>
          <a:xfrm>
            <a:off x="9304020" y="5166360"/>
            <a:ext cx="874395" cy="320040"/>
          </a:xfrm>
          <a:prstGeom prst="rect">
            <a:avLst/>
          </a:prstGeom>
          <a:noFill/>
          <a:ln/>
        </p:spPr>
        <p:txBody>
          <a:bodyPr wrap="square" lIns="0" tIns="0" rIns="0" bIns="0" rtlCol="0" anchor="ctr"/>
          <a:lstStyle/>
          <a:p>
            <a:pPr indent="0" marL="0">
              <a:buNone/>
            </a:pPr>
            <a:r>
              <a:rPr lang="en-US" sz="1800" dirty="0">
                <a:solidFill>
                  <a:srgbClr val="7193ED"/>
                </a:solidFill>
                <a:latin typeface="Helvetica Neue" pitchFamily="34" charset="0"/>
                <a:ea typeface="Helvetica Neue" pitchFamily="34" charset="-122"/>
                <a:cs typeface="Helvetica Neue" pitchFamily="34" charset="-120"/>
              </a:rPr>
              <a:t>44+</a:t>
            </a:r>
            <a:endParaRPr lang="en-US" sz="1800" dirty="0"/>
          </a:p>
        </p:txBody>
      </p:sp>
      <p:sp>
        <p:nvSpPr>
          <p:cNvPr id="33" name="Text 31"/>
          <p:cNvSpPr/>
          <p:nvPr/>
        </p:nvSpPr>
        <p:spPr>
          <a:xfrm>
            <a:off x="10178415" y="5212080"/>
            <a:ext cx="1068705" cy="2743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API routes</a:t>
            </a:r>
            <a:endParaRPr lang="en-US" sz="850" dirty="0"/>
          </a:p>
        </p:txBody>
      </p:sp>
      <p:sp>
        <p:nvSpPr>
          <p:cNvPr id="34" name="Text 32"/>
          <p:cNvSpPr/>
          <p:nvPr/>
        </p:nvSpPr>
        <p:spPr>
          <a:xfrm>
            <a:off x="7360920" y="5669280"/>
            <a:ext cx="874395" cy="320040"/>
          </a:xfrm>
          <a:prstGeom prst="rect">
            <a:avLst/>
          </a:prstGeom>
          <a:noFill/>
          <a:ln/>
        </p:spPr>
        <p:txBody>
          <a:bodyPr wrap="square" lIns="0" tIns="0" rIns="0" bIns="0" rtlCol="0" anchor="ctr"/>
          <a:lstStyle/>
          <a:p>
            <a:pPr indent="0" marL="0">
              <a:buNone/>
            </a:pPr>
            <a:r>
              <a:rPr lang="en-US" sz="1800" dirty="0">
                <a:solidFill>
                  <a:srgbClr val="BF9FF1"/>
                </a:solidFill>
                <a:latin typeface="Helvetica Neue" pitchFamily="34" charset="0"/>
                <a:ea typeface="Helvetica Neue" pitchFamily="34" charset="-122"/>
                <a:cs typeface="Helvetica Neue" pitchFamily="34" charset="-120"/>
              </a:rPr>
              <a:t>110+</a:t>
            </a:r>
            <a:endParaRPr lang="en-US" sz="1800" dirty="0"/>
          </a:p>
        </p:txBody>
      </p:sp>
      <p:sp>
        <p:nvSpPr>
          <p:cNvPr id="35" name="Text 33"/>
          <p:cNvSpPr/>
          <p:nvPr/>
        </p:nvSpPr>
        <p:spPr>
          <a:xfrm>
            <a:off x="8235315" y="5715000"/>
            <a:ext cx="1068705" cy="2743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integrations</a:t>
            </a:r>
            <a:endParaRPr lang="en-US" sz="850" dirty="0"/>
          </a:p>
        </p:txBody>
      </p:sp>
      <p:sp>
        <p:nvSpPr>
          <p:cNvPr id="36" name="Text 34"/>
          <p:cNvSpPr/>
          <p:nvPr/>
        </p:nvSpPr>
        <p:spPr>
          <a:xfrm>
            <a:off x="9304020" y="5669280"/>
            <a:ext cx="874395" cy="320040"/>
          </a:xfrm>
          <a:prstGeom prst="rect">
            <a:avLst/>
          </a:prstGeom>
          <a:noFill/>
          <a:ln/>
        </p:spPr>
        <p:txBody>
          <a:bodyPr wrap="square" lIns="0" tIns="0" rIns="0" bIns="0" rtlCol="0" anchor="ctr"/>
          <a:lstStyle/>
          <a:p>
            <a:pPr indent="0" marL="0">
              <a:buNone/>
            </a:pPr>
            <a:r>
              <a:rPr lang="en-US" sz="1800" dirty="0">
                <a:solidFill>
                  <a:srgbClr val="F7C700"/>
                </a:solidFill>
                <a:latin typeface="Helvetica Neue" pitchFamily="34" charset="0"/>
                <a:ea typeface="Helvetica Neue" pitchFamily="34" charset="-122"/>
                <a:cs typeface="Helvetica Neue" pitchFamily="34" charset="-120"/>
              </a:rPr>
              <a:t>$0</a:t>
            </a:r>
            <a:endParaRPr lang="en-US" sz="1800" dirty="0"/>
          </a:p>
        </p:txBody>
      </p:sp>
      <p:sp>
        <p:nvSpPr>
          <p:cNvPr id="37" name="Text 35"/>
          <p:cNvSpPr/>
          <p:nvPr/>
        </p:nvSpPr>
        <p:spPr>
          <a:xfrm>
            <a:off x="10178415" y="5715000"/>
            <a:ext cx="1068705" cy="2743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burn</a:t>
            </a:r>
            <a:endParaRPr lang="en-US" sz="850" dirty="0"/>
          </a:p>
        </p:txBody>
      </p:sp>
      <p:sp>
        <p:nvSpPr>
          <p:cNvPr id="38" name="Text 36"/>
          <p:cNvSpPr/>
          <p:nvPr/>
        </p:nvSpPr>
        <p:spPr>
          <a:xfrm>
            <a:off x="640080" y="6099048"/>
            <a:ext cx="10881360" cy="274320"/>
          </a:xfrm>
          <a:prstGeom prst="rect">
            <a:avLst/>
          </a:prstGeom>
          <a:noFill/>
          <a:ln/>
        </p:spPr>
        <p:txBody>
          <a:bodyPr wrap="square" lIns="0" tIns="0" rIns="0" bIns="0" rtlCol="0" anchor="ctr"/>
          <a:lstStyle/>
          <a:p>
            <a:pPr algn="ctr" indent="0" marL="0">
              <a:buNone/>
            </a:pPr>
            <a:r>
              <a:rPr lang="en-US" sz="1100" i="1" dirty="0">
                <a:solidFill>
                  <a:srgbClr val="60606A"/>
                </a:solidFill>
                <a:latin typeface="Helvetica Neue" pitchFamily="34" charset="0"/>
                <a:ea typeface="Helvetica Neue" pitchFamily="34" charset="-122"/>
                <a:cs typeface="Helvetica Neue" pitchFamily="34" charset="-120"/>
              </a:rPr>
              <a:t>I built GRID because no one else was solving the problem I was living in every day. 18 months later, everyone feels it.</a:t>
            </a:r>
            <a:endParaRPr lang="en-US" sz="1100" dirty="0"/>
          </a:p>
        </p:txBody>
      </p:sp>
      <p:sp>
        <p:nvSpPr>
          <p:cNvPr id="39" name="Shape 37"/>
          <p:cNvSpPr/>
          <p:nvPr/>
        </p:nvSpPr>
        <p:spPr>
          <a:xfrm>
            <a:off x="640080" y="6419088"/>
            <a:ext cx="10881360" cy="0"/>
          </a:xfrm>
          <a:prstGeom prst="line">
            <a:avLst/>
          </a:prstGeom>
          <a:noFill/>
          <a:ln w="6350">
            <a:solidFill>
              <a:srgbClr val="181822"/>
            </a:solidFill>
            <a:prstDash val="solid"/>
          </a:ln>
        </p:spPr>
      </p:sp>
      <p:sp>
        <p:nvSpPr>
          <p:cNvPr id="40" name="Text 38"/>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41" name="Text 39"/>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9 / 15</a:t>
            </a:r>
            <a:endParaRPr lang="en-US" sz="800" dirty="0"/>
          </a:p>
        </p:txBody>
      </p:sp>
      <p:sp>
        <p:nvSpPr>
          <p:cNvPr id="42" name="Text 40"/>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GO TO MARKET</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2800" dirty="0">
                <a:solidFill>
                  <a:srgbClr val="FFFFFF"/>
                </a:solidFill>
                <a:latin typeface="Helvetica Neue" pitchFamily="34" charset="0"/>
                <a:ea typeface="Helvetica Neue" pitchFamily="34" charset="-122"/>
                <a:cs typeface="Helvetica Neue" pitchFamily="34" charset="-120"/>
              </a:rPr>
              <a:t>Structure scales through partners, not ads.</a:t>
            </a:r>
            <a:endParaRPr lang="en-US" sz="2800" dirty="0"/>
          </a:p>
        </p:txBody>
      </p:sp>
      <p:sp>
        <p:nvSpPr>
          <p:cNvPr id="4" name="Text 2"/>
          <p:cNvSpPr/>
          <p:nvPr/>
        </p:nvSpPr>
        <p:spPr>
          <a:xfrm>
            <a:off x="640080" y="1600200"/>
            <a:ext cx="8487461" cy="457200"/>
          </a:xfrm>
          <a:prstGeom prst="rect">
            <a:avLst/>
          </a:prstGeom>
          <a:noFill/>
          <a:ln/>
        </p:spPr>
        <p:txBody>
          <a:bodyPr wrap="square" lIns="0" tIns="0" rIns="0" bIns="0" rtlCol="0" anchor="ctr"/>
          <a:lstStyle/>
          <a:p>
            <a:pPr indent="0" marL="0">
              <a:buNone/>
            </a:pPr>
            <a:r>
              <a:rPr lang="en-US" sz="1300" dirty="0">
                <a:solidFill>
                  <a:srgbClr val="A0A0B0"/>
                </a:solidFill>
                <a:latin typeface="Helvetica Neue" pitchFamily="34" charset="0"/>
                <a:ea typeface="Helvetica Neue" pitchFamily="34" charset="-122"/>
                <a:cs typeface="Helvetica Neue" pitchFamily="34" charset="-120"/>
              </a:rPr>
              <a:t>Four phases from closed alpha to public launch. Each phase validates structure, deepens feedback loops, and builds distribution organically.</a:t>
            </a:r>
            <a:endParaRPr lang="en-US" sz="1300" dirty="0"/>
          </a:p>
        </p:txBody>
      </p:sp>
      <p:sp>
        <p:nvSpPr>
          <p:cNvPr id="5" name="Shape 3"/>
          <p:cNvSpPr/>
          <p:nvPr/>
        </p:nvSpPr>
        <p:spPr>
          <a:xfrm>
            <a:off x="640080" y="2286000"/>
            <a:ext cx="2617470" cy="2011680"/>
          </a:xfrm>
          <a:prstGeom prst="roundRect">
            <a:avLst>
              <a:gd name="adj" fmla="val 3636"/>
            </a:avLst>
          </a:prstGeom>
          <a:solidFill>
            <a:srgbClr val="101018"/>
          </a:solidFill>
          <a:ln w="9525">
            <a:solidFill>
              <a:srgbClr val="1F1F2A"/>
            </a:solidFill>
            <a:prstDash val="solid"/>
          </a:ln>
        </p:spPr>
      </p:sp>
      <p:sp>
        <p:nvSpPr>
          <p:cNvPr id="6" name="Shape 4"/>
          <p:cNvSpPr/>
          <p:nvPr/>
        </p:nvSpPr>
        <p:spPr>
          <a:xfrm>
            <a:off x="649224" y="2295144"/>
            <a:ext cx="2599182" cy="36576"/>
          </a:xfrm>
          <a:prstGeom prst="rect">
            <a:avLst/>
          </a:prstGeom>
          <a:solidFill>
            <a:srgbClr val="15AD70"/>
          </a:solidFill>
          <a:ln w="12700">
            <a:solidFill>
              <a:srgbClr val="15AD70"/>
            </a:solidFill>
            <a:prstDash val="solid"/>
          </a:ln>
        </p:spPr>
      </p:sp>
      <p:sp>
        <p:nvSpPr>
          <p:cNvPr id="7" name="Text 5"/>
          <p:cNvSpPr/>
          <p:nvPr/>
        </p:nvSpPr>
        <p:spPr>
          <a:xfrm>
            <a:off x="914400" y="2514600"/>
            <a:ext cx="2068830" cy="274320"/>
          </a:xfrm>
          <a:prstGeom prst="rect">
            <a:avLst/>
          </a:prstGeom>
          <a:noFill/>
          <a:ln/>
        </p:spPr>
        <p:txBody>
          <a:bodyPr wrap="square" lIns="0" tIns="0" rIns="0" bIns="0" rtlCol="0" anchor="ctr"/>
          <a:lstStyle/>
          <a:p>
            <a:pPr indent="0" marL="0">
              <a:buNone/>
            </a:pPr>
            <a:r>
              <a:rPr lang="en-US" sz="900" spc="300" kern="0" dirty="0">
                <a:solidFill>
                  <a:srgbClr val="15AD70"/>
                </a:solidFill>
                <a:latin typeface="Helvetica Neue" pitchFamily="34" charset="0"/>
                <a:ea typeface="Helvetica Neue" pitchFamily="34" charset="-122"/>
                <a:cs typeface="Helvetica Neue" pitchFamily="34" charset="-120"/>
              </a:rPr>
              <a:t>NOW</a:t>
            </a:r>
            <a:endParaRPr lang="en-US" sz="900" dirty="0"/>
          </a:p>
        </p:txBody>
      </p:sp>
      <p:sp>
        <p:nvSpPr>
          <p:cNvPr id="8" name="Text 6"/>
          <p:cNvSpPr/>
          <p:nvPr/>
        </p:nvSpPr>
        <p:spPr>
          <a:xfrm>
            <a:off x="914400" y="2788920"/>
            <a:ext cx="2068830" cy="41148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Closed Alpha</a:t>
            </a:r>
            <a:endParaRPr lang="en-US" sz="1600" dirty="0"/>
          </a:p>
        </p:txBody>
      </p:sp>
      <p:sp>
        <p:nvSpPr>
          <p:cNvPr id="9" name="Shape 7"/>
          <p:cNvSpPr/>
          <p:nvPr/>
        </p:nvSpPr>
        <p:spPr>
          <a:xfrm>
            <a:off x="914400" y="3246120"/>
            <a:ext cx="457200" cy="0"/>
          </a:xfrm>
          <a:prstGeom prst="line">
            <a:avLst/>
          </a:prstGeom>
          <a:noFill/>
          <a:ln w="12700">
            <a:solidFill>
              <a:srgbClr val="15AD70"/>
            </a:solidFill>
            <a:prstDash val="solid"/>
          </a:ln>
        </p:spPr>
      </p:sp>
      <p:sp>
        <p:nvSpPr>
          <p:cNvPr id="10" name="Text 8"/>
          <p:cNvSpPr/>
          <p:nvPr/>
        </p:nvSpPr>
        <p:spPr>
          <a:xfrm>
            <a:off x="914400" y="3337560"/>
            <a:ext cx="2068830" cy="82296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Nicole dogfooding + invite-only design partners. Proving structural thesis on real businesses.</a:t>
            </a:r>
            <a:endParaRPr lang="en-US" sz="1000" dirty="0"/>
          </a:p>
        </p:txBody>
      </p:sp>
      <p:sp>
        <p:nvSpPr>
          <p:cNvPr id="11" name="Shape 9"/>
          <p:cNvSpPr/>
          <p:nvPr/>
        </p:nvSpPr>
        <p:spPr>
          <a:xfrm>
            <a:off x="3394710" y="2286000"/>
            <a:ext cx="2617470" cy="2011680"/>
          </a:xfrm>
          <a:prstGeom prst="roundRect">
            <a:avLst>
              <a:gd name="adj" fmla="val 3636"/>
            </a:avLst>
          </a:prstGeom>
          <a:solidFill>
            <a:srgbClr val="101018"/>
          </a:solidFill>
          <a:ln w="9525">
            <a:solidFill>
              <a:srgbClr val="1F1F2A"/>
            </a:solidFill>
            <a:prstDash val="solid"/>
          </a:ln>
        </p:spPr>
      </p:sp>
      <p:sp>
        <p:nvSpPr>
          <p:cNvPr id="12" name="Shape 10"/>
          <p:cNvSpPr/>
          <p:nvPr/>
        </p:nvSpPr>
        <p:spPr>
          <a:xfrm>
            <a:off x="3403854" y="2295144"/>
            <a:ext cx="2599182" cy="36576"/>
          </a:xfrm>
          <a:prstGeom prst="rect">
            <a:avLst/>
          </a:prstGeom>
          <a:solidFill>
            <a:srgbClr val="7193ED"/>
          </a:solidFill>
          <a:ln w="12700">
            <a:solidFill>
              <a:srgbClr val="7193ED"/>
            </a:solidFill>
            <a:prstDash val="solid"/>
          </a:ln>
        </p:spPr>
      </p:sp>
      <p:sp>
        <p:nvSpPr>
          <p:cNvPr id="13" name="Text 11"/>
          <p:cNvSpPr/>
          <p:nvPr/>
        </p:nvSpPr>
        <p:spPr>
          <a:xfrm>
            <a:off x="3669030" y="2514600"/>
            <a:ext cx="2068830" cy="274320"/>
          </a:xfrm>
          <a:prstGeom prst="rect">
            <a:avLst/>
          </a:prstGeom>
          <a:noFill/>
          <a:ln/>
        </p:spPr>
        <p:txBody>
          <a:bodyPr wrap="square" lIns="0" tIns="0" rIns="0" bIns="0" rtlCol="0" anchor="ctr"/>
          <a:lstStyle/>
          <a:p>
            <a:pPr indent="0" marL="0">
              <a:buNone/>
            </a:pPr>
            <a:r>
              <a:rPr lang="en-US" sz="900" spc="300" kern="0" dirty="0">
                <a:solidFill>
                  <a:srgbClr val="7193ED"/>
                </a:solidFill>
                <a:latin typeface="Helvetica Neue" pitchFamily="34" charset="0"/>
                <a:ea typeface="Helvetica Neue" pitchFamily="34" charset="-122"/>
                <a:cs typeface="Helvetica Neue" pitchFamily="34" charset="-120"/>
              </a:rPr>
              <a:t>M 1–4</a:t>
            </a:r>
            <a:endParaRPr lang="en-US" sz="900" dirty="0"/>
          </a:p>
        </p:txBody>
      </p:sp>
      <p:sp>
        <p:nvSpPr>
          <p:cNvPr id="14" name="Text 12"/>
          <p:cNvSpPr/>
          <p:nvPr/>
        </p:nvSpPr>
        <p:spPr>
          <a:xfrm>
            <a:off x="3669030" y="2788920"/>
            <a:ext cx="2068830" cy="41148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5 Design Partners</a:t>
            </a:r>
            <a:endParaRPr lang="en-US" sz="1600" dirty="0"/>
          </a:p>
        </p:txBody>
      </p:sp>
      <p:sp>
        <p:nvSpPr>
          <p:cNvPr id="15" name="Shape 13"/>
          <p:cNvSpPr/>
          <p:nvPr/>
        </p:nvSpPr>
        <p:spPr>
          <a:xfrm>
            <a:off x="3669030" y="3246120"/>
            <a:ext cx="457200" cy="0"/>
          </a:xfrm>
          <a:prstGeom prst="line">
            <a:avLst/>
          </a:prstGeom>
          <a:noFill/>
          <a:ln w="12700">
            <a:solidFill>
              <a:srgbClr val="7193ED"/>
            </a:solidFill>
            <a:prstDash val="solid"/>
          </a:ln>
        </p:spPr>
      </p:sp>
      <p:sp>
        <p:nvSpPr>
          <p:cNvPr id="16" name="Text 14"/>
          <p:cNvSpPr/>
          <p:nvPr/>
        </p:nvSpPr>
        <p:spPr>
          <a:xfrm>
            <a:off x="3669030" y="3337560"/>
            <a:ext cx="2068830" cy="82296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Paid partners across 3 archetypes: solo creator, agency, mid-market ops. $39–$299/seat.</a:t>
            </a:r>
            <a:endParaRPr lang="en-US" sz="1000" dirty="0"/>
          </a:p>
        </p:txBody>
      </p:sp>
      <p:sp>
        <p:nvSpPr>
          <p:cNvPr id="17" name="Shape 15"/>
          <p:cNvSpPr/>
          <p:nvPr/>
        </p:nvSpPr>
        <p:spPr>
          <a:xfrm>
            <a:off x="6149340" y="2286000"/>
            <a:ext cx="2617470" cy="2011680"/>
          </a:xfrm>
          <a:prstGeom prst="roundRect">
            <a:avLst>
              <a:gd name="adj" fmla="val 3636"/>
            </a:avLst>
          </a:prstGeom>
          <a:solidFill>
            <a:srgbClr val="101018"/>
          </a:solidFill>
          <a:ln w="9525">
            <a:solidFill>
              <a:srgbClr val="1F1F2A"/>
            </a:solidFill>
            <a:prstDash val="solid"/>
          </a:ln>
        </p:spPr>
      </p:sp>
      <p:sp>
        <p:nvSpPr>
          <p:cNvPr id="18" name="Shape 16"/>
          <p:cNvSpPr/>
          <p:nvPr/>
        </p:nvSpPr>
        <p:spPr>
          <a:xfrm>
            <a:off x="6158484" y="2295144"/>
            <a:ext cx="2599182" cy="36576"/>
          </a:xfrm>
          <a:prstGeom prst="rect">
            <a:avLst/>
          </a:prstGeom>
          <a:solidFill>
            <a:srgbClr val="BF9FF1"/>
          </a:solidFill>
          <a:ln w="12700">
            <a:solidFill>
              <a:srgbClr val="BF9FF1"/>
            </a:solidFill>
            <a:prstDash val="solid"/>
          </a:ln>
        </p:spPr>
      </p:sp>
      <p:sp>
        <p:nvSpPr>
          <p:cNvPr id="19" name="Text 17"/>
          <p:cNvSpPr/>
          <p:nvPr/>
        </p:nvSpPr>
        <p:spPr>
          <a:xfrm>
            <a:off x="6423660" y="2514600"/>
            <a:ext cx="2068830" cy="274320"/>
          </a:xfrm>
          <a:prstGeom prst="rect">
            <a:avLst/>
          </a:prstGeom>
          <a:noFill/>
          <a:ln/>
        </p:spPr>
        <p:txBody>
          <a:bodyPr wrap="square" lIns="0" tIns="0" rIns="0" bIns="0" rtlCol="0" anchor="ctr"/>
          <a:lstStyle/>
          <a:p>
            <a:pPr indent="0" marL="0">
              <a:buNone/>
            </a:pPr>
            <a:r>
              <a:rPr lang="en-US" sz="900" spc="300" kern="0" dirty="0">
                <a:solidFill>
                  <a:srgbClr val="BF9FF1"/>
                </a:solidFill>
                <a:latin typeface="Helvetica Neue" pitchFamily="34" charset="0"/>
                <a:ea typeface="Helvetica Neue" pitchFamily="34" charset="-122"/>
                <a:cs typeface="Helvetica Neue" pitchFamily="34" charset="-120"/>
              </a:rPr>
              <a:t>M 4–8</a:t>
            </a:r>
            <a:endParaRPr lang="en-US" sz="900" dirty="0"/>
          </a:p>
        </p:txBody>
      </p:sp>
      <p:sp>
        <p:nvSpPr>
          <p:cNvPr id="20" name="Text 18"/>
          <p:cNvSpPr/>
          <p:nvPr/>
        </p:nvSpPr>
        <p:spPr>
          <a:xfrm>
            <a:off x="6423660" y="2788920"/>
            <a:ext cx="2068830" cy="41148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BYOK Public Beta</a:t>
            </a:r>
            <a:endParaRPr lang="en-US" sz="1600" dirty="0"/>
          </a:p>
        </p:txBody>
      </p:sp>
      <p:sp>
        <p:nvSpPr>
          <p:cNvPr id="21" name="Shape 19"/>
          <p:cNvSpPr/>
          <p:nvPr/>
        </p:nvSpPr>
        <p:spPr>
          <a:xfrm>
            <a:off x="6423660" y="3246120"/>
            <a:ext cx="457200" cy="0"/>
          </a:xfrm>
          <a:prstGeom prst="line">
            <a:avLst/>
          </a:prstGeom>
          <a:noFill/>
          <a:ln w="12700">
            <a:solidFill>
              <a:srgbClr val="BF9FF1"/>
            </a:solidFill>
            <a:prstDash val="solid"/>
          </a:ln>
        </p:spPr>
      </p:sp>
      <p:sp>
        <p:nvSpPr>
          <p:cNvPr id="22" name="Text 20"/>
          <p:cNvSpPr/>
          <p:nvPr/>
        </p:nvSpPr>
        <p:spPr>
          <a:xfrm>
            <a:off x="6423660" y="3337560"/>
            <a:ext cx="2068830" cy="82296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Users bring own Anthropic key. Eliminates AI cost risk. Self-selects sophisticated early adopters.</a:t>
            </a:r>
            <a:endParaRPr lang="en-US" sz="1000" dirty="0"/>
          </a:p>
        </p:txBody>
      </p:sp>
      <p:sp>
        <p:nvSpPr>
          <p:cNvPr id="23" name="Shape 21"/>
          <p:cNvSpPr/>
          <p:nvPr/>
        </p:nvSpPr>
        <p:spPr>
          <a:xfrm>
            <a:off x="8903970" y="2286000"/>
            <a:ext cx="2617470" cy="2011680"/>
          </a:xfrm>
          <a:prstGeom prst="roundRect">
            <a:avLst>
              <a:gd name="adj" fmla="val 3636"/>
            </a:avLst>
          </a:prstGeom>
          <a:solidFill>
            <a:srgbClr val="101018"/>
          </a:solidFill>
          <a:ln w="9525">
            <a:solidFill>
              <a:srgbClr val="1F1F2A"/>
            </a:solidFill>
            <a:prstDash val="solid"/>
          </a:ln>
        </p:spPr>
      </p:sp>
      <p:sp>
        <p:nvSpPr>
          <p:cNvPr id="24" name="Shape 22"/>
          <p:cNvSpPr/>
          <p:nvPr/>
        </p:nvSpPr>
        <p:spPr>
          <a:xfrm>
            <a:off x="8913114" y="2295144"/>
            <a:ext cx="2599182" cy="36576"/>
          </a:xfrm>
          <a:prstGeom prst="rect">
            <a:avLst/>
          </a:prstGeom>
          <a:solidFill>
            <a:srgbClr val="F7C700"/>
          </a:solidFill>
          <a:ln w="12700">
            <a:solidFill>
              <a:srgbClr val="F7C700"/>
            </a:solidFill>
            <a:prstDash val="solid"/>
          </a:ln>
        </p:spPr>
      </p:sp>
      <p:sp>
        <p:nvSpPr>
          <p:cNvPr id="25" name="Text 23"/>
          <p:cNvSpPr/>
          <p:nvPr/>
        </p:nvSpPr>
        <p:spPr>
          <a:xfrm>
            <a:off x="9178290" y="2514600"/>
            <a:ext cx="2068830" cy="274320"/>
          </a:xfrm>
          <a:prstGeom prst="rect">
            <a:avLst/>
          </a:prstGeom>
          <a:noFill/>
          <a:ln/>
        </p:spPr>
        <p:txBody>
          <a:bodyPr wrap="square" lIns="0" tIns="0" rIns="0" bIns="0" rtlCol="0" anchor="ctr"/>
          <a:lstStyle/>
          <a:p>
            <a:pPr indent="0" marL="0">
              <a:buNone/>
            </a:pPr>
            <a:r>
              <a:rPr lang="en-US" sz="900" spc="300" kern="0" dirty="0">
                <a:solidFill>
                  <a:srgbClr val="F7C700"/>
                </a:solidFill>
                <a:latin typeface="Helvetica Neue" pitchFamily="34" charset="0"/>
                <a:ea typeface="Helvetica Neue" pitchFamily="34" charset="-122"/>
                <a:cs typeface="Helvetica Neue" pitchFamily="34" charset="-120"/>
              </a:rPr>
              <a:t>M 8–14</a:t>
            </a:r>
            <a:endParaRPr lang="en-US" sz="900" dirty="0"/>
          </a:p>
        </p:txBody>
      </p:sp>
      <p:sp>
        <p:nvSpPr>
          <p:cNvPr id="26" name="Text 24"/>
          <p:cNvSpPr/>
          <p:nvPr/>
        </p:nvSpPr>
        <p:spPr>
          <a:xfrm>
            <a:off x="9178290" y="2788920"/>
            <a:ext cx="2068830" cy="41148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Public Launch</a:t>
            </a:r>
            <a:endParaRPr lang="en-US" sz="1600" dirty="0"/>
          </a:p>
        </p:txBody>
      </p:sp>
      <p:sp>
        <p:nvSpPr>
          <p:cNvPr id="27" name="Shape 25"/>
          <p:cNvSpPr/>
          <p:nvPr/>
        </p:nvSpPr>
        <p:spPr>
          <a:xfrm>
            <a:off x="9178290" y="3246120"/>
            <a:ext cx="457200" cy="0"/>
          </a:xfrm>
          <a:prstGeom prst="line">
            <a:avLst/>
          </a:prstGeom>
          <a:noFill/>
          <a:ln w="12700">
            <a:solidFill>
              <a:srgbClr val="F7C700"/>
            </a:solidFill>
            <a:prstDash val="solid"/>
          </a:ln>
        </p:spPr>
      </p:sp>
      <p:sp>
        <p:nvSpPr>
          <p:cNvPr id="28" name="Text 26"/>
          <p:cNvSpPr/>
          <p:nvPr/>
        </p:nvSpPr>
        <p:spPr>
          <a:xfrm>
            <a:off x="9178290" y="3337560"/>
            <a:ext cx="2068830" cy="82296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Managed AI, tiered pricing. Target: $10K MRR. Community-led growth + agency white-label distribution.</a:t>
            </a:r>
            <a:endParaRPr lang="en-US" sz="1000" dirty="0"/>
          </a:p>
        </p:txBody>
      </p:sp>
      <p:sp>
        <p:nvSpPr>
          <p:cNvPr id="29" name="Shape 27"/>
          <p:cNvSpPr/>
          <p:nvPr/>
        </p:nvSpPr>
        <p:spPr>
          <a:xfrm>
            <a:off x="640080" y="4572000"/>
            <a:ext cx="10881360" cy="1234440"/>
          </a:xfrm>
          <a:prstGeom prst="roundRect">
            <a:avLst>
              <a:gd name="adj" fmla="val 5926"/>
            </a:avLst>
          </a:prstGeom>
          <a:solidFill>
            <a:srgbClr val="14141E"/>
          </a:solidFill>
          <a:ln w="9525">
            <a:solidFill>
              <a:srgbClr val="1F1F2A"/>
            </a:solidFill>
            <a:prstDash val="solid"/>
          </a:ln>
        </p:spPr>
      </p:sp>
      <p:sp>
        <p:nvSpPr>
          <p:cNvPr id="30" name="Text 28"/>
          <p:cNvSpPr/>
          <p:nvPr/>
        </p:nvSpPr>
        <p:spPr>
          <a:xfrm>
            <a:off x="960120" y="4709160"/>
            <a:ext cx="365760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DISTRIBUTION WEDGES</a:t>
            </a:r>
            <a:endParaRPr lang="en-US" sz="800" dirty="0"/>
          </a:p>
        </p:txBody>
      </p:sp>
      <p:sp>
        <p:nvSpPr>
          <p:cNvPr id="31" name="Shape 29"/>
          <p:cNvSpPr/>
          <p:nvPr/>
        </p:nvSpPr>
        <p:spPr>
          <a:xfrm>
            <a:off x="960120" y="5029200"/>
            <a:ext cx="91440" cy="91440"/>
          </a:xfrm>
          <a:prstGeom prst="ellipse">
            <a:avLst/>
          </a:prstGeom>
          <a:solidFill>
            <a:srgbClr val="15AD70"/>
          </a:solidFill>
          <a:ln w="12700">
            <a:solidFill>
              <a:srgbClr val="15AD70"/>
            </a:solidFill>
            <a:prstDash val="solid"/>
          </a:ln>
        </p:spPr>
      </p:sp>
      <p:sp>
        <p:nvSpPr>
          <p:cNvPr id="32" name="Text 30"/>
          <p:cNvSpPr/>
          <p:nvPr/>
        </p:nvSpPr>
        <p:spPr>
          <a:xfrm>
            <a:off x="1124712" y="4956048"/>
            <a:ext cx="2286000" cy="228600"/>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White-label</a:t>
            </a:r>
            <a:endParaRPr lang="en-US" sz="1000" dirty="0"/>
          </a:p>
        </p:txBody>
      </p:sp>
      <p:sp>
        <p:nvSpPr>
          <p:cNvPr id="33" name="Text 31"/>
          <p:cNvSpPr/>
          <p:nvPr/>
        </p:nvSpPr>
        <p:spPr>
          <a:xfrm>
            <a:off x="960120" y="5212080"/>
            <a:ext cx="2423160" cy="5029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Agencies rebrand per client at $299/env/mo. Each agency = distribution channel. $43K/yr margin per 12 clients.</a:t>
            </a:r>
            <a:endParaRPr lang="en-US" sz="850" dirty="0"/>
          </a:p>
        </p:txBody>
      </p:sp>
      <p:sp>
        <p:nvSpPr>
          <p:cNvPr id="34" name="Shape 32"/>
          <p:cNvSpPr/>
          <p:nvPr/>
        </p:nvSpPr>
        <p:spPr>
          <a:xfrm>
            <a:off x="3520440" y="5029200"/>
            <a:ext cx="91440" cy="91440"/>
          </a:xfrm>
          <a:prstGeom prst="ellipse">
            <a:avLst/>
          </a:prstGeom>
          <a:solidFill>
            <a:srgbClr val="7193ED"/>
          </a:solidFill>
          <a:ln w="12700">
            <a:solidFill>
              <a:srgbClr val="7193ED"/>
            </a:solidFill>
            <a:prstDash val="solid"/>
          </a:ln>
        </p:spPr>
      </p:sp>
      <p:sp>
        <p:nvSpPr>
          <p:cNvPr id="35" name="Text 33"/>
          <p:cNvSpPr/>
          <p:nvPr/>
        </p:nvSpPr>
        <p:spPr>
          <a:xfrm>
            <a:off x="3685032" y="4956048"/>
            <a:ext cx="2286000" cy="228600"/>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Content</a:t>
            </a:r>
            <a:endParaRPr lang="en-US" sz="1000" dirty="0"/>
          </a:p>
        </p:txBody>
      </p:sp>
      <p:sp>
        <p:nvSpPr>
          <p:cNvPr id="36" name="Text 34"/>
          <p:cNvSpPr/>
          <p:nvPr/>
        </p:nvSpPr>
        <p:spPr>
          <a:xfrm>
            <a:off x="3520440" y="5212080"/>
            <a:ext cx="2423160" cy="5029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1M monthly video views. 10K newsletter subscribers. Nicole builds audience and product simultaneously.</a:t>
            </a:r>
            <a:endParaRPr lang="en-US" sz="850" dirty="0"/>
          </a:p>
        </p:txBody>
      </p:sp>
      <p:sp>
        <p:nvSpPr>
          <p:cNvPr id="37" name="Shape 35"/>
          <p:cNvSpPr/>
          <p:nvPr/>
        </p:nvSpPr>
        <p:spPr>
          <a:xfrm>
            <a:off x="6080760" y="5029200"/>
            <a:ext cx="91440" cy="91440"/>
          </a:xfrm>
          <a:prstGeom prst="ellipse">
            <a:avLst/>
          </a:prstGeom>
          <a:solidFill>
            <a:srgbClr val="BF9FF1"/>
          </a:solidFill>
          <a:ln w="12700">
            <a:solidFill>
              <a:srgbClr val="BF9FF1"/>
            </a:solidFill>
            <a:prstDash val="solid"/>
          </a:ln>
        </p:spPr>
      </p:sp>
      <p:sp>
        <p:nvSpPr>
          <p:cNvPr id="38" name="Text 36"/>
          <p:cNvSpPr/>
          <p:nvPr/>
        </p:nvSpPr>
        <p:spPr>
          <a:xfrm>
            <a:off x="6245352" y="4956048"/>
            <a:ext cx="2286000" cy="228600"/>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BYOK</a:t>
            </a:r>
            <a:endParaRPr lang="en-US" sz="1000" dirty="0"/>
          </a:p>
        </p:txBody>
      </p:sp>
      <p:sp>
        <p:nvSpPr>
          <p:cNvPr id="39" name="Text 37"/>
          <p:cNvSpPr/>
          <p:nvPr/>
        </p:nvSpPr>
        <p:spPr>
          <a:xfrm>
            <a:off x="6080760" y="5212080"/>
            <a:ext cx="2423160" cy="5029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Bring Your Own Key self-selects AI-native early adopters. Organic word-of-mouth in technical communities.</a:t>
            </a:r>
            <a:endParaRPr lang="en-US" sz="850" dirty="0"/>
          </a:p>
        </p:txBody>
      </p:sp>
      <p:sp>
        <p:nvSpPr>
          <p:cNvPr id="40" name="Shape 38"/>
          <p:cNvSpPr/>
          <p:nvPr/>
        </p:nvSpPr>
        <p:spPr>
          <a:xfrm>
            <a:off x="8641080" y="5029200"/>
            <a:ext cx="91440" cy="91440"/>
          </a:xfrm>
          <a:prstGeom prst="ellipse">
            <a:avLst/>
          </a:prstGeom>
          <a:solidFill>
            <a:srgbClr val="F7C700"/>
          </a:solidFill>
          <a:ln w="12700">
            <a:solidFill>
              <a:srgbClr val="F7C700"/>
            </a:solidFill>
            <a:prstDash val="solid"/>
          </a:ln>
        </p:spPr>
      </p:sp>
      <p:sp>
        <p:nvSpPr>
          <p:cNvPr id="41" name="Text 39"/>
          <p:cNvSpPr/>
          <p:nvPr/>
        </p:nvSpPr>
        <p:spPr>
          <a:xfrm>
            <a:off x="8805672" y="4956048"/>
            <a:ext cx="2286000" cy="228600"/>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Templates</a:t>
            </a:r>
            <a:endParaRPr lang="en-US" sz="1000" dirty="0"/>
          </a:p>
        </p:txBody>
      </p:sp>
      <p:sp>
        <p:nvSpPr>
          <p:cNvPr id="42" name="Text 40"/>
          <p:cNvSpPr/>
          <p:nvPr/>
        </p:nvSpPr>
        <p:spPr>
          <a:xfrm>
            <a:off x="8641080" y="5212080"/>
            <a:ext cx="2423160" cy="502920"/>
          </a:xfrm>
          <a:prstGeom prst="rect">
            <a:avLst/>
          </a:prstGeom>
          <a:noFill/>
          <a:ln/>
        </p:spPr>
        <p:txBody>
          <a:bodyPr wrap="square" lIns="0" tIns="0" rIns="0" bIns="0" rtlCol="0" anchor="ctr"/>
          <a:lstStyle/>
          <a:p>
            <a:pPr indent="0" marL="0">
              <a:buNone/>
            </a:pPr>
            <a:r>
              <a:rPr lang="en-US" sz="850" dirty="0">
                <a:solidFill>
                  <a:srgbClr val="60606A"/>
                </a:solidFill>
                <a:latin typeface="Helvetica Neue" pitchFamily="34" charset="0"/>
                <a:ea typeface="Helvetica Neue" pitchFamily="34" charset="-122"/>
                <a:cs typeface="Helvetica Neue" pitchFamily="34" charset="-120"/>
              </a:rPr>
              <a:t>Notion marketplace experience. Template-to-platform pipeline converts free users to paid.</a:t>
            </a:r>
            <a:endParaRPr lang="en-US" sz="850" dirty="0"/>
          </a:p>
        </p:txBody>
      </p:sp>
      <p:sp>
        <p:nvSpPr>
          <p:cNvPr id="43" name="Shape 41"/>
          <p:cNvSpPr/>
          <p:nvPr/>
        </p:nvSpPr>
        <p:spPr>
          <a:xfrm>
            <a:off x="640080" y="6419088"/>
            <a:ext cx="10881360" cy="0"/>
          </a:xfrm>
          <a:prstGeom prst="line">
            <a:avLst/>
          </a:prstGeom>
          <a:noFill/>
          <a:ln w="6350">
            <a:solidFill>
              <a:srgbClr val="181822"/>
            </a:solidFill>
            <a:prstDash val="solid"/>
          </a:ln>
        </p:spPr>
      </p:sp>
      <p:sp>
        <p:nvSpPr>
          <p:cNvPr id="44" name="Text 42"/>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45" name="Text 43"/>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10 / 15</a:t>
            </a:r>
            <a:endParaRPr lang="en-US" sz="800" dirty="0"/>
          </a:p>
        </p:txBody>
      </p:sp>
      <p:sp>
        <p:nvSpPr>
          <p:cNvPr id="46" name="Text 44"/>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MARKET</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2800" dirty="0">
                <a:solidFill>
                  <a:srgbClr val="FFFFFF"/>
                </a:solidFill>
                <a:latin typeface="Helvetica Neue" pitchFamily="34" charset="0"/>
                <a:ea typeface="Helvetica Neue" pitchFamily="34" charset="-122"/>
                <a:cs typeface="Helvetica Neue" pitchFamily="34" charset="-120"/>
              </a:rPr>
              <a:t>We are not sizing the SaaS market.</a:t>
            </a:r>
            <a:endParaRPr lang="en-US" sz="2800" dirty="0"/>
          </a:p>
        </p:txBody>
      </p:sp>
      <p:sp>
        <p:nvSpPr>
          <p:cNvPr id="4" name="Text 2"/>
          <p:cNvSpPr/>
          <p:nvPr/>
        </p:nvSpPr>
        <p:spPr>
          <a:xfrm>
            <a:off x="640080" y="1508760"/>
            <a:ext cx="10881360" cy="640080"/>
          </a:xfrm>
          <a:prstGeom prst="rect">
            <a:avLst/>
          </a:prstGeom>
          <a:noFill/>
          <a:ln/>
        </p:spPr>
        <p:txBody>
          <a:bodyPr wrap="square" lIns="0" tIns="0" rIns="0" bIns="0" rtlCol="0" anchor="ctr"/>
          <a:lstStyle/>
          <a:p>
            <a:pPr indent="0" marL="0">
              <a:buNone/>
            </a:pPr>
            <a:r>
              <a:rPr lang="en-US" sz="2200" dirty="0">
                <a:solidFill>
                  <a:srgbClr val="15AD70"/>
                </a:solidFill>
                <a:latin typeface="Helvetica Neue" pitchFamily="34" charset="0"/>
                <a:ea typeface="Helvetica Neue" pitchFamily="34" charset="-122"/>
                <a:cs typeface="Helvetica Neue" pitchFamily="34" charset="-120"/>
              </a:rPr>
              <a:t>We are sizing the labor budget we replace.</a:t>
            </a:r>
            <a:endParaRPr lang="en-US" sz="2200" dirty="0"/>
          </a:p>
        </p:txBody>
      </p:sp>
      <p:sp>
        <p:nvSpPr>
          <p:cNvPr id="5" name="Shape 3"/>
          <p:cNvSpPr/>
          <p:nvPr/>
        </p:nvSpPr>
        <p:spPr>
          <a:xfrm>
            <a:off x="640080" y="2514600"/>
            <a:ext cx="3474720" cy="3108960"/>
          </a:xfrm>
          <a:prstGeom prst="roundRect">
            <a:avLst>
              <a:gd name="adj" fmla="val 2353"/>
            </a:avLst>
          </a:prstGeom>
          <a:solidFill>
            <a:srgbClr val="101018"/>
          </a:solidFill>
          <a:ln w="9525">
            <a:solidFill>
              <a:srgbClr val="1F1F2A"/>
            </a:solidFill>
            <a:prstDash val="solid"/>
          </a:ln>
        </p:spPr>
      </p:sp>
      <p:sp>
        <p:nvSpPr>
          <p:cNvPr id="6" name="Text 4"/>
          <p:cNvSpPr/>
          <p:nvPr/>
        </p:nvSpPr>
        <p:spPr>
          <a:xfrm>
            <a:off x="1005840" y="2834640"/>
            <a:ext cx="274320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TAM</a:t>
            </a:r>
            <a:endParaRPr lang="en-US" sz="900" dirty="0"/>
          </a:p>
        </p:txBody>
      </p:sp>
      <p:sp>
        <p:nvSpPr>
          <p:cNvPr id="7" name="Text 5"/>
          <p:cNvSpPr/>
          <p:nvPr/>
        </p:nvSpPr>
        <p:spPr>
          <a:xfrm>
            <a:off x="1005840" y="3108960"/>
            <a:ext cx="2743200" cy="274320"/>
          </a:xfrm>
          <a:prstGeom prst="rect">
            <a:avLst/>
          </a:prstGeom>
          <a:noFill/>
          <a:ln/>
        </p:spPr>
        <p:txBody>
          <a:bodyPr wrap="square" lIns="0" tIns="0" rIns="0" bIns="0" rtlCol="0" anchor="ctr"/>
          <a:lstStyle/>
          <a:p>
            <a:pPr indent="0" marL="0">
              <a:buNone/>
            </a:pPr>
            <a:r>
              <a:rPr lang="en-US" sz="1000" dirty="0">
                <a:solidFill>
                  <a:srgbClr val="60606A"/>
                </a:solidFill>
                <a:latin typeface="Helvetica Neue" pitchFamily="34" charset="0"/>
                <a:ea typeface="Helvetica Neue" pitchFamily="34" charset="-122"/>
                <a:cs typeface="Helvetica Neue" pitchFamily="34" charset="-120"/>
              </a:rPr>
              <a:t>Global coordination labor</a:t>
            </a:r>
            <a:endParaRPr lang="en-US" sz="1000" dirty="0"/>
          </a:p>
        </p:txBody>
      </p:sp>
      <p:sp>
        <p:nvSpPr>
          <p:cNvPr id="8" name="Text 6"/>
          <p:cNvSpPr/>
          <p:nvPr/>
        </p:nvSpPr>
        <p:spPr>
          <a:xfrm>
            <a:off x="1005840" y="3566160"/>
            <a:ext cx="2743200" cy="1188720"/>
          </a:xfrm>
          <a:prstGeom prst="rect">
            <a:avLst/>
          </a:prstGeom>
          <a:noFill/>
          <a:ln/>
        </p:spPr>
        <p:txBody>
          <a:bodyPr wrap="square" lIns="0" tIns="0" rIns="0" bIns="0" rtlCol="0" anchor="ctr"/>
          <a:lstStyle/>
          <a:p>
            <a:pPr indent="0" marL="0">
              <a:buNone/>
            </a:pPr>
            <a:r>
              <a:rPr lang="en-US" sz="5600" dirty="0">
                <a:solidFill>
                  <a:srgbClr val="FFFFFF"/>
                </a:solidFill>
                <a:latin typeface="Helvetica Neue" pitchFamily="34" charset="0"/>
                <a:ea typeface="Helvetica Neue" pitchFamily="34" charset="-122"/>
                <a:cs typeface="Helvetica Neue" pitchFamily="34" charset="-120"/>
              </a:rPr>
              <a:t>$2.1T</a:t>
            </a:r>
            <a:endParaRPr lang="en-US" sz="5600" dirty="0"/>
          </a:p>
        </p:txBody>
      </p:sp>
      <p:sp>
        <p:nvSpPr>
          <p:cNvPr id="9" name="Shape 7"/>
          <p:cNvSpPr/>
          <p:nvPr/>
        </p:nvSpPr>
        <p:spPr>
          <a:xfrm>
            <a:off x="1005840" y="4709160"/>
            <a:ext cx="731520" cy="0"/>
          </a:xfrm>
          <a:prstGeom prst="line">
            <a:avLst/>
          </a:prstGeom>
          <a:noFill/>
          <a:ln w="12700">
            <a:solidFill>
              <a:srgbClr val="15AD70"/>
            </a:solidFill>
            <a:prstDash val="solid"/>
          </a:ln>
        </p:spPr>
      </p:sp>
      <p:sp>
        <p:nvSpPr>
          <p:cNvPr id="10" name="Text 8"/>
          <p:cNvSpPr/>
          <p:nvPr/>
        </p:nvSpPr>
        <p:spPr>
          <a:xfrm>
            <a:off x="1005840" y="4846320"/>
            <a:ext cx="2743200" cy="77724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PMs, ops, content, social — annual salary spend across all knowledge orgs</a:t>
            </a:r>
            <a:endParaRPr lang="en-US" sz="1000" dirty="0"/>
          </a:p>
        </p:txBody>
      </p:sp>
      <p:sp>
        <p:nvSpPr>
          <p:cNvPr id="11" name="Shape 9"/>
          <p:cNvSpPr/>
          <p:nvPr/>
        </p:nvSpPr>
        <p:spPr>
          <a:xfrm>
            <a:off x="4343400" y="2514600"/>
            <a:ext cx="3474720" cy="3108960"/>
          </a:xfrm>
          <a:prstGeom prst="roundRect">
            <a:avLst>
              <a:gd name="adj" fmla="val 2353"/>
            </a:avLst>
          </a:prstGeom>
          <a:solidFill>
            <a:srgbClr val="101018"/>
          </a:solidFill>
          <a:ln w="9525">
            <a:solidFill>
              <a:srgbClr val="1F1F2A"/>
            </a:solidFill>
            <a:prstDash val="solid"/>
          </a:ln>
        </p:spPr>
      </p:sp>
      <p:sp>
        <p:nvSpPr>
          <p:cNvPr id="12" name="Text 10"/>
          <p:cNvSpPr/>
          <p:nvPr/>
        </p:nvSpPr>
        <p:spPr>
          <a:xfrm>
            <a:off x="4709160" y="2834640"/>
            <a:ext cx="2743200" cy="274320"/>
          </a:xfrm>
          <a:prstGeom prst="rect">
            <a:avLst/>
          </a:prstGeom>
          <a:noFill/>
          <a:ln/>
        </p:spPr>
        <p:txBody>
          <a:bodyPr wrap="square" lIns="0" tIns="0" rIns="0" bIns="0" rtlCol="0" anchor="ctr"/>
          <a:lstStyle/>
          <a:p>
            <a:pPr indent="0" marL="0">
              <a:buNone/>
            </a:pPr>
            <a:r>
              <a:rPr lang="en-US" sz="900" spc="400" kern="0" dirty="0">
                <a:solidFill>
                  <a:srgbClr val="7193ED"/>
                </a:solidFill>
                <a:latin typeface="Helvetica Neue" pitchFamily="34" charset="0"/>
                <a:ea typeface="Helvetica Neue" pitchFamily="34" charset="-122"/>
                <a:cs typeface="Helvetica Neue" pitchFamily="34" charset="-120"/>
              </a:rPr>
              <a:t>SAM</a:t>
            </a:r>
            <a:endParaRPr lang="en-US" sz="900" dirty="0"/>
          </a:p>
        </p:txBody>
      </p:sp>
      <p:sp>
        <p:nvSpPr>
          <p:cNvPr id="13" name="Text 11"/>
          <p:cNvSpPr/>
          <p:nvPr/>
        </p:nvSpPr>
        <p:spPr>
          <a:xfrm>
            <a:off x="4709160" y="3108960"/>
            <a:ext cx="2743200" cy="274320"/>
          </a:xfrm>
          <a:prstGeom prst="rect">
            <a:avLst/>
          </a:prstGeom>
          <a:noFill/>
          <a:ln/>
        </p:spPr>
        <p:txBody>
          <a:bodyPr wrap="square" lIns="0" tIns="0" rIns="0" bIns="0" rtlCol="0" anchor="ctr"/>
          <a:lstStyle/>
          <a:p>
            <a:pPr indent="0" marL="0">
              <a:buNone/>
            </a:pPr>
            <a:r>
              <a:rPr lang="en-US" sz="1000" dirty="0">
                <a:solidFill>
                  <a:srgbClr val="60606A"/>
                </a:solidFill>
                <a:latin typeface="Helvetica Neue" pitchFamily="34" charset="0"/>
                <a:ea typeface="Helvetica Neue" pitchFamily="34" charset="-122"/>
                <a:cs typeface="Helvetica Neue" pitchFamily="34" charset="-120"/>
              </a:rPr>
              <a:t>English-speaking SMB + mid-mkt</a:t>
            </a:r>
            <a:endParaRPr lang="en-US" sz="1000" dirty="0"/>
          </a:p>
        </p:txBody>
      </p:sp>
      <p:sp>
        <p:nvSpPr>
          <p:cNvPr id="14" name="Text 12"/>
          <p:cNvSpPr/>
          <p:nvPr/>
        </p:nvSpPr>
        <p:spPr>
          <a:xfrm>
            <a:off x="4709160" y="3566160"/>
            <a:ext cx="2743200" cy="1188720"/>
          </a:xfrm>
          <a:prstGeom prst="rect">
            <a:avLst/>
          </a:prstGeom>
          <a:noFill/>
          <a:ln/>
        </p:spPr>
        <p:txBody>
          <a:bodyPr wrap="square" lIns="0" tIns="0" rIns="0" bIns="0" rtlCol="0" anchor="ctr"/>
          <a:lstStyle/>
          <a:p>
            <a:pPr indent="0" marL="0">
              <a:buNone/>
            </a:pPr>
            <a:r>
              <a:rPr lang="en-US" sz="5600" dirty="0">
                <a:solidFill>
                  <a:srgbClr val="FFFFFF"/>
                </a:solidFill>
                <a:latin typeface="Helvetica Neue" pitchFamily="34" charset="0"/>
                <a:ea typeface="Helvetica Neue" pitchFamily="34" charset="-122"/>
                <a:cs typeface="Helvetica Neue" pitchFamily="34" charset="-120"/>
              </a:rPr>
              <a:t>$310B</a:t>
            </a:r>
            <a:endParaRPr lang="en-US" sz="5600" dirty="0"/>
          </a:p>
        </p:txBody>
      </p:sp>
      <p:sp>
        <p:nvSpPr>
          <p:cNvPr id="15" name="Shape 13"/>
          <p:cNvSpPr/>
          <p:nvPr/>
        </p:nvSpPr>
        <p:spPr>
          <a:xfrm>
            <a:off x="4709160" y="4709160"/>
            <a:ext cx="731520" cy="0"/>
          </a:xfrm>
          <a:prstGeom prst="line">
            <a:avLst/>
          </a:prstGeom>
          <a:noFill/>
          <a:ln w="12700">
            <a:solidFill>
              <a:srgbClr val="7193ED"/>
            </a:solidFill>
            <a:prstDash val="solid"/>
          </a:ln>
        </p:spPr>
      </p:sp>
      <p:sp>
        <p:nvSpPr>
          <p:cNvPr id="16" name="Text 14"/>
          <p:cNvSpPr/>
          <p:nvPr/>
        </p:nvSpPr>
        <p:spPr>
          <a:xfrm>
            <a:off x="4709160" y="4846320"/>
            <a:ext cx="2743200" cy="77724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Companies 10–500 where a single founder can buy without procurement</a:t>
            </a:r>
            <a:endParaRPr lang="en-US" sz="1000" dirty="0"/>
          </a:p>
        </p:txBody>
      </p:sp>
      <p:sp>
        <p:nvSpPr>
          <p:cNvPr id="17" name="Shape 15"/>
          <p:cNvSpPr/>
          <p:nvPr/>
        </p:nvSpPr>
        <p:spPr>
          <a:xfrm>
            <a:off x="8046720" y="2514600"/>
            <a:ext cx="3474720" cy="3108960"/>
          </a:xfrm>
          <a:prstGeom prst="roundRect">
            <a:avLst>
              <a:gd name="adj" fmla="val 2353"/>
            </a:avLst>
          </a:prstGeom>
          <a:solidFill>
            <a:srgbClr val="101018"/>
          </a:solidFill>
          <a:ln w="9525">
            <a:solidFill>
              <a:srgbClr val="1F1F2A"/>
            </a:solidFill>
            <a:prstDash val="solid"/>
          </a:ln>
        </p:spPr>
      </p:sp>
      <p:sp>
        <p:nvSpPr>
          <p:cNvPr id="18" name="Text 16"/>
          <p:cNvSpPr/>
          <p:nvPr/>
        </p:nvSpPr>
        <p:spPr>
          <a:xfrm>
            <a:off x="8412480" y="2834640"/>
            <a:ext cx="2743200" cy="274320"/>
          </a:xfrm>
          <a:prstGeom prst="rect">
            <a:avLst/>
          </a:prstGeom>
          <a:noFill/>
          <a:ln/>
        </p:spPr>
        <p:txBody>
          <a:bodyPr wrap="square" lIns="0" tIns="0" rIns="0" bIns="0" rtlCol="0" anchor="ctr"/>
          <a:lstStyle/>
          <a:p>
            <a:pPr indent="0" marL="0">
              <a:buNone/>
            </a:pPr>
            <a:r>
              <a:rPr lang="en-US" sz="900" spc="400" kern="0" dirty="0">
                <a:solidFill>
                  <a:srgbClr val="BF9FF1"/>
                </a:solidFill>
                <a:latin typeface="Helvetica Neue" pitchFamily="34" charset="0"/>
                <a:ea typeface="Helvetica Neue" pitchFamily="34" charset="-122"/>
                <a:cs typeface="Helvetica Neue" pitchFamily="34" charset="-120"/>
              </a:rPr>
              <a:t>SOM</a:t>
            </a:r>
            <a:endParaRPr lang="en-US" sz="900" dirty="0"/>
          </a:p>
        </p:txBody>
      </p:sp>
      <p:sp>
        <p:nvSpPr>
          <p:cNvPr id="19" name="Text 17"/>
          <p:cNvSpPr/>
          <p:nvPr/>
        </p:nvSpPr>
        <p:spPr>
          <a:xfrm>
            <a:off x="8412480" y="3108960"/>
            <a:ext cx="2743200" cy="274320"/>
          </a:xfrm>
          <a:prstGeom prst="rect">
            <a:avLst/>
          </a:prstGeom>
          <a:noFill/>
          <a:ln/>
        </p:spPr>
        <p:txBody>
          <a:bodyPr wrap="square" lIns="0" tIns="0" rIns="0" bIns="0" rtlCol="0" anchor="ctr"/>
          <a:lstStyle/>
          <a:p>
            <a:pPr indent="0" marL="0">
              <a:buNone/>
            </a:pPr>
            <a:r>
              <a:rPr lang="en-US" sz="1000" dirty="0">
                <a:solidFill>
                  <a:srgbClr val="60606A"/>
                </a:solidFill>
                <a:latin typeface="Helvetica Neue" pitchFamily="34" charset="0"/>
                <a:ea typeface="Helvetica Neue" pitchFamily="34" charset="-122"/>
                <a:cs typeface="Helvetica Neue" pitchFamily="34" charset="-120"/>
              </a:rPr>
              <a:t>5-year capturable</a:t>
            </a:r>
            <a:endParaRPr lang="en-US" sz="1000" dirty="0"/>
          </a:p>
        </p:txBody>
      </p:sp>
      <p:sp>
        <p:nvSpPr>
          <p:cNvPr id="20" name="Text 18"/>
          <p:cNvSpPr/>
          <p:nvPr/>
        </p:nvSpPr>
        <p:spPr>
          <a:xfrm>
            <a:off x="8412480" y="3566160"/>
            <a:ext cx="2743200" cy="1188720"/>
          </a:xfrm>
          <a:prstGeom prst="rect">
            <a:avLst/>
          </a:prstGeom>
          <a:noFill/>
          <a:ln/>
        </p:spPr>
        <p:txBody>
          <a:bodyPr wrap="square" lIns="0" tIns="0" rIns="0" bIns="0" rtlCol="0" anchor="ctr"/>
          <a:lstStyle/>
          <a:p>
            <a:pPr indent="0" marL="0">
              <a:buNone/>
            </a:pPr>
            <a:r>
              <a:rPr lang="en-US" sz="5600" dirty="0">
                <a:solidFill>
                  <a:srgbClr val="FFFFFF"/>
                </a:solidFill>
                <a:latin typeface="Helvetica Neue" pitchFamily="34" charset="0"/>
                <a:ea typeface="Helvetica Neue" pitchFamily="34" charset="-122"/>
                <a:cs typeface="Helvetica Neue" pitchFamily="34" charset="-120"/>
              </a:rPr>
              <a:t>$180M</a:t>
            </a:r>
            <a:endParaRPr lang="en-US" sz="5600" dirty="0"/>
          </a:p>
        </p:txBody>
      </p:sp>
      <p:sp>
        <p:nvSpPr>
          <p:cNvPr id="21" name="Shape 19"/>
          <p:cNvSpPr/>
          <p:nvPr/>
        </p:nvSpPr>
        <p:spPr>
          <a:xfrm>
            <a:off x="8412480" y="4709160"/>
            <a:ext cx="731520" cy="0"/>
          </a:xfrm>
          <a:prstGeom prst="line">
            <a:avLst/>
          </a:prstGeom>
          <a:noFill/>
          <a:ln w="12700">
            <a:solidFill>
              <a:srgbClr val="BF9FF1"/>
            </a:solidFill>
            <a:prstDash val="solid"/>
          </a:ln>
        </p:spPr>
      </p:sp>
      <p:sp>
        <p:nvSpPr>
          <p:cNvPr id="22" name="Text 20"/>
          <p:cNvSpPr/>
          <p:nvPr/>
        </p:nvSpPr>
        <p:spPr>
          <a:xfrm>
            <a:off x="8412480" y="4846320"/>
            <a:ext cx="2743200" cy="777240"/>
          </a:xfrm>
          <a:prstGeom prst="rect">
            <a:avLst/>
          </a:prstGeom>
          <a:noFill/>
          <a:ln/>
        </p:spPr>
        <p:txBody>
          <a:bodyPr wrap="square" lIns="0" tIns="0" rIns="0" bIns="0" rtlCol="0" anchor="ctr"/>
          <a:lstStyle/>
          <a:p>
            <a:pPr indent="0" marL="0">
              <a:buNone/>
            </a:pPr>
            <a:r>
              <a:rPr lang="en-US" sz="1000" dirty="0">
                <a:solidFill>
                  <a:srgbClr val="A0A0B0"/>
                </a:solidFill>
                <a:latin typeface="Helvetica Neue" pitchFamily="34" charset="0"/>
                <a:ea typeface="Helvetica Neue" pitchFamily="34" charset="-122"/>
                <a:cs typeface="Helvetica Neue" pitchFamily="34" charset="-120"/>
              </a:rPr>
              <a:t>18K seats × $99/mo average at 1% SAM penetration — conservative floor</a:t>
            </a:r>
            <a:endParaRPr lang="en-US" sz="1000" dirty="0"/>
          </a:p>
        </p:txBody>
      </p:sp>
      <p:sp>
        <p:nvSpPr>
          <p:cNvPr id="23" name="Text 21"/>
          <p:cNvSpPr/>
          <p:nvPr/>
        </p:nvSpPr>
        <p:spPr>
          <a:xfrm>
            <a:off x="640080" y="5897880"/>
            <a:ext cx="10881360" cy="320040"/>
          </a:xfrm>
          <a:prstGeom prst="rect">
            <a:avLst/>
          </a:prstGeom>
          <a:noFill/>
          <a:ln/>
        </p:spPr>
        <p:txBody>
          <a:bodyPr wrap="square" lIns="0" tIns="0" rIns="0" bIns="0" rtlCol="0" anchor="ctr"/>
          <a:lstStyle/>
          <a:p>
            <a:pPr indent="0" marL="0">
              <a:buNone/>
            </a:pPr>
            <a:r>
              <a:rPr lang="en-US" sz="1200" i="1" dirty="0">
                <a:solidFill>
                  <a:srgbClr val="60606A"/>
                </a:solidFill>
                <a:latin typeface="Helvetica Neue" pitchFamily="34" charset="0"/>
                <a:ea typeface="Helvetica Neue" pitchFamily="34" charset="-122"/>
                <a:cs typeface="Helvetica Neue" pitchFamily="34" charset="-120"/>
              </a:rPr>
              <a:t>The next 18 months decide whose structure the AI agent layer runs on.</a:t>
            </a:r>
            <a:endParaRPr lang="en-US" sz="1200" dirty="0"/>
          </a:p>
        </p:txBody>
      </p:sp>
      <p:sp>
        <p:nvSpPr>
          <p:cNvPr id="24" name="Shape 22"/>
          <p:cNvSpPr/>
          <p:nvPr/>
        </p:nvSpPr>
        <p:spPr>
          <a:xfrm>
            <a:off x="640080" y="6419088"/>
            <a:ext cx="10881360" cy="0"/>
          </a:xfrm>
          <a:prstGeom prst="line">
            <a:avLst/>
          </a:prstGeom>
          <a:noFill/>
          <a:ln w="6350">
            <a:solidFill>
              <a:srgbClr val="181822"/>
            </a:solidFill>
            <a:prstDash val="solid"/>
          </a:ln>
        </p:spPr>
      </p:sp>
      <p:sp>
        <p:nvSpPr>
          <p:cNvPr id="25" name="Text 23"/>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26" name="Text 24"/>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11 / 15</a:t>
            </a:r>
            <a:endParaRPr lang="en-US" sz="800" dirty="0"/>
          </a:p>
        </p:txBody>
      </p:sp>
      <p:sp>
        <p:nvSpPr>
          <p:cNvPr id="27" name="Text 25"/>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COMPETITION  ·  COMPARABLES</a:t>
            </a:r>
            <a:endParaRPr lang="en-US" sz="900" dirty="0"/>
          </a:p>
        </p:txBody>
      </p:sp>
      <p:sp>
        <p:nvSpPr>
          <p:cNvPr id="3" name="Text 1"/>
          <p:cNvSpPr/>
          <p:nvPr/>
        </p:nvSpPr>
        <p:spPr>
          <a:xfrm>
            <a:off x="640080" y="868680"/>
            <a:ext cx="10881360" cy="777240"/>
          </a:xfrm>
          <a:prstGeom prst="rect">
            <a:avLst/>
          </a:prstGeom>
          <a:noFill/>
          <a:ln/>
        </p:spPr>
        <p:txBody>
          <a:bodyPr wrap="square" lIns="0" tIns="0" rIns="0" bIns="0" rtlCol="0" anchor="ctr"/>
          <a:lstStyle/>
          <a:p>
            <a:pPr indent="0" marL="0">
              <a:buNone/>
            </a:pPr>
            <a:r>
              <a:rPr lang="en-US" sz="2800" dirty="0">
                <a:solidFill>
                  <a:srgbClr val="FFFFFF"/>
                </a:solidFill>
                <a:latin typeface="Helvetica Neue" pitchFamily="34" charset="0"/>
                <a:ea typeface="Helvetica Neue" pitchFamily="34" charset="-122"/>
                <a:cs typeface="Helvetica Neue" pitchFamily="34" charset="-120"/>
              </a:rPr>
              <a:t>Everyone is building chat. We are building structure.</a:t>
            </a:r>
            <a:endParaRPr lang="en-US" sz="2800" dirty="0"/>
          </a:p>
        </p:txBody>
      </p:sp>
      <p:sp>
        <p:nvSpPr>
          <p:cNvPr id="4" name="Shape 2"/>
          <p:cNvSpPr/>
          <p:nvPr/>
        </p:nvSpPr>
        <p:spPr>
          <a:xfrm>
            <a:off x="640080" y="1828800"/>
            <a:ext cx="5943600" cy="3749040"/>
          </a:xfrm>
          <a:prstGeom prst="roundRect">
            <a:avLst>
              <a:gd name="adj" fmla="val 1951"/>
            </a:avLst>
          </a:prstGeom>
          <a:solidFill>
            <a:srgbClr val="0C0C14"/>
          </a:solidFill>
          <a:ln w="9525">
            <a:solidFill>
              <a:srgbClr val="1F1F2A"/>
            </a:solidFill>
            <a:prstDash val="solid"/>
          </a:ln>
        </p:spPr>
      </p:sp>
      <p:sp>
        <p:nvSpPr>
          <p:cNvPr id="5" name="Shape 3"/>
          <p:cNvSpPr/>
          <p:nvPr/>
        </p:nvSpPr>
        <p:spPr>
          <a:xfrm>
            <a:off x="3611880" y="2011680"/>
            <a:ext cx="0" cy="3383280"/>
          </a:xfrm>
          <a:prstGeom prst="line">
            <a:avLst/>
          </a:prstGeom>
          <a:noFill/>
          <a:ln w="9525">
            <a:solidFill>
              <a:srgbClr val="1F1F2A"/>
            </a:solidFill>
            <a:prstDash val="solid"/>
          </a:ln>
        </p:spPr>
      </p:sp>
      <p:sp>
        <p:nvSpPr>
          <p:cNvPr id="6" name="Shape 4"/>
          <p:cNvSpPr/>
          <p:nvPr/>
        </p:nvSpPr>
        <p:spPr>
          <a:xfrm>
            <a:off x="822960" y="3703320"/>
            <a:ext cx="5577840" cy="0"/>
          </a:xfrm>
          <a:prstGeom prst="line">
            <a:avLst/>
          </a:prstGeom>
          <a:noFill/>
          <a:ln w="9525">
            <a:solidFill>
              <a:srgbClr val="1F1F2A"/>
            </a:solidFill>
            <a:prstDash val="solid"/>
          </a:ln>
        </p:spPr>
      </p:sp>
      <p:sp>
        <p:nvSpPr>
          <p:cNvPr id="7" name="Text 5"/>
          <p:cNvSpPr/>
          <p:nvPr/>
        </p:nvSpPr>
        <p:spPr>
          <a:xfrm>
            <a:off x="3703320" y="1920240"/>
            <a:ext cx="278892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STRUCTURE-FIRST →</a:t>
            </a:r>
            <a:endParaRPr lang="en-US" sz="800" dirty="0"/>
          </a:p>
        </p:txBody>
      </p:sp>
      <p:sp>
        <p:nvSpPr>
          <p:cNvPr id="8" name="Text 6"/>
          <p:cNvSpPr/>
          <p:nvPr/>
        </p:nvSpPr>
        <p:spPr>
          <a:xfrm>
            <a:off x="822960" y="1920240"/>
            <a:ext cx="278892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 CHAT-FIRST</a:t>
            </a:r>
            <a:endParaRPr lang="en-US" sz="800" dirty="0"/>
          </a:p>
        </p:txBody>
      </p:sp>
      <p:sp>
        <p:nvSpPr>
          <p:cNvPr id="9" name="Text 7"/>
          <p:cNvSpPr/>
          <p:nvPr/>
        </p:nvSpPr>
        <p:spPr>
          <a:xfrm>
            <a:off x="731520" y="2194560"/>
            <a:ext cx="137160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AI-NATIVE ↑</a:t>
            </a:r>
            <a:endParaRPr lang="en-US" sz="800" dirty="0"/>
          </a:p>
        </p:txBody>
      </p:sp>
      <p:sp>
        <p:nvSpPr>
          <p:cNvPr id="10" name="Text 8"/>
          <p:cNvSpPr/>
          <p:nvPr/>
        </p:nvSpPr>
        <p:spPr>
          <a:xfrm>
            <a:off x="731520" y="5212080"/>
            <a:ext cx="1554480" cy="22860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 TEMPLATE-OPS</a:t>
            </a:r>
            <a:endParaRPr lang="en-US" sz="800" dirty="0"/>
          </a:p>
        </p:txBody>
      </p:sp>
      <p:sp>
        <p:nvSpPr>
          <p:cNvPr id="11" name="Shape 9"/>
          <p:cNvSpPr/>
          <p:nvPr/>
        </p:nvSpPr>
        <p:spPr>
          <a:xfrm>
            <a:off x="1883664" y="2514600"/>
            <a:ext cx="128016" cy="128016"/>
          </a:xfrm>
          <a:prstGeom prst="ellipse">
            <a:avLst/>
          </a:prstGeom>
          <a:solidFill>
            <a:srgbClr val="60606A">
              <a:alpha val="60000"/>
            </a:srgbClr>
          </a:solidFill>
          <a:ln w="12700">
            <a:solidFill>
              <a:srgbClr val="60606A"/>
            </a:solidFill>
            <a:prstDash val="solid"/>
          </a:ln>
        </p:spPr>
      </p:sp>
      <p:sp>
        <p:nvSpPr>
          <p:cNvPr id="12" name="Text 10"/>
          <p:cNvSpPr/>
          <p:nvPr/>
        </p:nvSpPr>
        <p:spPr>
          <a:xfrm>
            <a:off x="2057400" y="2468880"/>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ChatGPT</a:t>
            </a:r>
            <a:endParaRPr lang="en-US" sz="900" dirty="0"/>
          </a:p>
        </p:txBody>
      </p:sp>
      <p:sp>
        <p:nvSpPr>
          <p:cNvPr id="13" name="Shape 11"/>
          <p:cNvSpPr/>
          <p:nvPr/>
        </p:nvSpPr>
        <p:spPr>
          <a:xfrm>
            <a:off x="1527048" y="2814523"/>
            <a:ext cx="128016" cy="128016"/>
          </a:xfrm>
          <a:prstGeom prst="ellipse">
            <a:avLst/>
          </a:prstGeom>
          <a:solidFill>
            <a:srgbClr val="60606A">
              <a:alpha val="60000"/>
            </a:srgbClr>
          </a:solidFill>
          <a:ln w="12700">
            <a:solidFill>
              <a:srgbClr val="60606A"/>
            </a:solidFill>
            <a:prstDash val="solid"/>
          </a:ln>
        </p:spPr>
      </p:sp>
      <p:sp>
        <p:nvSpPr>
          <p:cNvPr id="14" name="Text 12"/>
          <p:cNvSpPr/>
          <p:nvPr/>
        </p:nvSpPr>
        <p:spPr>
          <a:xfrm>
            <a:off x="1700784" y="2768803"/>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Claude</a:t>
            </a:r>
            <a:endParaRPr lang="en-US" sz="900" dirty="0"/>
          </a:p>
        </p:txBody>
      </p:sp>
      <p:sp>
        <p:nvSpPr>
          <p:cNvPr id="15" name="Shape 13"/>
          <p:cNvSpPr/>
          <p:nvPr/>
        </p:nvSpPr>
        <p:spPr>
          <a:xfrm>
            <a:off x="2656332" y="3826764"/>
            <a:ext cx="128016" cy="128016"/>
          </a:xfrm>
          <a:prstGeom prst="ellipse">
            <a:avLst/>
          </a:prstGeom>
          <a:solidFill>
            <a:srgbClr val="60606A">
              <a:alpha val="60000"/>
            </a:srgbClr>
          </a:solidFill>
          <a:ln w="12700">
            <a:solidFill>
              <a:srgbClr val="60606A"/>
            </a:solidFill>
            <a:prstDash val="solid"/>
          </a:ln>
        </p:spPr>
      </p:sp>
      <p:sp>
        <p:nvSpPr>
          <p:cNvPr id="16" name="Text 14"/>
          <p:cNvSpPr/>
          <p:nvPr/>
        </p:nvSpPr>
        <p:spPr>
          <a:xfrm>
            <a:off x="2830068" y="3781044"/>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Notion AI</a:t>
            </a:r>
            <a:endParaRPr lang="en-US" sz="900" dirty="0"/>
          </a:p>
        </p:txBody>
      </p:sp>
      <p:sp>
        <p:nvSpPr>
          <p:cNvPr id="17" name="Shape 15"/>
          <p:cNvSpPr/>
          <p:nvPr/>
        </p:nvSpPr>
        <p:spPr>
          <a:xfrm>
            <a:off x="3250692" y="3339389"/>
            <a:ext cx="128016" cy="128016"/>
          </a:xfrm>
          <a:prstGeom prst="ellipse">
            <a:avLst/>
          </a:prstGeom>
          <a:solidFill>
            <a:srgbClr val="60606A">
              <a:alpha val="60000"/>
            </a:srgbClr>
          </a:solidFill>
          <a:ln w="12700">
            <a:solidFill>
              <a:srgbClr val="60606A"/>
            </a:solidFill>
            <a:prstDash val="solid"/>
          </a:ln>
        </p:spPr>
      </p:sp>
      <p:sp>
        <p:nvSpPr>
          <p:cNvPr id="18" name="Text 16"/>
          <p:cNvSpPr/>
          <p:nvPr/>
        </p:nvSpPr>
        <p:spPr>
          <a:xfrm>
            <a:off x="3424428" y="3293669"/>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ClickUp Brain</a:t>
            </a:r>
            <a:endParaRPr lang="en-US" sz="900" dirty="0"/>
          </a:p>
        </p:txBody>
      </p:sp>
      <p:sp>
        <p:nvSpPr>
          <p:cNvPr id="19" name="Shape 17"/>
          <p:cNvSpPr/>
          <p:nvPr/>
        </p:nvSpPr>
        <p:spPr>
          <a:xfrm>
            <a:off x="4261104" y="4464101"/>
            <a:ext cx="128016" cy="128016"/>
          </a:xfrm>
          <a:prstGeom prst="ellipse">
            <a:avLst/>
          </a:prstGeom>
          <a:solidFill>
            <a:srgbClr val="60606A">
              <a:alpha val="60000"/>
            </a:srgbClr>
          </a:solidFill>
          <a:ln w="12700">
            <a:solidFill>
              <a:srgbClr val="60606A"/>
            </a:solidFill>
            <a:prstDash val="solid"/>
          </a:ln>
        </p:spPr>
      </p:sp>
      <p:sp>
        <p:nvSpPr>
          <p:cNvPr id="20" name="Text 18"/>
          <p:cNvSpPr/>
          <p:nvPr/>
        </p:nvSpPr>
        <p:spPr>
          <a:xfrm>
            <a:off x="4434840" y="4418381"/>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Monday</a:t>
            </a:r>
            <a:endParaRPr lang="en-US" sz="900" dirty="0"/>
          </a:p>
        </p:txBody>
      </p:sp>
      <p:sp>
        <p:nvSpPr>
          <p:cNvPr id="21" name="Shape 19"/>
          <p:cNvSpPr/>
          <p:nvPr/>
        </p:nvSpPr>
        <p:spPr>
          <a:xfrm>
            <a:off x="4855464" y="4689043"/>
            <a:ext cx="128016" cy="128016"/>
          </a:xfrm>
          <a:prstGeom prst="ellipse">
            <a:avLst/>
          </a:prstGeom>
          <a:solidFill>
            <a:srgbClr val="60606A">
              <a:alpha val="60000"/>
            </a:srgbClr>
          </a:solidFill>
          <a:ln w="12700">
            <a:solidFill>
              <a:srgbClr val="60606A"/>
            </a:solidFill>
            <a:prstDash val="solid"/>
          </a:ln>
        </p:spPr>
      </p:sp>
      <p:sp>
        <p:nvSpPr>
          <p:cNvPr id="22" name="Text 20"/>
          <p:cNvSpPr/>
          <p:nvPr/>
        </p:nvSpPr>
        <p:spPr>
          <a:xfrm>
            <a:off x="5029200" y="4643323"/>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Asana</a:t>
            </a:r>
            <a:endParaRPr lang="en-US" sz="900" dirty="0"/>
          </a:p>
        </p:txBody>
      </p:sp>
      <p:sp>
        <p:nvSpPr>
          <p:cNvPr id="23" name="Shape 21"/>
          <p:cNvSpPr/>
          <p:nvPr/>
        </p:nvSpPr>
        <p:spPr>
          <a:xfrm>
            <a:off x="3845052" y="4201668"/>
            <a:ext cx="128016" cy="128016"/>
          </a:xfrm>
          <a:prstGeom prst="ellipse">
            <a:avLst/>
          </a:prstGeom>
          <a:solidFill>
            <a:srgbClr val="60606A">
              <a:alpha val="60000"/>
            </a:srgbClr>
          </a:solidFill>
          <a:ln w="12700">
            <a:solidFill>
              <a:srgbClr val="60606A"/>
            </a:solidFill>
            <a:prstDash val="solid"/>
          </a:ln>
        </p:spPr>
      </p:sp>
      <p:sp>
        <p:nvSpPr>
          <p:cNvPr id="24" name="Text 22"/>
          <p:cNvSpPr/>
          <p:nvPr/>
        </p:nvSpPr>
        <p:spPr>
          <a:xfrm>
            <a:off x="4018788" y="4155948"/>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ClickUp</a:t>
            </a:r>
            <a:endParaRPr lang="en-US" sz="900" dirty="0"/>
          </a:p>
        </p:txBody>
      </p:sp>
      <p:sp>
        <p:nvSpPr>
          <p:cNvPr id="25" name="Shape 23"/>
          <p:cNvSpPr/>
          <p:nvPr/>
        </p:nvSpPr>
        <p:spPr>
          <a:xfrm>
            <a:off x="5330952" y="4014216"/>
            <a:ext cx="128016" cy="128016"/>
          </a:xfrm>
          <a:prstGeom prst="ellipse">
            <a:avLst/>
          </a:prstGeom>
          <a:solidFill>
            <a:srgbClr val="60606A">
              <a:alpha val="60000"/>
            </a:srgbClr>
          </a:solidFill>
          <a:ln w="12700">
            <a:solidFill>
              <a:srgbClr val="60606A"/>
            </a:solidFill>
            <a:prstDash val="solid"/>
          </a:ln>
        </p:spPr>
      </p:sp>
      <p:sp>
        <p:nvSpPr>
          <p:cNvPr id="26" name="Text 24"/>
          <p:cNvSpPr/>
          <p:nvPr/>
        </p:nvSpPr>
        <p:spPr>
          <a:xfrm>
            <a:off x="5504688" y="3968496"/>
            <a:ext cx="1097280" cy="22860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Linear</a:t>
            </a:r>
            <a:endParaRPr lang="en-US" sz="900" dirty="0"/>
          </a:p>
        </p:txBody>
      </p:sp>
      <p:sp>
        <p:nvSpPr>
          <p:cNvPr id="27" name="Shape 25"/>
          <p:cNvSpPr/>
          <p:nvPr/>
        </p:nvSpPr>
        <p:spPr>
          <a:xfrm>
            <a:off x="5367528" y="2357323"/>
            <a:ext cx="292608" cy="292608"/>
          </a:xfrm>
          <a:prstGeom prst="ellipse">
            <a:avLst/>
          </a:prstGeom>
          <a:solidFill>
            <a:srgbClr val="15AD70"/>
          </a:solidFill>
          <a:ln w="12700">
            <a:solidFill>
              <a:srgbClr val="15AD70"/>
            </a:solidFill>
            <a:prstDash val="solid"/>
          </a:ln>
        </p:spPr>
      </p:sp>
      <p:sp>
        <p:nvSpPr>
          <p:cNvPr id="28" name="Text 26"/>
          <p:cNvSpPr/>
          <p:nvPr/>
        </p:nvSpPr>
        <p:spPr>
          <a:xfrm>
            <a:off x="5705856" y="2393899"/>
            <a:ext cx="1097280" cy="228600"/>
          </a:xfrm>
          <a:prstGeom prst="rect">
            <a:avLst/>
          </a:prstGeom>
          <a:noFill/>
          <a:ln/>
        </p:spPr>
        <p:txBody>
          <a:bodyPr wrap="square" lIns="0" tIns="0" rIns="0" bIns="0" rtlCol="0" anchor="ctr"/>
          <a:lstStyle/>
          <a:p>
            <a:pPr indent="0" marL="0">
              <a:buNone/>
            </a:pPr>
            <a:r>
              <a:rPr lang="en-US" sz="1100" dirty="0">
                <a:solidFill>
                  <a:srgbClr val="15AD70"/>
                </a:solidFill>
                <a:latin typeface="Helvetica Neue" pitchFamily="34" charset="0"/>
                <a:ea typeface="Helvetica Neue" pitchFamily="34" charset="-122"/>
                <a:cs typeface="Helvetica Neue" pitchFamily="34" charset="-120"/>
              </a:rPr>
              <a:t>GRID</a:t>
            </a:r>
            <a:endParaRPr lang="en-US" sz="1100" dirty="0"/>
          </a:p>
        </p:txBody>
      </p:sp>
      <p:sp>
        <p:nvSpPr>
          <p:cNvPr id="29" name="Text 27"/>
          <p:cNvSpPr/>
          <p:nvPr/>
        </p:nvSpPr>
        <p:spPr>
          <a:xfrm>
            <a:off x="6858000" y="1828800"/>
            <a:ext cx="3657600" cy="274320"/>
          </a:xfrm>
          <a:prstGeom prst="rect">
            <a:avLst/>
          </a:prstGeom>
          <a:noFill/>
          <a:ln/>
        </p:spPr>
        <p:txBody>
          <a:bodyPr wrap="square" lIns="0" tIns="0" rIns="0" bIns="0" rtlCol="0" anchor="ctr"/>
          <a:lstStyle/>
          <a:p>
            <a:pPr indent="0" marL="0">
              <a:buNone/>
            </a:pPr>
            <a:r>
              <a:rPr lang="en-US" sz="900" spc="300" kern="0" dirty="0">
                <a:solidFill>
                  <a:srgbClr val="15AD70"/>
                </a:solidFill>
                <a:latin typeface="Helvetica Neue" pitchFamily="34" charset="0"/>
                <a:ea typeface="Helvetica Neue" pitchFamily="34" charset="-122"/>
                <a:cs typeface="Helvetica Neue" pitchFamily="34" charset="-120"/>
              </a:rPr>
              <a:t>WHY WE WIN</a:t>
            </a:r>
            <a:endParaRPr lang="en-US" sz="900" dirty="0"/>
          </a:p>
        </p:txBody>
      </p:sp>
      <p:sp>
        <p:nvSpPr>
          <p:cNvPr id="30" name="Shape 28"/>
          <p:cNvSpPr/>
          <p:nvPr/>
        </p:nvSpPr>
        <p:spPr>
          <a:xfrm>
            <a:off x="6858000" y="2258568"/>
            <a:ext cx="182880" cy="0"/>
          </a:xfrm>
          <a:prstGeom prst="line">
            <a:avLst/>
          </a:prstGeom>
          <a:noFill/>
          <a:ln w="19050">
            <a:solidFill>
              <a:srgbClr val="15AD70"/>
            </a:solidFill>
            <a:prstDash val="solid"/>
          </a:ln>
        </p:spPr>
      </p:sp>
      <p:sp>
        <p:nvSpPr>
          <p:cNvPr id="31" name="Text 29"/>
          <p:cNvSpPr/>
          <p:nvPr/>
        </p:nvSpPr>
        <p:spPr>
          <a:xfrm>
            <a:off x="7132320" y="2148840"/>
            <a:ext cx="4389120" cy="36576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Structure as thesis — hard-to-copy POV, not a feature</a:t>
            </a:r>
            <a:endParaRPr lang="en-US" sz="950" dirty="0"/>
          </a:p>
        </p:txBody>
      </p:sp>
      <p:sp>
        <p:nvSpPr>
          <p:cNvPr id="32" name="Shape 30"/>
          <p:cNvSpPr/>
          <p:nvPr/>
        </p:nvSpPr>
        <p:spPr>
          <a:xfrm>
            <a:off x="6858000" y="2606040"/>
            <a:ext cx="182880" cy="0"/>
          </a:xfrm>
          <a:prstGeom prst="line">
            <a:avLst/>
          </a:prstGeom>
          <a:noFill/>
          <a:ln w="19050">
            <a:solidFill>
              <a:srgbClr val="15AD70"/>
            </a:solidFill>
            <a:prstDash val="solid"/>
          </a:ln>
        </p:spPr>
      </p:sp>
      <p:sp>
        <p:nvSpPr>
          <p:cNvPr id="33" name="Text 31"/>
          <p:cNvSpPr/>
          <p:nvPr/>
        </p:nvSpPr>
        <p:spPr>
          <a:xfrm>
            <a:off x="7132320" y="2496312"/>
            <a:ext cx="4389120" cy="36576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Multi-tenant from day one — 44+ guarded routes</a:t>
            </a:r>
            <a:endParaRPr lang="en-US" sz="950" dirty="0"/>
          </a:p>
        </p:txBody>
      </p:sp>
      <p:sp>
        <p:nvSpPr>
          <p:cNvPr id="34" name="Shape 32"/>
          <p:cNvSpPr/>
          <p:nvPr/>
        </p:nvSpPr>
        <p:spPr>
          <a:xfrm>
            <a:off x="6858000" y="2953512"/>
            <a:ext cx="182880" cy="0"/>
          </a:xfrm>
          <a:prstGeom prst="line">
            <a:avLst/>
          </a:prstGeom>
          <a:noFill/>
          <a:ln w="19050">
            <a:solidFill>
              <a:srgbClr val="15AD70"/>
            </a:solidFill>
            <a:prstDash val="solid"/>
          </a:ln>
        </p:spPr>
      </p:sp>
      <p:sp>
        <p:nvSpPr>
          <p:cNvPr id="35" name="Text 33"/>
          <p:cNvSpPr/>
          <p:nvPr/>
        </p:nvSpPr>
        <p:spPr>
          <a:xfrm>
            <a:off x="7132320" y="2843784"/>
            <a:ext cx="4389120" cy="36576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Identity constraints — alignment as architecture</a:t>
            </a:r>
            <a:endParaRPr lang="en-US" sz="950" dirty="0"/>
          </a:p>
        </p:txBody>
      </p:sp>
      <p:sp>
        <p:nvSpPr>
          <p:cNvPr id="36" name="Shape 34"/>
          <p:cNvSpPr/>
          <p:nvPr/>
        </p:nvSpPr>
        <p:spPr>
          <a:xfrm>
            <a:off x="6858000" y="3300984"/>
            <a:ext cx="182880" cy="0"/>
          </a:xfrm>
          <a:prstGeom prst="line">
            <a:avLst/>
          </a:prstGeom>
          <a:noFill/>
          <a:ln w="19050">
            <a:solidFill>
              <a:srgbClr val="15AD70"/>
            </a:solidFill>
            <a:prstDash val="solid"/>
          </a:ln>
        </p:spPr>
      </p:sp>
      <p:sp>
        <p:nvSpPr>
          <p:cNvPr id="37" name="Text 35"/>
          <p:cNvSpPr/>
          <p:nvPr/>
        </p:nvSpPr>
        <p:spPr>
          <a:xfrm>
            <a:off x="7132320" y="3191256"/>
            <a:ext cx="4389120" cy="36576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White-label at seat level — agencies become channels</a:t>
            </a:r>
            <a:endParaRPr lang="en-US" sz="950" dirty="0"/>
          </a:p>
        </p:txBody>
      </p:sp>
      <p:sp>
        <p:nvSpPr>
          <p:cNvPr id="38" name="Shape 36"/>
          <p:cNvSpPr/>
          <p:nvPr/>
        </p:nvSpPr>
        <p:spPr>
          <a:xfrm>
            <a:off x="6858000" y="3648456"/>
            <a:ext cx="182880" cy="0"/>
          </a:xfrm>
          <a:prstGeom prst="line">
            <a:avLst/>
          </a:prstGeom>
          <a:noFill/>
          <a:ln w="19050">
            <a:solidFill>
              <a:srgbClr val="15AD70"/>
            </a:solidFill>
            <a:prstDash val="solid"/>
          </a:ln>
        </p:spPr>
      </p:sp>
      <p:sp>
        <p:nvSpPr>
          <p:cNvPr id="39" name="Text 37"/>
          <p:cNvSpPr/>
          <p:nvPr/>
        </p:nvSpPr>
        <p:spPr>
          <a:xfrm>
            <a:off x="7132320" y="3538728"/>
            <a:ext cx="4389120" cy="365760"/>
          </a:xfrm>
          <a:prstGeom prst="rect">
            <a:avLst/>
          </a:prstGeom>
          <a:noFill/>
          <a:ln/>
        </p:spPr>
        <p:txBody>
          <a:bodyPr wrap="square" lIns="0" tIns="0" rIns="0" bIns="0" rtlCol="0" anchor="ctr"/>
          <a:lstStyle/>
          <a:p>
            <a:pPr indent="0" marL="0">
              <a:buNone/>
            </a:pPr>
            <a:r>
              <a:rPr lang="en-US" sz="950" dirty="0">
                <a:solidFill>
                  <a:srgbClr val="A0A0B0"/>
                </a:solidFill>
                <a:latin typeface="Helvetica Neue" pitchFamily="34" charset="0"/>
                <a:ea typeface="Helvetica Neue" pitchFamily="34" charset="-122"/>
                <a:cs typeface="Helvetica Neue" pitchFamily="34" charset="-120"/>
              </a:rPr>
              <a:t>vs ClickUp Brain: chat layer on tasks. No feedback loops, no identity constraints, no cross-system reasoning.</a:t>
            </a:r>
            <a:endParaRPr lang="en-US" sz="950" dirty="0"/>
          </a:p>
        </p:txBody>
      </p:sp>
      <p:sp>
        <p:nvSpPr>
          <p:cNvPr id="40" name="Text 38"/>
          <p:cNvSpPr/>
          <p:nvPr/>
        </p:nvSpPr>
        <p:spPr>
          <a:xfrm>
            <a:off x="6858000" y="3840480"/>
            <a:ext cx="36576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THESIS COMPARABLES</a:t>
            </a:r>
            <a:endParaRPr lang="en-US" sz="800" dirty="0"/>
          </a:p>
        </p:txBody>
      </p:sp>
      <p:sp>
        <p:nvSpPr>
          <p:cNvPr id="41" name="Shape 39"/>
          <p:cNvSpPr/>
          <p:nvPr/>
        </p:nvSpPr>
        <p:spPr>
          <a:xfrm>
            <a:off x="6858000" y="4233672"/>
            <a:ext cx="73152" cy="73152"/>
          </a:xfrm>
          <a:prstGeom prst="ellipse">
            <a:avLst/>
          </a:prstGeom>
          <a:solidFill>
            <a:srgbClr val="15AD70"/>
          </a:solidFill>
          <a:ln w="12700">
            <a:solidFill>
              <a:srgbClr val="15AD70"/>
            </a:solidFill>
            <a:prstDash val="solid"/>
          </a:ln>
        </p:spPr>
      </p:sp>
      <p:sp>
        <p:nvSpPr>
          <p:cNvPr id="42" name="Text 40"/>
          <p:cNvSpPr/>
          <p:nvPr/>
        </p:nvSpPr>
        <p:spPr>
          <a:xfrm>
            <a:off x="7022592" y="4160520"/>
            <a:ext cx="420624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Stripe</a:t>
            </a:r>
            <a:pPr indent="0" marL="0">
              <a:buNone/>
            </a:pPr>
            <a:r>
              <a:rPr lang="en-US" sz="900" dirty="0">
                <a:solidFill>
                  <a:srgbClr val="15AD70"/>
                </a:solidFill>
                <a:latin typeface="Helvetica Neue" pitchFamily="34" charset="0"/>
                <a:ea typeface="Helvetica Neue" pitchFamily="34" charset="-122"/>
                <a:cs typeface="Helvetica Neue" pitchFamily="34" charset="-120"/>
              </a:rPr>
              <a:t>  $95B</a:t>
            </a:r>
            <a:endParaRPr lang="en-US" sz="1000" dirty="0"/>
          </a:p>
        </p:txBody>
      </p:sp>
      <p:sp>
        <p:nvSpPr>
          <p:cNvPr id="43" name="Text 41"/>
          <p:cNvSpPr/>
          <p:nvPr/>
        </p:nvSpPr>
        <p:spPr>
          <a:xfrm>
            <a:off x="7022592" y="4343400"/>
            <a:ext cx="420624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Structure for payments</a:t>
            </a:r>
            <a:endParaRPr lang="en-US" sz="800" dirty="0"/>
          </a:p>
        </p:txBody>
      </p:sp>
      <p:sp>
        <p:nvSpPr>
          <p:cNvPr id="44" name="Shape 42"/>
          <p:cNvSpPr/>
          <p:nvPr/>
        </p:nvSpPr>
        <p:spPr>
          <a:xfrm>
            <a:off x="6858000" y="4617720"/>
            <a:ext cx="73152" cy="73152"/>
          </a:xfrm>
          <a:prstGeom prst="ellipse">
            <a:avLst/>
          </a:prstGeom>
          <a:solidFill>
            <a:srgbClr val="7193ED"/>
          </a:solidFill>
          <a:ln w="12700">
            <a:solidFill>
              <a:srgbClr val="7193ED"/>
            </a:solidFill>
            <a:prstDash val="solid"/>
          </a:ln>
        </p:spPr>
      </p:sp>
      <p:sp>
        <p:nvSpPr>
          <p:cNvPr id="45" name="Text 43"/>
          <p:cNvSpPr/>
          <p:nvPr/>
        </p:nvSpPr>
        <p:spPr>
          <a:xfrm>
            <a:off x="7022592" y="4544568"/>
            <a:ext cx="420624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Figma</a:t>
            </a:r>
            <a:pPr indent="0" marL="0">
              <a:buNone/>
            </a:pPr>
            <a:r>
              <a:rPr lang="en-US" sz="900" dirty="0">
                <a:solidFill>
                  <a:srgbClr val="7193ED"/>
                </a:solidFill>
                <a:latin typeface="Helvetica Neue" pitchFamily="34" charset="0"/>
                <a:ea typeface="Helvetica Neue" pitchFamily="34" charset="-122"/>
                <a:cs typeface="Helvetica Neue" pitchFamily="34" charset="-120"/>
              </a:rPr>
              <a:t>  $20B</a:t>
            </a:r>
            <a:endParaRPr lang="en-US" sz="1000" dirty="0"/>
          </a:p>
        </p:txBody>
      </p:sp>
      <p:sp>
        <p:nvSpPr>
          <p:cNvPr id="46" name="Text 44"/>
          <p:cNvSpPr/>
          <p:nvPr/>
        </p:nvSpPr>
        <p:spPr>
          <a:xfrm>
            <a:off x="7022592" y="4727448"/>
            <a:ext cx="420624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Structure for design</a:t>
            </a:r>
            <a:endParaRPr lang="en-US" sz="800" dirty="0"/>
          </a:p>
        </p:txBody>
      </p:sp>
      <p:sp>
        <p:nvSpPr>
          <p:cNvPr id="47" name="Shape 45"/>
          <p:cNvSpPr/>
          <p:nvPr/>
        </p:nvSpPr>
        <p:spPr>
          <a:xfrm>
            <a:off x="6858000" y="5001768"/>
            <a:ext cx="73152" cy="73152"/>
          </a:xfrm>
          <a:prstGeom prst="ellipse">
            <a:avLst/>
          </a:prstGeom>
          <a:solidFill>
            <a:srgbClr val="BF9FF1"/>
          </a:solidFill>
          <a:ln w="12700">
            <a:solidFill>
              <a:srgbClr val="BF9FF1"/>
            </a:solidFill>
            <a:prstDash val="solid"/>
          </a:ln>
        </p:spPr>
      </p:sp>
      <p:sp>
        <p:nvSpPr>
          <p:cNvPr id="48" name="Text 46"/>
          <p:cNvSpPr/>
          <p:nvPr/>
        </p:nvSpPr>
        <p:spPr>
          <a:xfrm>
            <a:off x="7022592" y="4928616"/>
            <a:ext cx="420624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Linear</a:t>
            </a:r>
            <a:pPr indent="0" marL="0">
              <a:buNone/>
            </a:pPr>
            <a:r>
              <a:rPr lang="en-US" sz="900" dirty="0">
                <a:solidFill>
                  <a:srgbClr val="BF9FF1"/>
                </a:solidFill>
                <a:latin typeface="Helvetica Neue" pitchFamily="34" charset="0"/>
                <a:ea typeface="Helvetica Neue" pitchFamily="34" charset="-122"/>
                <a:cs typeface="Helvetica Neue" pitchFamily="34" charset="-120"/>
              </a:rPr>
              <a:t>  $400M+</a:t>
            </a:r>
            <a:endParaRPr lang="en-US" sz="1000" dirty="0"/>
          </a:p>
        </p:txBody>
      </p:sp>
      <p:sp>
        <p:nvSpPr>
          <p:cNvPr id="49" name="Text 47"/>
          <p:cNvSpPr/>
          <p:nvPr/>
        </p:nvSpPr>
        <p:spPr>
          <a:xfrm>
            <a:off x="7022592" y="5111496"/>
            <a:ext cx="420624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Structure for eng</a:t>
            </a:r>
            <a:endParaRPr lang="en-US" sz="800" dirty="0"/>
          </a:p>
        </p:txBody>
      </p:sp>
      <p:sp>
        <p:nvSpPr>
          <p:cNvPr id="50" name="Shape 48"/>
          <p:cNvSpPr/>
          <p:nvPr/>
        </p:nvSpPr>
        <p:spPr>
          <a:xfrm>
            <a:off x="6858000" y="5385816"/>
            <a:ext cx="73152" cy="73152"/>
          </a:xfrm>
          <a:prstGeom prst="ellipse">
            <a:avLst/>
          </a:prstGeom>
          <a:solidFill>
            <a:srgbClr val="F7C700"/>
          </a:solidFill>
          <a:ln w="12700">
            <a:solidFill>
              <a:srgbClr val="F7C700"/>
            </a:solidFill>
            <a:prstDash val="solid"/>
          </a:ln>
        </p:spPr>
      </p:sp>
      <p:sp>
        <p:nvSpPr>
          <p:cNvPr id="51" name="Text 49"/>
          <p:cNvSpPr/>
          <p:nvPr/>
        </p:nvSpPr>
        <p:spPr>
          <a:xfrm>
            <a:off x="7022592" y="5312664"/>
            <a:ext cx="4206240" cy="201168"/>
          </a:xfrm>
          <a:prstGeom prst="rect">
            <a:avLst/>
          </a:prstGeom>
          <a:noFill/>
          <a:ln/>
        </p:spPr>
        <p:txBody>
          <a:bodyPr wrap="square" lIns="0" tIns="0" rIns="0" bIns="0" rtlCol="0" anchor="ctr"/>
          <a:lstStyle/>
          <a:p>
            <a:pPr indent="0" marL="0">
              <a:buNone/>
            </a:pPr>
            <a:r>
              <a:rPr lang="en-US" sz="1000" dirty="0">
                <a:solidFill>
                  <a:srgbClr val="FFFFFF"/>
                </a:solidFill>
                <a:latin typeface="Helvetica Neue" pitchFamily="34" charset="0"/>
                <a:ea typeface="Helvetica Neue" pitchFamily="34" charset="-122"/>
                <a:cs typeface="Helvetica Neue" pitchFamily="34" charset="-120"/>
              </a:rPr>
              <a:t>Notion</a:t>
            </a:r>
            <a:pPr indent="0" marL="0">
              <a:buNone/>
            </a:pPr>
            <a:r>
              <a:rPr lang="en-US" sz="900" dirty="0">
                <a:solidFill>
                  <a:srgbClr val="F7C700"/>
                </a:solidFill>
                <a:latin typeface="Helvetica Neue" pitchFamily="34" charset="0"/>
                <a:ea typeface="Helvetica Neue" pitchFamily="34" charset="-122"/>
                <a:cs typeface="Helvetica Neue" pitchFamily="34" charset="-120"/>
              </a:rPr>
              <a:t>  $10B</a:t>
            </a:r>
            <a:endParaRPr lang="en-US" sz="1000" dirty="0"/>
          </a:p>
        </p:txBody>
      </p:sp>
      <p:sp>
        <p:nvSpPr>
          <p:cNvPr id="52" name="Text 50"/>
          <p:cNvSpPr/>
          <p:nvPr/>
        </p:nvSpPr>
        <p:spPr>
          <a:xfrm>
            <a:off x="7022592" y="5495544"/>
            <a:ext cx="4206240" cy="182880"/>
          </a:xfrm>
          <a:prstGeom prst="rect">
            <a:avLst/>
          </a:prstGeom>
          <a:noFill/>
          <a:ln/>
        </p:spPr>
        <p:txBody>
          <a:bodyPr wrap="square" lIns="0" tIns="0" rIns="0" bIns="0" rtlCol="0" anchor="ctr"/>
          <a:lstStyle/>
          <a:p>
            <a:pPr indent="0" marL="0">
              <a:buNone/>
            </a:pPr>
            <a:r>
              <a:rPr lang="en-US" sz="800" dirty="0">
                <a:solidFill>
                  <a:srgbClr val="60606A"/>
                </a:solidFill>
                <a:latin typeface="Helvetica Neue" pitchFamily="34" charset="0"/>
                <a:ea typeface="Helvetica Neue" pitchFamily="34" charset="-122"/>
                <a:cs typeface="Helvetica Neue" pitchFamily="34" charset="-120"/>
              </a:rPr>
              <a:t>Structure for docs</a:t>
            </a:r>
            <a:endParaRPr lang="en-US" sz="800" dirty="0"/>
          </a:p>
        </p:txBody>
      </p:sp>
      <p:sp>
        <p:nvSpPr>
          <p:cNvPr id="53" name="Text 51"/>
          <p:cNvSpPr/>
          <p:nvPr/>
        </p:nvSpPr>
        <p:spPr>
          <a:xfrm>
            <a:off x="6858000" y="5257800"/>
            <a:ext cx="4663440" cy="274320"/>
          </a:xfrm>
          <a:prstGeom prst="rect">
            <a:avLst/>
          </a:prstGeom>
          <a:noFill/>
          <a:ln/>
        </p:spPr>
        <p:txBody>
          <a:bodyPr wrap="square" lIns="0" tIns="0" rIns="0" bIns="0" rtlCol="0" anchor="ctr"/>
          <a:lstStyle/>
          <a:p>
            <a:pPr indent="0" marL="0">
              <a:buNone/>
            </a:pPr>
            <a:r>
              <a:rPr lang="en-US" sz="1000" dirty="0">
                <a:solidFill>
                  <a:srgbClr val="15AD70"/>
                </a:solidFill>
                <a:latin typeface="Helvetica Neue" pitchFamily="34" charset="0"/>
                <a:ea typeface="Helvetica Neue" pitchFamily="34" charset="-122"/>
                <a:cs typeface="Helvetica Neue" pitchFamily="34" charset="-120"/>
              </a:rPr>
              <a:t>GRID = structure for organizational intelligence.  Ask: $3M cap.</a:t>
            </a:r>
            <a:endParaRPr lang="en-US" sz="1000" dirty="0"/>
          </a:p>
        </p:txBody>
      </p:sp>
      <p:sp>
        <p:nvSpPr>
          <p:cNvPr id="54" name="Shape 52"/>
          <p:cNvSpPr/>
          <p:nvPr/>
        </p:nvSpPr>
        <p:spPr>
          <a:xfrm>
            <a:off x="640080" y="6419088"/>
            <a:ext cx="10881360" cy="0"/>
          </a:xfrm>
          <a:prstGeom prst="line">
            <a:avLst/>
          </a:prstGeom>
          <a:noFill/>
          <a:ln w="6350">
            <a:solidFill>
              <a:srgbClr val="181822"/>
            </a:solidFill>
            <a:prstDash val="solid"/>
          </a:ln>
        </p:spPr>
      </p:sp>
      <p:sp>
        <p:nvSpPr>
          <p:cNvPr id="55" name="Text 53"/>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56" name="Text 54"/>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12 / 15</a:t>
            </a:r>
            <a:endParaRPr lang="en-US" sz="800" dirty="0"/>
          </a:p>
        </p:txBody>
      </p:sp>
      <p:sp>
        <p:nvSpPr>
          <p:cNvPr id="57" name="Text 55"/>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C"/>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60606A"/>
                </a:solidFill>
                <a:latin typeface="Helvetica Neue" pitchFamily="34" charset="0"/>
                <a:ea typeface="Helvetica Neue" pitchFamily="34" charset="-122"/>
                <a:cs typeface="Helvetica Neue" pitchFamily="34" charset="-120"/>
              </a:rPr>
              <a:t>BUSINESS MODEL  ·  PRICING</a:t>
            </a:r>
            <a:endParaRPr lang="en-US" sz="9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2800" dirty="0">
                <a:solidFill>
                  <a:srgbClr val="FFFFFF"/>
                </a:solidFill>
                <a:latin typeface="Helvetica Neue" pitchFamily="34" charset="0"/>
                <a:ea typeface="Helvetica Neue" pitchFamily="34" charset="-122"/>
                <a:cs typeface="Helvetica Neue" pitchFamily="34" charset="-120"/>
              </a:rPr>
              <a:t>Four tiers. Margin protected at every level.</a:t>
            </a:r>
            <a:endParaRPr lang="en-US" sz="2800" dirty="0"/>
          </a:p>
        </p:txBody>
      </p:sp>
      <p:sp>
        <p:nvSpPr>
          <p:cNvPr id="4" name="Text 2"/>
          <p:cNvSpPr/>
          <p:nvPr/>
        </p:nvSpPr>
        <p:spPr>
          <a:xfrm>
            <a:off x="640080" y="1600200"/>
            <a:ext cx="9249156" cy="502920"/>
          </a:xfrm>
          <a:prstGeom prst="rect">
            <a:avLst/>
          </a:prstGeom>
          <a:noFill/>
          <a:ln/>
        </p:spPr>
        <p:txBody>
          <a:bodyPr wrap="square" lIns="0" tIns="0" rIns="0" bIns="0" rtlCol="0" anchor="ctr"/>
          <a:lstStyle/>
          <a:p>
            <a:pPr indent="0" marL="0">
              <a:buNone/>
            </a:pPr>
            <a:r>
              <a:rPr lang="en-US" sz="1200" dirty="0">
                <a:solidFill>
                  <a:srgbClr val="A0A0B0"/>
                </a:solidFill>
                <a:latin typeface="Helvetica Neue" pitchFamily="34" charset="0"/>
                <a:ea typeface="Helvetica Neue" pitchFamily="34" charset="-122"/>
                <a:cs typeface="Helvetica Neue" pitchFamily="34" charset="-120"/>
              </a:rPr>
              <a:t>Median user costs us ~$22/mo at current Anthropic rates. Per-tenant daily caps enforce a worst-case ceiling. Gross margin stays above 78% worst case, above 92% median.</a:t>
            </a:r>
            <a:endParaRPr lang="en-US" sz="1200" dirty="0"/>
          </a:p>
        </p:txBody>
      </p:sp>
      <p:sp>
        <p:nvSpPr>
          <p:cNvPr id="5" name="Shape 3"/>
          <p:cNvSpPr/>
          <p:nvPr/>
        </p:nvSpPr>
        <p:spPr>
          <a:xfrm>
            <a:off x="640080" y="2286000"/>
            <a:ext cx="2583180" cy="3383280"/>
          </a:xfrm>
          <a:prstGeom prst="roundRect">
            <a:avLst>
              <a:gd name="adj" fmla="val 2832"/>
            </a:avLst>
          </a:prstGeom>
          <a:solidFill>
            <a:srgbClr val="101018"/>
          </a:solidFill>
          <a:ln w="9525">
            <a:solidFill>
              <a:srgbClr val="1F1F2A"/>
            </a:solidFill>
            <a:prstDash val="solid"/>
          </a:ln>
        </p:spPr>
      </p:sp>
      <p:sp>
        <p:nvSpPr>
          <p:cNvPr id="6" name="Shape 4"/>
          <p:cNvSpPr/>
          <p:nvPr/>
        </p:nvSpPr>
        <p:spPr>
          <a:xfrm>
            <a:off x="649224" y="2295144"/>
            <a:ext cx="2564892" cy="36576"/>
          </a:xfrm>
          <a:prstGeom prst="rect">
            <a:avLst/>
          </a:prstGeom>
          <a:solidFill>
            <a:srgbClr val="A0A0B0"/>
          </a:solidFill>
          <a:ln w="12700">
            <a:solidFill>
              <a:srgbClr val="A0A0B0"/>
            </a:solidFill>
            <a:prstDash val="solid"/>
          </a:ln>
        </p:spPr>
      </p:sp>
      <p:sp>
        <p:nvSpPr>
          <p:cNvPr id="7" name="Text 5"/>
          <p:cNvSpPr/>
          <p:nvPr/>
        </p:nvSpPr>
        <p:spPr>
          <a:xfrm>
            <a:off x="914400" y="2560320"/>
            <a:ext cx="2034540" cy="274320"/>
          </a:xfrm>
          <a:prstGeom prst="rect">
            <a:avLst/>
          </a:prstGeom>
          <a:noFill/>
          <a:ln/>
        </p:spPr>
        <p:txBody>
          <a:bodyPr wrap="square" lIns="0" tIns="0" rIns="0" bIns="0" rtlCol="0" anchor="ctr"/>
          <a:lstStyle/>
          <a:p>
            <a:pPr indent="0" marL="0">
              <a:buNone/>
            </a:pPr>
            <a:r>
              <a:rPr lang="en-US" sz="900" spc="400" kern="0" dirty="0">
                <a:solidFill>
                  <a:srgbClr val="A0A0B0"/>
                </a:solidFill>
                <a:latin typeface="Helvetica Neue" pitchFamily="34" charset="0"/>
                <a:ea typeface="Helvetica Neue" pitchFamily="34" charset="-122"/>
                <a:cs typeface="Helvetica Neue" pitchFamily="34" charset="-120"/>
              </a:rPr>
              <a:t>FREE</a:t>
            </a:r>
            <a:endParaRPr lang="en-US" sz="900" dirty="0"/>
          </a:p>
        </p:txBody>
      </p:sp>
      <p:sp>
        <p:nvSpPr>
          <p:cNvPr id="8" name="Text 6"/>
          <p:cNvSpPr/>
          <p:nvPr/>
        </p:nvSpPr>
        <p:spPr>
          <a:xfrm>
            <a:off x="914400" y="2880360"/>
            <a:ext cx="2034540" cy="822960"/>
          </a:xfrm>
          <a:prstGeom prst="rect">
            <a:avLst/>
          </a:prstGeom>
          <a:noFill/>
          <a:ln/>
        </p:spPr>
        <p:txBody>
          <a:bodyPr wrap="square" lIns="0" tIns="0" rIns="0" bIns="0" rtlCol="0" anchor="ctr"/>
          <a:lstStyle/>
          <a:p>
            <a:pPr indent="0" marL="0">
              <a:buNone/>
            </a:pPr>
            <a:r>
              <a:rPr lang="en-US" sz="3400" dirty="0">
                <a:solidFill>
                  <a:srgbClr val="FFFFFF"/>
                </a:solidFill>
                <a:latin typeface="Helvetica Neue" pitchFamily="34" charset="0"/>
                <a:ea typeface="Helvetica Neue" pitchFamily="34" charset="-122"/>
                <a:cs typeface="Helvetica Neue" pitchFamily="34" charset="-120"/>
              </a:rPr>
              <a:t>Free</a:t>
            </a:r>
            <a:pPr indent="0" marL="0">
              <a:buNone/>
            </a:pPr>
            <a:endParaRPr lang="en-US" sz="3400" dirty="0"/>
          </a:p>
        </p:txBody>
      </p:sp>
      <p:sp>
        <p:nvSpPr>
          <p:cNvPr id="9" name="Text 7"/>
          <p:cNvSpPr/>
          <p:nvPr/>
        </p:nvSpPr>
        <p:spPr>
          <a:xfrm>
            <a:off x="914400" y="3703320"/>
            <a:ext cx="203454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1 user  ·  1 environment</a:t>
            </a:r>
            <a:endParaRPr lang="en-US" sz="900" dirty="0"/>
          </a:p>
        </p:txBody>
      </p:sp>
      <p:sp>
        <p:nvSpPr>
          <p:cNvPr id="10" name="Shape 8"/>
          <p:cNvSpPr/>
          <p:nvPr/>
        </p:nvSpPr>
        <p:spPr>
          <a:xfrm>
            <a:off x="914400" y="3977640"/>
            <a:ext cx="2034540" cy="274320"/>
          </a:xfrm>
          <a:prstGeom prst="roundRect">
            <a:avLst>
              <a:gd name="adj" fmla="val 13333"/>
            </a:avLst>
          </a:prstGeom>
          <a:solidFill>
            <a:srgbClr val="A0A0B0">
              <a:alpha val="12000"/>
            </a:srgbClr>
          </a:solidFill>
          <a:ln w="6350">
            <a:solidFill>
              <a:srgbClr val="A0A0B0"/>
            </a:solidFill>
            <a:prstDash val="solid"/>
          </a:ln>
        </p:spPr>
      </p:sp>
      <p:sp>
        <p:nvSpPr>
          <p:cNvPr id="11" name="Text 9"/>
          <p:cNvSpPr/>
          <p:nvPr/>
        </p:nvSpPr>
        <p:spPr>
          <a:xfrm>
            <a:off x="914400" y="3977640"/>
            <a:ext cx="2034540" cy="274320"/>
          </a:xfrm>
          <a:prstGeom prst="rect">
            <a:avLst/>
          </a:prstGeom>
          <a:noFill/>
          <a:ln/>
        </p:spPr>
        <p:txBody>
          <a:bodyPr wrap="square" lIns="0" tIns="0" rIns="0" bIns="0" rtlCol="0" anchor="ctr"/>
          <a:lstStyle/>
          <a:p>
            <a:pPr algn="ctr" indent="0" marL="0">
              <a:buNone/>
            </a:pPr>
            <a:r>
              <a:rPr lang="en-US" sz="900" dirty="0">
                <a:solidFill>
                  <a:srgbClr val="A0A0B0"/>
                </a:solidFill>
                <a:latin typeface="Helvetica Neue" pitchFamily="34" charset="0"/>
                <a:ea typeface="Helvetica Neue" pitchFamily="34" charset="-122"/>
                <a:cs typeface="Helvetica Neue" pitchFamily="34" charset="-120"/>
              </a:rPr>
              <a:t>Acquisition</a:t>
            </a:r>
            <a:endParaRPr lang="en-US" sz="900" dirty="0"/>
          </a:p>
        </p:txBody>
      </p:sp>
      <p:sp>
        <p:nvSpPr>
          <p:cNvPr id="12" name="Shape 10"/>
          <p:cNvSpPr/>
          <p:nvPr/>
        </p:nvSpPr>
        <p:spPr>
          <a:xfrm>
            <a:off x="914400" y="4389120"/>
            <a:ext cx="2034540" cy="0"/>
          </a:xfrm>
          <a:prstGeom prst="line">
            <a:avLst/>
          </a:prstGeom>
          <a:noFill/>
          <a:ln w="9525">
            <a:solidFill>
              <a:srgbClr val="1F1F2A"/>
            </a:solidFill>
            <a:prstDash val="solid"/>
          </a:ln>
        </p:spPr>
      </p:sp>
      <p:sp>
        <p:nvSpPr>
          <p:cNvPr id="13" name="Text 11"/>
          <p:cNvSpPr/>
          <p:nvPr/>
        </p:nvSpPr>
        <p:spPr>
          <a:xfrm>
            <a:off x="914400" y="4480560"/>
            <a:ext cx="228600"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t>
            </a:r>
            <a:endParaRPr lang="en-US" sz="900" dirty="0"/>
          </a:p>
        </p:txBody>
      </p:sp>
      <p:sp>
        <p:nvSpPr>
          <p:cNvPr id="14" name="Text 12"/>
          <p:cNvSpPr/>
          <p:nvPr/>
        </p:nvSpPr>
        <p:spPr>
          <a:xfrm>
            <a:off x="1115568" y="448056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$2/day AI cap</a:t>
            </a:r>
            <a:endParaRPr lang="en-US" sz="900" dirty="0"/>
          </a:p>
        </p:txBody>
      </p:sp>
      <p:sp>
        <p:nvSpPr>
          <p:cNvPr id="15" name="Text 13"/>
          <p:cNvSpPr/>
          <p:nvPr/>
        </p:nvSpPr>
        <p:spPr>
          <a:xfrm>
            <a:off x="914400" y="4754880"/>
            <a:ext cx="228600"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t>
            </a:r>
            <a:endParaRPr lang="en-US" sz="900" dirty="0"/>
          </a:p>
        </p:txBody>
      </p:sp>
      <p:sp>
        <p:nvSpPr>
          <p:cNvPr id="16" name="Text 14"/>
          <p:cNvSpPr/>
          <p:nvPr/>
        </p:nvSpPr>
        <p:spPr>
          <a:xfrm>
            <a:off x="1115568" y="475488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Nova with 5 tools</a:t>
            </a:r>
            <a:endParaRPr lang="en-US" sz="900" dirty="0"/>
          </a:p>
        </p:txBody>
      </p:sp>
      <p:sp>
        <p:nvSpPr>
          <p:cNvPr id="17" name="Text 15"/>
          <p:cNvSpPr/>
          <p:nvPr/>
        </p:nvSpPr>
        <p:spPr>
          <a:xfrm>
            <a:off x="914400" y="5029200"/>
            <a:ext cx="228600"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t>
            </a:r>
            <a:endParaRPr lang="en-US" sz="900" dirty="0"/>
          </a:p>
        </p:txBody>
      </p:sp>
      <p:sp>
        <p:nvSpPr>
          <p:cNvPr id="18" name="Text 16"/>
          <p:cNvSpPr/>
          <p:nvPr/>
        </p:nvSpPr>
        <p:spPr>
          <a:xfrm>
            <a:off x="1115568" y="502920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Community support</a:t>
            </a:r>
            <a:endParaRPr lang="en-US" sz="900" dirty="0"/>
          </a:p>
        </p:txBody>
      </p:sp>
      <p:sp>
        <p:nvSpPr>
          <p:cNvPr id="19" name="Text 17"/>
          <p:cNvSpPr/>
          <p:nvPr/>
        </p:nvSpPr>
        <p:spPr>
          <a:xfrm>
            <a:off x="914400" y="5303520"/>
            <a:ext cx="228600"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t>
            </a:r>
            <a:endParaRPr lang="en-US" sz="900" dirty="0"/>
          </a:p>
        </p:txBody>
      </p:sp>
      <p:sp>
        <p:nvSpPr>
          <p:cNvPr id="20" name="Text 18"/>
          <p:cNvSpPr/>
          <p:nvPr/>
        </p:nvSpPr>
        <p:spPr>
          <a:xfrm>
            <a:off x="1115568" y="530352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Public workflows</a:t>
            </a:r>
            <a:endParaRPr lang="en-US" sz="900" dirty="0"/>
          </a:p>
        </p:txBody>
      </p:sp>
      <p:sp>
        <p:nvSpPr>
          <p:cNvPr id="21" name="Shape 19"/>
          <p:cNvSpPr/>
          <p:nvPr/>
        </p:nvSpPr>
        <p:spPr>
          <a:xfrm>
            <a:off x="3406140" y="2286000"/>
            <a:ext cx="2583180" cy="3383280"/>
          </a:xfrm>
          <a:prstGeom prst="roundRect">
            <a:avLst>
              <a:gd name="adj" fmla="val 2832"/>
            </a:avLst>
          </a:prstGeom>
          <a:solidFill>
            <a:srgbClr val="101018"/>
          </a:solidFill>
          <a:ln w="9525">
            <a:solidFill>
              <a:srgbClr val="1F1F2A"/>
            </a:solidFill>
            <a:prstDash val="solid"/>
          </a:ln>
        </p:spPr>
      </p:sp>
      <p:sp>
        <p:nvSpPr>
          <p:cNvPr id="22" name="Shape 20"/>
          <p:cNvSpPr/>
          <p:nvPr/>
        </p:nvSpPr>
        <p:spPr>
          <a:xfrm>
            <a:off x="3415284" y="2295144"/>
            <a:ext cx="2564892" cy="36576"/>
          </a:xfrm>
          <a:prstGeom prst="rect">
            <a:avLst/>
          </a:prstGeom>
          <a:solidFill>
            <a:srgbClr val="15AD70"/>
          </a:solidFill>
          <a:ln w="12700">
            <a:solidFill>
              <a:srgbClr val="15AD70"/>
            </a:solidFill>
            <a:prstDash val="solid"/>
          </a:ln>
        </p:spPr>
      </p:sp>
      <p:sp>
        <p:nvSpPr>
          <p:cNvPr id="23" name="Text 21"/>
          <p:cNvSpPr/>
          <p:nvPr/>
        </p:nvSpPr>
        <p:spPr>
          <a:xfrm>
            <a:off x="3680460" y="2560320"/>
            <a:ext cx="203454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PRO</a:t>
            </a:r>
            <a:endParaRPr lang="en-US" sz="900" dirty="0"/>
          </a:p>
        </p:txBody>
      </p:sp>
      <p:sp>
        <p:nvSpPr>
          <p:cNvPr id="24" name="Text 22"/>
          <p:cNvSpPr/>
          <p:nvPr/>
        </p:nvSpPr>
        <p:spPr>
          <a:xfrm>
            <a:off x="3680460" y="2880360"/>
            <a:ext cx="2034540" cy="822960"/>
          </a:xfrm>
          <a:prstGeom prst="rect">
            <a:avLst/>
          </a:prstGeom>
          <a:noFill/>
          <a:ln/>
        </p:spPr>
        <p:txBody>
          <a:bodyPr wrap="square" lIns="0" tIns="0" rIns="0" bIns="0" rtlCol="0" anchor="ctr"/>
          <a:lstStyle/>
          <a:p>
            <a:pPr indent="0" marL="0">
              <a:buNone/>
            </a:pPr>
            <a:r>
              <a:rPr lang="en-US" sz="3400" dirty="0">
                <a:solidFill>
                  <a:srgbClr val="FFFFFF"/>
                </a:solidFill>
                <a:latin typeface="Helvetica Neue" pitchFamily="34" charset="0"/>
                <a:ea typeface="Helvetica Neue" pitchFamily="34" charset="-122"/>
                <a:cs typeface="Helvetica Neue" pitchFamily="34" charset="-120"/>
              </a:rPr>
              <a:t>$29</a:t>
            </a:r>
            <a:pPr indent="0" marL="0">
              <a:buNone/>
            </a:pPr>
            <a:r>
              <a:rPr lang="en-US" sz="1000" dirty="0">
                <a:solidFill>
                  <a:srgbClr val="60606A"/>
                </a:solidFill>
                <a:latin typeface="Helvetica Neue" pitchFamily="34" charset="0"/>
                <a:ea typeface="Helvetica Neue" pitchFamily="34" charset="-122"/>
                <a:cs typeface="Helvetica Neue" pitchFamily="34" charset="-120"/>
              </a:rPr>
              <a:t>/mo</a:t>
            </a:r>
            <a:endParaRPr lang="en-US" sz="3400" dirty="0"/>
          </a:p>
        </p:txBody>
      </p:sp>
      <p:sp>
        <p:nvSpPr>
          <p:cNvPr id="25" name="Text 23"/>
          <p:cNvSpPr/>
          <p:nvPr/>
        </p:nvSpPr>
        <p:spPr>
          <a:xfrm>
            <a:off x="3680460" y="3703320"/>
            <a:ext cx="203454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10 environments  ·  unlimited systems</a:t>
            </a:r>
            <a:endParaRPr lang="en-US" sz="900" dirty="0"/>
          </a:p>
        </p:txBody>
      </p:sp>
      <p:sp>
        <p:nvSpPr>
          <p:cNvPr id="26" name="Shape 24"/>
          <p:cNvSpPr/>
          <p:nvPr/>
        </p:nvSpPr>
        <p:spPr>
          <a:xfrm>
            <a:off x="3680460" y="3977640"/>
            <a:ext cx="2034540" cy="274320"/>
          </a:xfrm>
          <a:prstGeom prst="roundRect">
            <a:avLst>
              <a:gd name="adj" fmla="val 13333"/>
            </a:avLst>
          </a:prstGeom>
          <a:solidFill>
            <a:srgbClr val="15AD70">
              <a:alpha val="12000"/>
            </a:srgbClr>
          </a:solidFill>
          <a:ln w="6350">
            <a:solidFill>
              <a:srgbClr val="15AD70"/>
            </a:solidFill>
            <a:prstDash val="solid"/>
          </a:ln>
        </p:spPr>
      </p:sp>
      <p:sp>
        <p:nvSpPr>
          <p:cNvPr id="27" name="Text 25"/>
          <p:cNvSpPr/>
          <p:nvPr/>
        </p:nvSpPr>
        <p:spPr>
          <a:xfrm>
            <a:off x="3680460" y="3977640"/>
            <a:ext cx="2034540" cy="274320"/>
          </a:xfrm>
          <a:prstGeom prst="rect">
            <a:avLst/>
          </a:prstGeom>
          <a:noFill/>
          <a:ln/>
        </p:spPr>
        <p:txBody>
          <a:bodyPr wrap="square" lIns="0" tIns="0" rIns="0" bIns="0" rtlCol="0" anchor="ctr"/>
          <a:lstStyle/>
          <a:p>
            <a:pPr algn="ctr" indent="0" marL="0">
              <a:buNone/>
            </a:pPr>
            <a:r>
              <a:rPr lang="en-US" sz="900" dirty="0">
                <a:solidFill>
                  <a:srgbClr val="15AD70"/>
                </a:solidFill>
                <a:latin typeface="Helvetica Neue" pitchFamily="34" charset="0"/>
                <a:ea typeface="Helvetica Neue" pitchFamily="34" charset="-122"/>
                <a:cs typeface="Helvetica Neue" pitchFamily="34" charset="-120"/>
              </a:rPr>
              <a:t>~44% GM</a:t>
            </a:r>
            <a:endParaRPr lang="en-US" sz="900" dirty="0"/>
          </a:p>
        </p:txBody>
      </p:sp>
      <p:sp>
        <p:nvSpPr>
          <p:cNvPr id="28" name="Shape 26"/>
          <p:cNvSpPr/>
          <p:nvPr/>
        </p:nvSpPr>
        <p:spPr>
          <a:xfrm>
            <a:off x="3680460" y="4389120"/>
            <a:ext cx="2034540" cy="0"/>
          </a:xfrm>
          <a:prstGeom prst="line">
            <a:avLst/>
          </a:prstGeom>
          <a:noFill/>
          <a:ln w="9525">
            <a:solidFill>
              <a:srgbClr val="1F1F2A"/>
            </a:solidFill>
            <a:prstDash val="solid"/>
          </a:ln>
        </p:spPr>
      </p:sp>
      <p:sp>
        <p:nvSpPr>
          <p:cNvPr id="29" name="Text 27"/>
          <p:cNvSpPr/>
          <p:nvPr/>
        </p:nvSpPr>
        <p:spPr>
          <a:xfrm>
            <a:off x="3680460" y="4480560"/>
            <a:ext cx="228600" cy="274320"/>
          </a:xfrm>
          <a:prstGeom prst="rect">
            <a:avLst/>
          </a:prstGeom>
          <a:noFill/>
          <a:ln/>
        </p:spPr>
        <p:txBody>
          <a:bodyPr wrap="square" lIns="0" tIns="0" rIns="0" bIns="0" rtlCol="0" anchor="ctr"/>
          <a:lstStyle/>
          <a:p>
            <a:pPr indent="0" marL="0">
              <a:buNone/>
            </a:pPr>
            <a:r>
              <a:rPr lang="en-US" sz="900" dirty="0">
                <a:solidFill>
                  <a:srgbClr val="15AD70"/>
                </a:solidFill>
                <a:latin typeface="Helvetica Neue" pitchFamily="34" charset="0"/>
                <a:ea typeface="Helvetica Neue" pitchFamily="34" charset="-122"/>
                <a:cs typeface="Helvetica Neue" pitchFamily="34" charset="-120"/>
              </a:rPr>
              <a:t>✓</a:t>
            </a:r>
            <a:endParaRPr lang="en-US" sz="900" dirty="0"/>
          </a:p>
        </p:txBody>
      </p:sp>
      <p:sp>
        <p:nvSpPr>
          <p:cNvPr id="30" name="Text 28"/>
          <p:cNvSpPr/>
          <p:nvPr/>
        </p:nvSpPr>
        <p:spPr>
          <a:xfrm>
            <a:off x="3881628" y="448056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Nova 11 tools</a:t>
            </a:r>
            <a:endParaRPr lang="en-US" sz="900" dirty="0"/>
          </a:p>
        </p:txBody>
      </p:sp>
      <p:sp>
        <p:nvSpPr>
          <p:cNvPr id="31" name="Text 29"/>
          <p:cNvSpPr/>
          <p:nvPr/>
        </p:nvSpPr>
        <p:spPr>
          <a:xfrm>
            <a:off x="3680460" y="4754880"/>
            <a:ext cx="228600" cy="274320"/>
          </a:xfrm>
          <a:prstGeom prst="rect">
            <a:avLst/>
          </a:prstGeom>
          <a:noFill/>
          <a:ln/>
        </p:spPr>
        <p:txBody>
          <a:bodyPr wrap="square" lIns="0" tIns="0" rIns="0" bIns="0" rtlCol="0" anchor="ctr"/>
          <a:lstStyle/>
          <a:p>
            <a:pPr indent="0" marL="0">
              <a:buNone/>
            </a:pPr>
            <a:r>
              <a:rPr lang="en-US" sz="900" dirty="0">
                <a:solidFill>
                  <a:srgbClr val="15AD70"/>
                </a:solidFill>
                <a:latin typeface="Helvetica Neue" pitchFamily="34" charset="0"/>
                <a:ea typeface="Helvetica Neue" pitchFamily="34" charset="-122"/>
                <a:cs typeface="Helvetica Neue" pitchFamily="34" charset="-120"/>
              </a:rPr>
              <a:t>✓</a:t>
            </a:r>
            <a:endParaRPr lang="en-US" sz="900" dirty="0"/>
          </a:p>
        </p:txBody>
      </p:sp>
      <p:sp>
        <p:nvSpPr>
          <p:cNvPr id="32" name="Text 30"/>
          <p:cNvSpPr/>
          <p:nvPr/>
        </p:nvSpPr>
        <p:spPr>
          <a:xfrm>
            <a:off x="3881628" y="475488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$10/day AI cap</a:t>
            </a:r>
            <a:endParaRPr lang="en-US" sz="900" dirty="0"/>
          </a:p>
        </p:txBody>
      </p:sp>
      <p:sp>
        <p:nvSpPr>
          <p:cNvPr id="33" name="Text 31"/>
          <p:cNvSpPr/>
          <p:nvPr/>
        </p:nvSpPr>
        <p:spPr>
          <a:xfrm>
            <a:off x="3680460" y="5029200"/>
            <a:ext cx="228600" cy="274320"/>
          </a:xfrm>
          <a:prstGeom prst="rect">
            <a:avLst/>
          </a:prstGeom>
          <a:noFill/>
          <a:ln/>
        </p:spPr>
        <p:txBody>
          <a:bodyPr wrap="square" lIns="0" tIns="0" rIns="0" bIns="0" rtlCol="0" anchor="ctr"/>
          <a:lstStyle/>
          <a:p>
            <a:pPr indent="0" marL="0">
              <a:buNone/>
            </a:pPr>
            <a:r>
              <a:rPr lang="en-US" sz="900" dirty="0">
                <a:solidFill>
                  <a:srgbClr val="15AD70"/>
                </a:solidFill>
                <a:latin typeface="Helvetica Neue" pitchFamily="34" charset="0"/>
                <a:ea typeface="Helvetica Neue" pitchFamily="34" charset="-122"/>
                <a:cs typeface="Helvetica Neue" pitchFamily="34" charset="-120"/>
              </a:rPr>
              <a:t>✓</a:t>
            </a:r>
            <a:endParaRPr lang="en-US" sz="900" dirty="0"/>
          </a:p>
        </p:txBody>
      </p:sp>
      <p:sp>
        <p:nvSpPr>
          <p:cNvPr id="34" name="Text 32"/>
          <p:cNvSpPr/>
          <p:nvPr/>
        </p:nvSpPr>
        <p:spPr>
          <a:xfrm>
            <a:off x="3881628" y="502920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Signals + goals</a:t>
            </a:r>
            <a:endParaRPr lang="en-US" sz="900" dirty="0"/>
          </a:p>
        </p:txBody>
      </p:sp>
      <p:sp>
        <p:nvSpPr>
          <p:cNvPr id="35" name="Text 33"/>
          <p:cNvSpPr/>
          <p:nvPr/>
        </p:nvSpPr>
        <p:spPr>
          <a:xfrm>
            <a:off x="3680460" y="5303520"/>
            <a:ext cx="228600" cy="274320"/>
          </a:xfrm>
          <a:prstGeom prst="rect">
            <a:avLst/>
          </a:prstGeom>
          <a:noFill/>
          <a:ln/>
        </p:spPr>
        <p:txBody>
          <a:bodyPr wrap="square" lIns="0" tIns="0" rIns="0" bIns="0" rtlCol="0" anchor="ctr"/>
          <a:lstStyle/>
          <a:p>
            <a:pPr indent="0" marL="0">
              <a:buNone/>
            </a:pPr>
            <a:r>
              <a:rPr lang="en-US" sz="900" dirty="0">
                <a:solidFill>
                  <a:srgbClr val="15AD70"/>
                </a:solidFill>
                <a:latin typeface="Helvetica Neue" pitchFamily="34" charset="0"/>
                <a:ea typeface="Helvetica Neue" pitchFamily="34" charset="-122"/>
                <a:cs typeface="Helvetica Neue" pitchFamily="34" charset="-120"/>
              </a:rPr>
              <a:t>✓</a:t>
            </a:r>
            <a:endParaRPr lang="en-US" sz="900" dirty="0"/>
          </a:p>
        </p:txBody>
      </p:sp>
      <p:sp>
        <p:nvSpPr>
          <p:cNvPr id="36" name="Text 34"/>
          <p:cNvSpPr/>
          <p:nvPr/>
        </p:nvSpPr>
        <p:spPr>
          <a:xfrm>
            <a:off x="3881628" y="530352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Priority support</a:t>
            </a:r>
            <a:endParaRPr lang="en-US" sz="900" dirty="0"/>
          </a:p>
        </p:txBody>
      </p:sp>
      <p:sp>
        <p:nvSpPr>
          <p:cNvPr id="37" name="Shape 35"/>
          <p:cNvSpPr/>
          <p:nvPr/>
        </p:nvSpPr>
        <p:spPr>
          <a:xfrm>
            <a:off x="6172200" y="2286000"/>
            <a:ext cx="2583180" cy="3383280"/>
          </a:xfrm>
          <a:prstGeom prst="roundRect">
            <a:avLst>
              <a:gd name="adj" fmla="val 2832"/>
            </a:avLst>
          </a:prstGeom>
          <a:solidFill>
            <a:srgbClr val="101018"/>
          </a:solidFill>
          <a:ln w="9525">
            <a:solidFill>
              <a:srgbClr val="1F1F2A"/>
            </a:solidFill>
            <a:prstDash val="solid"/>
          </a:ln>
        </p:spPr>
      </p:sp>
      <p:sp>
        <p:nvSpPr>
          <p:cNvPr id="38" name="Shape 36"/>
          <p:cNvSpPr/>
          <p:nvPr/>
        </p:nvSpPr>
        <p:spPr>
          <a:xfrm>
            <a:off x="6181344" y="2295144"/>
            <a:ext cx="2564892" cy="36576"/>
          </a:xfrm>
          <a:prstGeom prst="rect">
            <a:avLst/>
          </a:prstGeom>
          <a:solidFill>
            <a:srgbClr val="7193ED"/>
          </a:solidFill>
          <a:ln w="12700">
            <a:solidFill>
              <a:srgbClr val="7193ED"/>
            </a:solidFill>
            <a:prstDash val="solid"/>
          </a:ln>
        </p:spPr>
      </p:sp>
      <p:sp>
        <p:nvSpPr>
          <p:cNvPr id="39" name="Text 37"/>
          <p:cNvSpPr/>
          <p:nvPr/>
        </p:nvSpPr>
        <p:spPr>
          <a:xfrm>
            <a:off x="6446520" y="2560320"/>
            <a:ext cx="2034540" cy="274320"/>
          </a:xfrm>
          <a:prstGeom prst="rect">
            <a:avLst/>
          </a:prstGeom>
          <a:noFill/>
          <a:ln/>
        </p:spPr>
        <p:txBody>
          <a:bodyPr wrap="square" lIns="0" tIns="0" rIns="0" bIns="0" rtlCol="0" anchor="ctr"/>
          <a:lstStyle/>
          <a:p>
            <a:pPr indent="0" marL="0">
              <a:buNone/>
            </a:pPr>
            <a:r>
              <a:rPr lang="en-US" sz="900" spc="400" kern="0" dirty="0">
                <a:solidFill>
                  <a:srgbClr val="7193ED"/>
                </a:solidFill>
                <a:latin typeface="Helvetica Neue" pitchFamily="34" charset="0"/>
                <a:ea typeface="Helvetica Neue" pitchFamily="34" charset="-122"/>
                <a:cs typeface="Helvetica Neue" pitchFamily="34" charset="-120"/>
              </a:rPr>
              <a:t>TEAM</a:t>
            </a:r>
            <a:endParaRPr lang="en-US" sz="900" dirty="0"/>
          </a:p>
        </p:txBody>
      </p:sp>
      <p:sp>
        <p:nvSpPr>
          <p:cNvPr id="40" name="Text 38"/>
          <p:cNvSpPr/>
          <p:nvPr/>
        </p:nvSpPr>
        <p:spPr>
          <a:xfrm>
            <a:off x="6446520" y="2880360"/>
            <a:ext cx="2034540" cy="822960"/>
          </a:xfrm>
          <a:prstGeom prst="rect">
            <a:avLst/>
          </a:prstGeom>
          <a:noFill/>
          <a:ln/>
        </p:spPr>
        <p:txBody>
          <a:bodyPr wrap="square" lIns="0" tIns="0" rIns="0" bIns="0" rtlCol="0" anchor="ctr"/>
          <a:lstStyle/>
          <a:p>
            <a:pPr indent="0" marL="0">
              <a:buNone/>
            </a:pPr>
            <a:r>
              <a:rPr lang="en-US" sz="3400" dirty="0">
                <a:solidFill>
                  <a:srgbClr val="FFFFFF"/>
                </a:solidFill>
                <a:latin typeface="Helvetica Neue" pitchFamily="34" charset="0"/>
                <a:ea typeface="Helvetica Neue" pitchFamily="34" charset="-122"/>
                <a:cs typeface="Helvetica Neue" pitchFamily="34" charset="-120"/>
              </a:rPr>
              <a:t>$79</a:t>
            </a:r>
            <a:pPr indent="0" marL="0">
              <a:buNone/>
            </a:pPr>
            <a:r>
              <a:rPr lang="en-US" sz="1000" dirty="0">
                <a:solidFill>
                  <a:srgbClr val="60606A"/>
                </a:solidFill>
                <a:latin typeface="Helvetica Neue" pitchFamily="34" charset="0"/>
                <a:ea typeface="Helvetica Neue" pitchFamily="34" charset="-122"/>
                <a:cs typeface="Helvetica Neue" pitchFamily="34" charset="-120"/>
              </a:rPr>
              <a:t>/seat/mo</a:t>
            </a:r>
            <a:endParaRPr lang="en-US" sz="3400" dirty="0"/>
          </a:p>
        </p:txBody>
      </p:sp>
      <p:sp>
        <p:nvSpPr>
          <p:cNvPr id="41" name="Text 39"/>
          <p:cNvSpPr/>
          <p:nvPr/>
        </p:nvSpPr>
        <p:spPr>
          <a:xfrm>
            <a:off x="6446520" y="3703320"/>
            <a:ext cx="203454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Unlimited  ·  SSO  ·  white-label</a:t>
            </a:r>
            <a:endParaRPr lang="en-US" sz="900" dirty="0"/>
          </a:p>
        </p:txBody>
      </p:sp>
      <p:sp>
        <p:nvSpPr>
          <p:cNvPr id="42" name="Shape 40"/>
          <p:cNvSpPr/>
          <p:nvPr/>
        </p:nvSpPr>
        <p:spPr>
          <a:xfrm>
            <a:off x="6446520" y="3977640"/>
            <a:ext cx="2034540" cy="274320"/>
          </a:xfrm>
          <a:prstGeom prst="roundRect">
            <a:avLst>
              <a:gd name="adj" fmla="val 13333"/>
            </a:avLst>
          </a:prstGeom>
          <a:solidFill>
            <a:srgbClr val="7193ED">
              <a:alpha val="12000"/>
            </a:srgbClr>
          </a:solidFill>
          <a:ln w="6350">
            <a:solidFill>
              <a:srgbClr val="7193ED"/>
            </a:solidFill>
            <a:prstDash val="solid"/>
          </a:ln>
        </p:spPr>
      </p:sp>
      <p:sp>
        <p:nvSpPr>
          <p:cNvPr id="43" name="Text 41"/>
          <p:cNvSpPr/>
          <p:nvPr/>
        </p:nvSpPr>
        <p:spPr>
          <a:xfrm>
            <a:off x="6446520" y="3977640"/>
            <a:ext cx="2034540" cy="274320"/>
          </a:xfrm>
          <a:prstGeom prst="rect">
            <a:avLst/>
          </a:prstGeom>
          <a:noFill/>
          <a:ln/>
        </p:spPr>
        <p:txBody>
          <a:bodyPr wrap="square" lIns="0" tIns="0" rIns="0" bIns="0" rtlCol="0" anchor="ctr"/>
          <a:lstStyle/>
          <a:p>
            <a:pPr algn="ctr" indent="0" marL="0">
              <a:buNone/>
            </a:pPr>
            <a:r>
              <a:rPr lang="en-US" sz="900" dirty="0">
                <a:solidFill>
                  <a:srgbClr val="7193ED"/>
                </a:solidFill>
                <a:latin typeface="Helvetica Neue" pitchFamily="34" charset="0"/>
                <a:ea typeface="Helvetica Neue" pitchFamily="34" charset="-122"/>
                <a:cs typeface="Helvetica Neue" pitchFamily="34" charset="-120"/>
              </a:rPr>
              <a:t>~78% GM</a:t>
            </a:r>
            <a:endParaRPr lang="en-US" sz="900" dirty="0"/>
          </a:p>
        </p:txBody>
      </p:sp>
      <p:sp>
        <p:nvSpPr>
          <p:cNvPr id="44" name="Shape 42"/>
          <p:cNvSpPr/>
          <p:nvPr/>
        </p:nvSpPr>
        <p:spPr>
          <a:xfrm>
            <a:off x="6446520" y="4389120"/>
            <a:ext cx="2034540" cy="0"/>
          </a:xfrm>
          <a:prstGeom prst="line">
            <a:avLst/>
          </a:prstGeom>
          <a:noFill/>
          <a:ln w="9525">
            <a:solidFill>
              <a:srgbClr val="1F1F2A"/>
            </a:solidFill>
            <a:prstDash val="solid"/>
          </a:ln>
        </p:spPr>
      </p:sp>
      <p:sp>
        <p:nvSpPr>
          <p:cNvPr id="45" name="Text 43"/>
          <p:cNvSpPr/>
          <p:nvPr/>
        </p:nvSpPr>
        <p:spPr>
          <a:xfrm>
            <a:off x="6446520" y="4480560"/>
            <a:ext cx="228600" cy="274320"/>
          </a:xfrm>
          <a:prstGeom prst="rect">
            <a:avLst/>
          </a:prstGeom>
          <a:noFill/>
          <a:ln/>
        </p:spPr>
        <p:txBody>
          <a:bodyPr wrap="square" lIns="0" tIns="0" rIns="0" bIns="0" rtlCol="0" anchor="ctr"/>
          <a:lstStyle/>
          <a:p>
            <a:pPr indent="0" marL="0">
              <a:buNone/>
            </a:pPr>
            <a:r>
              <a:rPr lang="en-US" sz="900" dirty="0">
                <a:solidFill>
                  <a:srgbClr val="7193ED"/>
                </a:solidFill>
                <a:latin typeface="Helvetica Neue" pitchFamily="34" charset="0"/>
                <a:ea typeface="Helvetica Neue" pitchFamily="34" charset="-122"/>
                <a:cs typeface="Helvetica Neue" pitchFamily="34" charset="-120"/>
              </a:rPr>
              <a:t>✓</a:t>
            </a:r>
            <a:endParaRPr lang="en-US" sz="900" dirty="0"/>
          </a:p>
        </p:txBody>
      </p:sp>
      <p:sp>
        <p:nvSpPr>
          <p:cNvPr id="46" name="Text 44"/>
          <p:cNvSpPr/>
          <p:nvPr/>
        </p:nvSpPr>
        <p:spPr>
          <a:xfrm>
            <a:off x="6647688" y="448056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Everything in Pro</a:t>
            </a:r>
            <a:endParaRPr lang="en-US" sz="900" dirty="0"/>
          </a:p>
        </p:txBody>
      </p:sp>
      <p:sp>
        <p:nvSpPr>
          <p:cNvPr id="47" name="Text 45"/>
          <p:cNvSpPr/>
          <p:nvPr/>
        </p:nvSpPr>
        <p:spPr>
          <a:xfrm>
            <a:off x="6446520" y="4754880"/>
            <a:ext cx="228600" cy="274320"/>
          </a:xfrm>
          <a:prstGeom prst="rect">
            <a:avLst/>
          </a:prstGeom>
          <a:noFill/>
          <a:ln/>
        </p:spPr>
        <p:txBody>
          <a:bodyPr wrap="square" lIns="0" tIns="0" rIns="0" bIns="0" rtlCol="0" anchor="ctr"/>
          <a:lstStyle/>
          <a:p>
            <a:pPr indent="0" marL="0">
              <a:buNone/>
            </a:pPr>
            <a:r>
              <a:rPr lang="en-US" sz="900" dirty="0">
                <a:solidFill>
                  <a:srgbClr val="7193ED"/>
                </a:solidFill>
                <a:latin typeface="Helvetica Neue" pitchFamily="34" charset="0"/>
                <a:ea typeface="Helvetica Neue" pitchFamily="34" charset="-122"/>
                <a:cs typeface="Helvetica Neue" pitchFamily="34" charset="-120"/>
              </a:rPr>
              <a:t>✓</a:t>
            </a:r>
            <a:endParaRPr lang="en-US" sz="900" dirty="0"/>
          </a:p>
        </p:txBody>
      </p:sp>
      <p:sp>
        <p:nvSpPr>
          <p:cNvPr id="48" name="Text 46"/>
          <p:cNvSpPr/>
          <p:nvPr/>
        </p:nvSpPr>
        <p:spPr>
          <a:xfrm>
            <a:off x="6647688" y="475488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$50/day AI cap</a:t>
            </a:r>
            <a:endParaRPr lang="en-US" sz="900" dirty="0"/>
          </a:p>
        </p:txBody>
      </p:sp>
      <p:sp>
        <p:nvSpPr>
          <p:cNvPr id="49" name="Text 47"/>
          <p:cNvSpPr/>
          <p:nvPr/>
        </p:nvSpPr>
        <p:spPr>
          <a:xfrm>
            <a:off x="6446520" y="5029200"/>
            <a:ext cx="228600" cy="274320"/>
          </a:xfrm>
          <a:prstGeom prst="rect">
            <a:avLst/>
          </a:prstGeom>
          <a:noFill/>
          <a:ln/>
        </p:spPr>
        <p:txBody>
          <a:bodyPr wrap="square" lIns="0" tIns="0" rIns="0" bIns="0" rtlCol="0" anchor="ctr"/>
          <a:lstStyle/>
          <a:p>
            <a:pPr indent="0" marL="0">
              <a:buNone/>
            </a:pPr>
            <a:r>
              <a:rPr lang="en-US" sz="900" dirty="0">
                <a:solidFill>
                  <a:srgbClr val="7193ED"/>
                </a:solidFill>
                <a:latin typeface="Helvetica Neue" pitchFamily="34" charset="0"/>
                <a:ea typeface="Helvetica Neue" pitchFamily="34" charset="-122"/>
                <a:cs typeface="Helvetica Neue" pitchFamily="34" charset="-120"/>
              </a:rPr>
              <a:t>✓</a:t>
            </a:r>
            <a:endParaRPr lang="en-US" sz="900" dirty="0"/>
          </a:p>
        </p:txBody>
      </p:sp>
      <p:sp>
        <p:nvSpPr>
          <p:cNvPr id="50" name="Text 48"/>
          <p:cNvSpPr/>
          <p:nvPr/>
        </p:nvSpPr>
        <p:spPr>
          <a:xfrm>
            <a:off x="6647688" y="502920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API + webhooks</a:t>
            </a:r>
            <a:endParaRPr lang="en-US" sz="900" dirty="0"/>
          </a:p>
        </p:txBody>
      </p:sp>
      <p:sp>
        <p:nvSpPr>
          <p:cNvPr id="51" name="Text 49"/>
          <p:cNvSpPr/>
          <p:nvPr/>
        </p:nvSpPr>
        <p:spPr>
          <a:xfrm>
            <a:off x="6446520" y="5303520"/>
            <a:ext cx="228600" cy="274320"/>
          </a:xfrm>
          <a:prstGeom prst="rect">
            <a:avLst/>
          </a:prstGeom>
          <a:noFill/>
          <a:ln/>
        </p:spPr>
        <p:txBody>
          <a:bodyPr wrap="square" lIns="0" tIns="0" rIns="0" bIns="0" rtlCol="0" anchor="ctr"/>
          <a:lstStyle/>
          <a:p>
            <a:pPr indent="0" marL="0">
              <a:buNone/>
            </a:pPr>
            <a:r>
              <a:rPr lang="en-US" sz="900" dirty="0">
                <a:solidFill>
                  <a:srgbClr val="7193ED"/>
                </a:solidFill>
                <a:latin typeface="Helvetica Neue" pitchFamily="34" charset="0"/>
                <a:ea typeface="Helvetica Neue" pitchFamily="34" charset="-122"/>
                <a:cs typeface="Helvetica Neue" pitchFamily="34" charset="-120"/>
              </a:rPr>
              <a:t>✓</a:t>
            </a:r>
            <a:endParaRPr lang="en-US" sz="900" dirty="0"/>
          </a:p>
        </p:txBody>
      </p:sp>
      <p:sp>
        <p:nvSpPr>
          <p:cNvPr id="52" name="Text 50"/>
          <p:cNvSpPr/>
          <p:nvPr/>
        </p:nvSpPr>
        <p:spPr>
          <a:xfrm>
            <a:off x="6647688" y="530352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Custom workflows</a:t>
            </a:r>
            <a:endParaRPr lang="en-US" sz="900" dirty="0"/>
          </a:p>
        </p:txBody>
      </p:sp>
      <p:sp>
        <p:nvSpPr>
          <p:cNvPr id="53" name="Shape 51"/>
          <p:cNvSpPr/>
          <p:nvPr/>
        </p:nvSpPr>
        <p:spPr>
          <a:xfrm>
            <a:off x="8938260" y="2286000"/>
            <a:ext cx="2583180" cy="3383280"/>
          </a:xfrm>
          <a:prstGeom prst="roundRect">
            <a:avLst>
              <a:gd name="adj" fmla="val 2832"/>
            </a:avLst>
          </a:prstGeom>
          <a:solidFill>
            <a:srgbClr val="101018"/>
          </a:solidFill>
          <a:ln w="9525">
            <a:solidFill>
              <a:srgbClr val="1F1F2A"/>
            </a:solidFill>
            <a:prstDash val="solid"/>
          </a:ln>
        </p:spPr>
      </p:sp>
      <p:sp>
        <p:nvSpPr>
          <p:cNvPr id="54" name="Shape 52"/>
          <p:cNvSpPr/>
          <p:nvPr/>
        </p:nvSpPr>
        <p:spPr>
          <a:xfrm>
            <a:off x="8947404" y="2295144"/>
            <a:ext cx="2564892" cy="36576"/>
          </a:xfrm>
          <a:prstGeom prst="rect">
            <a:avLst/>
          </a:prstGeom>
          <a:solidFill>
            <a:srgbClr val="BF9FF1"/>
          </a:solidFill>
          <a:ln w="12700">
            <a:solidFill>
              <a:srgbClr val="BF9FF1"/>
            </a:solidFill>
            <a:prstDash val="solid"/>
          </a:ln>
        </p:spPr>
      </p:sp>
      <p:sp>
        <p:nvSpPr>
          <p:cNvPr id="55" name="Text 53"/>
          <p:cNvSpPr/>
          <p:nvPr/>
        </p:nvSpPr>
        <p:spPr>
          <a:xfrm>
            <a:off x="9212580" y="2560320"/>
            <a:ext cx="2034540" cy="274320"/>
          </a:xfrm>
          <a:prstGeom prst="rect">
            <a:avLst/>
          </a:prstGeom>
          <a:noFill/>
          <a:ln/>
        </p:spPr>
        <p:txBody>
          <a:bodyPr wrap="square" lIns="0" tIns="0" rIns="0" bIns="0" rtlCol="0" anchor="ctr"/>
          <a:lstStyle/>
          <a:p>
            <a:pPr indent="0" marL="0">
              <a:buNone/>
            </a:pPr>
            <a:r>
              <a:rPr lang="en-US" sz="900" spc="400" kern="0" dirty="0">
                <a:solidFill>
                  <a:srgbClr val="BF9FF1"/>
                </a:solidFill>
                <a:latin typeface="Helvetica Neue" pitchFamily="34" charset="0"/>
                <a:ea typeface="Helvetica Neue" pitchFamily="34" charset="-122"/>
                <a:cs typeface="Helvetica Neue" pitchFamily="34" charset="-120"/>
              </a:rPr>
              <a:t>ENTERPRISE</a:t>
            </a:r>
            <a:endParaRPr lang="en-US" sz="900" dirty="0"/>
          </a:p>
        </p:txBody>
      </p:sp>
      <p:sp>
        <p:nvSpPr>
          <p:cNvPr id="56" name="Text 54"/>
          <p:cNvSpPr/>
          <p:nvPr/>
        </p:nvSpPr>
        <p:spPr>
          <a:xfrm>
            <a:off x="9212580" y="2880360"/>
            <a:ext cx="2034540" cy="822960"/>
          </a:xfrm>
          <a:prstGeom prst="rect">
            <a:avLst/>
          </a:prstGeom>
          <a:noFill/>
          <a:ln/>
        </p:spPr>
        <p:txBody>
          <a:bodyPr wrap="square" lIns="0" tIns="0" rIns="0" bIns="0" rtlCol="0" anchor="ctr"/>
          <a:lstStyle/>
          <a:p>
            <a:pPr indent="0" marL="0">
              <a:buNone/>
            </a:pPr>
            <a:r>
              <a:rPr lang="en-US" sz="3400" dirty="0">
                <a:solidFill>
                  <a:srgbClr val="FFFFFF"/>
                </a:solidFill>
                <a:latin typeface="Helvetica Neue" pitchFamily="34" charset="0"/>
                <a:ea typeface="Helvetica Neue" pitchFamily="34" charset="-122"/>
                <a:cs typeface="Helvetica Neue" pitchFamily="34" charset="-120"/>
              </a:rPr>
              <a:t>$299</a:t>
            </a:r>
            <a:pPr indent="0" marL="0">
              <a:buNone/>
            </a:pPr>
            <a:r>
              <a:rPr lang="en-US" sz="1000" dirty="0">
                <a:solidFill>
                  <a:srgbClr val="60606A"/>
                </a:solidFill>
                <a:latin typeface="Helvetica Neue" pitchFamily="34" charset="0"/>
                <a:ea typeface="Helvetica Neue" pitchFamily="34" charset="-122"/>
                <a:cs typeface="Helvetica Neue" pitchFamily="34" charset="-120"/>
              </a:rPr>
              <a:t>/seat/mo</a:t>
            </a:r>
            <a:endParaRPr lang="en-US" sz="3400" dirty="0"/>
          </a:p>
        </p:txBody>
      </p:sp>
      <p:sp>
        <p:nvSpPr>
          <p:cNvPr id="57" name="Text 55"/>
          <p:cNvSpPr/>
          <p:nvPr/>
        </p:nvSpPr>
        <p:spPr>
          <a:xfrm>
            <a:off x="9212580" y="3703320"/>
            <a:ext cx="203454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Unlimited  ·  Dedicated</a:t>
            </a:r>
            <a:endParaRPr lang="en-US" sz="900" dirty="0"/>
          </a:p>
        </p:txBody>
      </p:sp>
      <p:sp>
        <p:nvSpPr>
          <p:cNvPr id="58" name="Shape 56"/>
          <p:cNvSpPr/>
          <p:nvPr/>
        </p:nvSpPr>
        <p:spPr>
          <a:xfrm>
            <a:off x="9212580" y="3977640"/>
            <a:ext cx="2034540" cy="274320"/>
          </a:xfrm>
          <a:prstGeom prst="roundRect">
            <a:avLst>
              <a:gd name="adj" fmla="val 13333"/>
            </a:avLst>
          </a:prstGeom>
          <a:solidFill>
            <a:srgbClr val="BF9FF1">
              <a:alpha val="12000"/>
            </a:srgbClr>
          </a:solidFill>
          <a:ln w="6350">
            <a:solidFill>
              <a:srgbClr val="BF9FF1"/>
            </a:solidFill>
            <a:prstDash val="solid"/>
          </a:ln>
        </p:spPr>
      </p:sp>
      <p:sp>
        <p:nvSpPr>
          <p:cNvPr id="59" name="Text 57"/>
          <p:cNvSpPr/>
          <p:nvPr/>
        </p:nvSpPr>
        <p:spPr>
          <a:xfrm>
            <a:off x="9212580" y="3977640"/>
            <a:ext cx="2034540" cy="274320"/>
          </a:xfrm>
          <a:prstGeom prst="rect">
            <a:avLst/>
          </a:prstGeom>
          <a:noFill/>
          <a:ln/>
        </p:spPr>
        <p:txBody>
          <a:bodyPr wrap="square" lIns="0" tIns="0" rIns="0" bIns="0" rtlCol="0" anchor="ctr"/>
          <a:lstStyle/>
          <a:p>
            <a:pPr algn="ctr" indent="0" marL="0">
              <a:buNone/>
            </a:pPr>
            <a:r>
              <a:rPr lang="en-US" sz="900" dirty="0">
                <a:solidFill>
                  <a:srgbClr val="BF9FF1"/>
                </a:solidFill>
                <a:latin typeface="Helvetica Neue" pitchFamily="34" charset="0"/>
                <a:ea typeface="Helvetica Neue" pitchFamily="34" charset="-122"/>
                <a:cs typeface="Helvetica Neue" pitchFamily="34" charset="-120"/>
              </a:rPr>
              <a:t>~92% GM</a:t>
            </a:r>
            <a:endParaRPr lang="en-US" sz="900" dirty="0"/>
          </a:p>
        </p:txBody>
      </p:sp>
      <p:sp>
        <p:nvSpPr>
          <p:cNvPr id="60" name="Shape 58"/>
          <p:cNvSpPr/>
          <p:nvPr/>
        </p:nvSpPr>
        <p:spPr>
          <a:xfrm>
            <a:off x="9212580" y="4389120"/>
            <a:ext cx="2034540" cy="0"/>
          </a:xfrm>
          <a:prstGeom prst="line">
            <a:avLst/>
          </a:prstGeom>
          <a:noFill/>
          <a:ln w="9525">
            <a:solidFill>
              <a:srgbClr val="1F1F2A"/>
            </a:solidFill>
            <a:prstDash val="solid"/>
          </a:ln>
        </p:spPr>
      </p:sp>
      <p:sp>
        <p:nvSpPr>
          <p:cNvPr id="61" name="Text 59"/>
          <p:cNvSpPr/>
          <p:nvPr/>
        </p:nvSpPr>
        <p:spPr>
          <a:xfrm>
            <a:off x="9212580" y="4480560"/>
            <a:ext cx="228600" cy="274320"/>
          </a:xfrm>
          <a:prstGeom prst="rect">
            <a:avLst/>
          </a:prstGeom>
          <a:noFill/>
          <a:ln/>
        </p:spPr>
        <p:txBody>
          <a:bodyPr wrap="square" lIns="0" tIns="0" rIns="0" bIns="0" rtlCol="0" anchor="ctr"/>
          <a:lstStyle/>
          <a:p>
            <a:pPr indent="0" marL="0">
              <a:buNone/>
            </a:pPr>
            <a:r>
              <a:rPr lang="en-US" sz="900" dirty="0">
                <a:solidFill>
                  <a:srgbClr val="BF9FF1"/>
                </a:solidFill>
                <a:latin typeface="Helvetica Neue" pitchFamily="34" charset="0"/>
                <a:ea typeface="Helvetica Neue" pitchFamily="34" charset="-122"/>
                <a:cs typeface="Helvetica Neue" pitchFamily="34" charset="-120"/>
              </a:rPr>
              <a:t>✓</a:t>
            </a:r>
            <a:endParaRPr lang="en-US" sz="900" dirty="0"/>
          </a:p>
        </p:txBody>
      </p:sp>
      <p:sp>
        <p:nvSpPr>
          <p:cNvPr id="62" name="Text 60"/>
          <p:cNvSpPr/>
          <p:nvPr/>
        </p:nvSpPr>
        <p:spPr>
          <a:xfrm>
            <a:off x="9413748" y="448056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Everything in Team</a:t>
            </a:r>
            <a:endParaRPr lang="en-US" sz="900" dirty="0"/>
          </a:p>
        </p:txBody>
      </p:sp>
      <p:sp>
        <p:nvSpPr>
          <p:cNvPr id="63" name="Text 61"/>
          <p:cNvSpPr/>
          <p:nvPr/>
        </p:nvSpPr>
        <p:spPr>
          <a:xfrm>
            <a:off x="9212580" y="4754880"/>
            <a:ext cx="228600" cy="274320"/>
          </a:xfrm>
          <a:prstGeom prst="rect">
            <a:avLst/>
          </a:prstGeom>
          <a:noFill/>
          <a:ln/>
        </p:spPr>
        <p:txBody>
          <a:bodyPr wrap="square" lIns="0" tIns="0" rIns="0" bIns="0" rtlCol="0" anchor="ctr"/>
          <a:lstStyle/>
          <a:p>
            <a:pPr indent="0" marL="0">
              <a:buNone/>
            </a:pPr>
            <a:r>
              <a:rPr lang="en-US" sz="900" dirty="0">
                <a:solidFill>
                  <a:srgbClr val="BF9FF1"/>
                </a:solidFill>
                <a:latin typeface="Helvetica Neue" pitchFamily="34" charset="0"/>
                <a:ea typeface="Helvetica Neue" pitchFamily="34" charset="-122"/>
                <a:cs typeface="Helvetica Neue" pitchFamily="34" charset="-120"/>
              </a:rPr>
              <a:t>✓</a:t>
            </a:r>
            <a:endParaRPr lang="en-US" sz="900" dirty="0"/>
          </a:p>
        </p:txBody>
      </p:sp>
      <p:sp>
        <p:nvSpPr>
          <p:cNvPr id="64" name="Text 62"/>
          <p:cNvSpPr/>
          <p:nvPr/>
        </p:nvSpPr>
        <p:spPr>
          <a:xfrm>
            <a:off x="9413748" y="475488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White-label branding</a:t>
            </a:r>
            <a:endParaRPr lang="en-US" sz="900" dirty="0"/>
          </a:p>
        </p:txBody>
      </p:sp>
      <p:sp>
        <p:nvSpPr>
          <p:cNvPr id="65" name="Text 63"/>
          <p:cNvSpPr/>
          <p:nvPr/>
        </p:nvSpPr>
        <p:spPr>
          <a:xfrm>
            <a:off x="9212580" y="5029200"/>
            <a:ext cx="228600" cy="274320"/>
          </a:xfrm>
          <a:prstGeom prst="rect">
            <a:avLst/>
          </a:prstGeom>
          <a:noFill/>
          <a:ln/>
        </p:spPr>
        <p:txBody>
          <a:bodyPr wrap="square" lIns="0" tIns="0" rIns="0" bIns="0" rtlCol="0" anchor="ctr"/>
          <a:lstStyle/>
          <a:p>
            <a:pPr indent="0" marL="0">
              <a:buNone/>
            </a:pPr>
            <a:r>
              <a:rPr lang="en-US" sz="900" dirty="0">
                <a:solidFill>
                  <a:srgbClr val="BF9FF1"/>
                </a:solidFill>
                <a:latin typeface="Helvetica Neue" pitchFamily="34" charset="0"/>
                <a:ea typeface="Helvetica Neue" pitchFamily="34" charset="-122"/>
                <a:cs typeface="Helvetica Neue" pitchFamily="34" charset="-120"/>
              </a:rPr>
              <a:t>✓</a:t>
            </a:r>
            <a:endParaRPr lang="en-US" sz="900" dirty="0"/>
          </a:p>
        </p:txBody>
      </p:sp>
      <p:sp>
        <p:nvSpPr>
          <p:cNvPr id="66" name="Text 64"/>
          <p:cNvSpPr/>
          <p:nvPr/>
        </p:nvSpPr>
        <p:spPr>
          <a:xfrm>
            <a:off x="9413748" y="502920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Audit logs + SSO</a:t>
            </a:r>
            <a:endParaRPr lang="en-US" sz="900" dirty="0"/>
          </a:p>
        </p:txBody>
      </p:sp>
      <p:sp>
        <p:nvSpPr>
          <p:cNvPr id="67" name="Text 65"/>
          <p:cNvSpPr/>
          <p:nvPr/>
        </p:nvSpPr>
        <p:spPr>
          <a:xfrm>
            <a:off x="9212580" y="5303520"/>
            <a:ext cx="228600" cy="274320"/>
          </a:xfrm>
          <a:prstGeom prst="rect">
            <a:avLst/>
          </a:prstGeom>
          <a:noFill/>
          <a:ln/>
        </p:spPr>
        <p:txBody>
          <a:bodyPr wrap="square" lIns="0" tIns="0" rIns="0" bIns="0" rtlCol="0" anchor="ctr"/>
          <a:lstStyle/>
          <a:p>
            <a:pPr indent="0" marL="0">
              <a:buNone/>
            </a:pPr>
            <a:r>
              <a:rPr lang="en-US" sz="900" dirty="0">
                <a:solidFill>
                  <a:srgbClr val="BF9FF1"/>
                </a:solidFill>
                <a:latin typeface="Helvetica Neue" pitchFamily="34" charset="0"/>
                <a:ea typeface="Helvetica Neue" pitchFamily="34" charset="-122"/>
                <a:cs typeface="Helvetica Neue" pitchFamily="34" charset="-120"/>
              </a:rPr>
              <a:t>✓</a:t>
            </a:r>
            <a:endParaRPr lang="en-US" sz="900" dirty="0"/>
          </a:p>
        </p:txBody>
      </p:sp>
      <p:sp>
        <p:nvSpPr>
          <p:cNvPr id="68" name="Text 66"/>
          <p:cNvSpPr/>
          <p:nvPr/>
        </p:nvSpPr>
        <p:spPr>
          <a:xfrm>
            <a:off x="9413748" y="5303520"/>
            <a:ext cx="1833372" cy="2743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Design partner SLA</a:t>
            </a:r>
            <a:endParaRPr lang="en-US" sz="900" dirty="0"/>
          </a:p>
        </p:txBody>
      </p:sp>
      <p:sp>
        <p:nvSpPr>
          <p:cNvPr id="69" name="Shape 67"/>
          <p:cNvSpPr/>
          <p:nvPr/>
        </p:nvSpPr>
        <p:spPr>
          <a:xfrm>
            <a:off x="640080" y="5852160"/>
            <a:ext cx="10881360" cy="502920"/>
          </a:xfrm>
          <a:prstGeom prst="roundRect">
            <a:avLst>
              <a:gd name="adj" fmla="val 14545"/>
            </a:avLst>
          </a:prstGeom>
          <a:solidFill>
            <a:srgbClr val="14141E"/>
          </a:solidFill>
          <a:ln w="9525">
            <a:solidFill>
              <a:srgbClr val="1F1F2A"/>
            </a:solidFill>
            <a:prstDash val="solid"/>
          </a:ln>
        </p:spPr>
      </p:sp>
      <p:sp>
        <p:nvSpPr>
          <p:cNvPr id="70" name="Text 68"/>
          <p:cNvSpPr/>
          <p:nvPr/>
        </p:nvSpPr>
        <p:spPr>
          <a:xfrm>
            <a:off x="914400" y="5852160"/>
            <a:ext cx="1188720" cy="502920"/>
          </a:xfrm>
          <a:prstGeom prst="rect">
            <a:avLst/>
          </a:prstGeom>
          <a:noFill/>
          <a:ln/>
        </p:spPr>
        <p:txBody>
          <a:bodyPr wrap="square" lIns="0" tIns="0" rIns="0" bIns="0" rtlCol="0" anchor="ctr"/>
          <a:lstStyle/>
          <a:p>
            <a:pPr indent="0" marL="0">
              <a:buNone/>
            </a:pPr>
            <a:r>
              <a:rPr lang="en-US" sz="900" spc="300" kern="0" dirty="0">
                <a:solidFill>
                  <a:srgbClr val="60606A"/>
                </a:solidFill>
                <a:latin typeface="Helvetica Neue" pitchFamily="34" charset="0"/>
                <a:ea typeface="Helvetica Neue" pitchFamily="34" charset="-122"/>
                <a:cs typeface="Helvetica Neue" pitchFamily="34" charset="-120"/>
              </a:rPr>
              <a:t>ADD-ONS</a:t>
            </a:r>
            <a:endParaRPr lang="en-US" sz="900" dirty="0"/>
          </a:p>
        </p:txBody>
      </p:sp>
      <p:sp>
        <p:nvSpPr>
          <p:cNvPr id="71" name="Shape 69"/>
          <p:cNvSpPr/>
          <p:nvPr/>
        </p:nvSpPr>
        <p:spPr>
          <a:xfrm>
            <a:off x="2011680" y="6057900"/>
            <a:ext cx="91440" cy="91440"/>
          </a:xfrm>
          <a:prstGeom prst="ellipse">
            <a:avLst/>
          </a:prstGeom>
          <a:solidFill>
            <a:srgbClr val="15AD70"/>
          </a:solidFill>
          <a:ln w="12700">
            <a:solidFill>
              <a:srgbClr val="15AD70"/>
            </a:solidFill>
            <a:prstDash val="solid"/>
          </a:ln>
        </p:spPr>
      </p:sp>
      <p:sp>
        <p:nvSpPr>
          <p:cNvPr id="72" name="Text 70"/>
          <p:cNvSpPr/>
          <p:nvPr/>
        </p:nvSpPr>
        <p:spPr>
          <a:xfrm>
            <a:off x="2194560" y="5852160"/>
            <a:ext cx="2171700" cy="5029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Annual billing</a:t>
            </a:r>
            <a:pPr indent="0" marL="0">
              <a:buNone/>
            </a:pPr>
            <a:r>
              <a:rPr lang="en-US" sz="900" dirty="0">
                <a:solidFill>
                  <a:srgbClr val="000000"/>
                </a:solidFill>
                <a:latin typeface="Helvetica Neue" pitchFamily="34" charset="0"/>
                <a:ea typeface="Helvetica Neue" pitchFamily="34" charset="-122"/>
                <a:cs typeface="Helvetica Neue" pitchFamily="34" charset="-120"/>
              </a:rPr>
              <a:t>  </a:t>
            </a:r>
            <a:pPr indent="0" marL="0">
              <a:buNone/>
            </a:pPr>
            <a:r>
              <a:rPr lang="en-US" sz="900" dirty="0">
                <a:solidFill>
                  <a:srgbClr val="15AD70"/>
                </a:solidFill>
                <a:latin typeface="Helvetica Neue" pitchFamily="34" charset="0"/>
                <a:ea typeface="Helvetica Neue" pitchFamily="34" charset="-122"/>
                <a:cs typeface="Helvetica Neue" pitchFamily="34" charset="-120"/>
              </a:rPr>
              <a:t>−20%</a:t>
            </a:r>
            <a:endParaRPr lang="en-US" sz="900" dirty="0"/>
          </a:p>
        </p:txBody>
      </p:sp>
      <p:sp>
        <p:nvSpPr>
          <p:cNvPr id="73" name="Shape 71"/>
          <p:cNvSpPr/>
          <p:nvPr/>
        </p:nvSpPr>
        <p:spPr>
          <a:xfrm>
            <a:off x="4366260" y="6057900"/>
            <a:ext cx="91440" cy="91440"/>
          </a:xfrm>
          <a:prstGeom prst="ellipse">
            <a:avLst/>
          </a:prstGeom>
          <a:solidFill>
            <a:srgbClr val="7193ED"/>
          </a:solidFill>
          <a:ln w="12700">
            <a:solidFill>
              <a:srgbClr val="7193ED"/>
            </a:solidFill>
            <a:prstDash val="solid"/>
          </a:ln>
        </p:spPr>
      </p:sp>
      <p:sp>
        <p:nvSpPr>
          <p:cNvPr id="74" name="Text 72"/>
          <p:cNvSpPr/>
          <p:nvPr/>
        </p:nvSpPr>
        <p:spPr>
          <a:xfrm>
            <a:off x="4549140" y="5852160"/>
            <a:ext cx="2171700" cy="5029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Extra AI cap</a:t>
            </a:r>
            <a:pPr indent="0" marL="0">
              <a:buNone/>
            </a:pPr>
            <a:r>
              <a:rPr lang="en-US" sz="900" dirty="0">
                <a:solidFill>
                  <a:srgbClr val="000000"/>
                </a:solidFill>
                <a:latin typeface="Helvetica Neue" pitchFamily="34" charset="0"/>
                <a:ea typeface="Helvetica Neue" pitchFamily="34" charset="-122"/>
                <a:cs typeface="Helvetica Neue" pitchFamily="34" charset="-120"/>
              </a:rPr>
              <a:t>  </a:t>
            </a:r>
            <a:pPr indent="0" marL="0">
              <a:buNone/>
            </a:pPr>
            <a:r>
              <a:rPr lang="en-US" sz="900" dirty="0">
                <a:solidFill>
                  <a:srgbClr val="7193ED"/>
                </a:solidFill>
                <a:latin typeface="Helvetica Neue" pitchFamily="34" charset="0"/>
                <a:ea typeface="Helvetica Neue" pitchFamily="34" charset="-122"/>
                <a:cs typeface="Helvetica Neue" pitchFamily="34" charset="-120"/>
              </a:rPr>
              <a:t>$0.02/1K tok</a:t>
            </a:r>
            <a:endParaRPr lang="en-US" sz="900" dirty="0"/>
          </a:p>
        </p:txBody>
      </p:sp>
      <p:sp>
        <p:nvSpPr>
          <p:cNvPr id="75" name="Shape 73"/>
          <p:cNvSpPr/>
          <p:nvPr/>
        </p:nvSpPr>
        <p:spPr>
          <a:xfrm>
            <a:off x="6720840" y="6057900"/>
            <a:ext cx="91440" cy="91440"/>
          </a:xfrm>
          <a:prstGeom prst="ellipse">
            <a:avLst/>
          </a:prstGeom>
          <a:solidFill>
            <a:srgbClr val="BF9FF1"/>
          </a:solidFill>
          <a:ln w="12700">
            <a:solidFill>
              <a:srgbClr val="BF9FF1"/>
            </a:solidFill>
            <a:prstDash val="solid"/>
          </a:ln>
        </p:spPr>
      </p:sp>
      <p:sp>
        <p:nvSpPr>
          <p:cNvPr id="76" name="Text 74"/>
          <p:cNvSpPr/>
          <p:nvPr/>
        </p:nvSpPr>
        <p:spPr>
          <a:xfrm>
            <a:off x="6903720" y="5852160"/>
            <a:ext cx="2171700" cy="5029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SSO add-on</a:t>
            </a:r>
            <a:pPr indent="0" marL="0">
              <a:buNone/>
            </a:pPr>
            <a:r>
              <a:rPr lang="en-US" sz="900" dirty="0">
                <a:solidFill>
                  <a:srgbClr val="000000"/>
                </a:solidFill>
                <a:latin typeface="Helvetica Neue" pitchFamily="34" charset="0"/>
                <a:ea typeface="Helvetica Neue" pitchFamily="34" charset="-122"/>
                <a:cs typeface="Helvetica Neue" pitchFamily="34" charset="-120"/>
              </a:rPr>
              <a:t>  </a:t>
            </a:r>
            <a:pPr indent="0" marL="0">
              <a:buNone/>
            </a:pPr>
            <a:r>
              <a:rPr lang="en-US" sz="900" dirty="0">
                <a:solidFill>
                  <a:srgbClr val="BF9FF1"/>
                </a:solidFill>
                <a:latin typeface="Helvetica Neue" pitchFamily="34" charset="0"/>
                <a:ea typeface="Helvetica Neue" pitchFamily="34" charset="-122"/>
                <a:cs typeface="Helvetica Neue" pitchFamily="34" charset="-120"/>
              </a:rPr>
              <a:t>$500/mo</a:t>
            </a:r>
            <a:endParaRPr lang="en-US" sz="900" dirty="0"/>
          </a:p>
        </p:txBody>
      </p:sp>
      <p:sp>
        <p:nvSpPr>
          <p:cNvPr id="77" name="Shape 75"/>
          <p:cNvSpPr/>
          <p:nvPr/>
        </p:nvSpPr>
        <p:spPr>
          <a:xfrm>
            <a:off x="9075420" y="6057900"/>
            <a:ext cx="91440" cy="91440"/>
          </a:xfrm>
          <a:prstGeom prst="ellipse">
            <a:avLst/>
          </a:prstGeom>
          <a:solidFill>
            <a:srgbClr val="F7C700"/>
          </a:solidFill>
          <a:ln w="12700">
            <a:solidFill>
              <a:srgbClr val="F7C700"/>
            </a:solidFill>
            <a:prstDash val="solid"/>
          </a:ln>
        </p:spPr>
      </p:sp>
      <p:sp>
        <p:nvSpPr>
          <p:cNvPr id="78" name="Text 76"/>
          <p:cNvSpPr/>
          <p:nvPr/>
        </p:nvSpPr>
        <p:spPr>
          <a:xfrm>
            <a:off x="9258300" y="5852160"/>
            <a:ext cx="2171700" cy="502920"/>
          </a:xfrm>
          <a:prstGeom prst="rect">
            <a:avLst/>
          </a:prstGeom>
          <a:noFill/>
          <a:ln/>
        </p:spPr>
        <p:txBody>
          <a:bodyPr wrap="square" lIns="0" tIns="0" rIns="0" bIns="0" rtlCol="0" anchor="ctr"/>
          <a:lstStyle/>
          <a:p>
            <a:pPr indent="0" marL="0">
              <a:buNone/>
            </a:pPr>
            <a:r>
              <a:rPr lang="en-US" sz="900" dirty="0">
                <a:solidFill>
                  <a:srgbClr val="A0A0B0"/>
                </a:solidFill>
                <a:latin typeface="Helvetica Neue" pitchFamily="34" charset="0"/>
                <a:ea typeface="Helvetica Neue" pitchFamily="34" charset="-122"/>
                <a:cs typeface="Helvetica Neue" pitchFamily="34" charset="-120"/>
              </a:rPr>
              <a:t>White-label env</a:t>
            </a:r>
            <a:pPr indent="0" marL="0">
              <a:buNone/>
            </a:pPr>
            <a:r>
              <a:rPr lang="en-US" sz="900" dirty="0">
                <a:solidFill>
                  <a:srgbClr val="000000"/>
                </a:solidFill>
                <a:latin typeface="Helvetica Neue" pitchFamily="34" charset="0"/>
                <a:ea typeface="Helvetica Neue" pitchFamily="34" charset="-122"/>
                <a:cs typeface="Helvetica Neue" pitchFamily="34" charset="-120"/>
              </a:rPr>
              <a:t>  </a:t>
            </a:r>
            <a:pPr indent="0" marL="0">
              <a:buNone/>
            </a:pPr>
            <a:r>
              <a:rPr lang="en-US" sz="900" dirty="0">
                <a:solidFill>
                  <a:srgbClr val="F7C700"/>
                </a:solidFill>
                <a:latin typeface="Helvetica Neue" pitchFamily="34" charset="0"/>
                <a:ea typeface="Helvetica Neue" pitchFamily="34" charset="-122"/>
                <a:cs typeface="Helvetica Neue" pitchFamily="34" charset="-120"/>
              </a:rPr>
              <a:t>$299/env/mo</a:t>
            </a:r>
            <a:endParaRPr lang="en-US" sz="900" dirty="0"/>
          </a:p>
        </p:txBody>
      </p:sp>
      <p:sp>
        <p:nvSpPr>
          <p:cNvPr id="79" name="Shape 77"/>
          <p:cNvSpPr/>
          <p:nvPr/>
        </p:nvSpPr>
        <p:spPr>
          <a:xfrm>
            <a:off x="640080" y="6419088"/>
            <a:ext cx="10881360" cy="0"/>
          </a:xfrm>
          <a:prstGeom prst="line">
            <a:avLst/>
          </a:prstGeom>
          <a:noFill/>
          <a:ln w="6350">
            <a:solidFill>
              <a:srgbClr val="181822"/>
            </a:solidFill>
            <a:prstDash val="solid"/>
          </a:ln>
        </p:spPr>
      </p:sp>
      <p:sp>
        <p:nvSpPr>
          <p:cNvPr id="80" name="Text 78"/>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81" name="Text 79"/>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13 / 15</a:t>
            </a:r>
            <a:endParaRPr lang="en-US" sz="800" dirty="0"/>
          </a:p>
        </p:txBody>
      </p:sp>
      <p:sp>
        <p:nvSpPr>
          <p:cNvPr id="82" name="Text 80"/>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C"/>
        </a:solidFill>
      </p:bgPr>
    </p:bg>
    <p:spTree>
      <p:nvGrpSpPr>
        <p:cNvPr id="1" name=""/>
        <p:cNvGrpSpPr/>
        <p:nvPr/>
      </p:nvGrpSpPr>
      <p:grpSpPr>
        <a:xfrm>
          <a:off x="0" y="0"/>
          <a:ext cx="0" cy="0"/>
          <a:chOff x="0" y="0"/>
          <a:chExt cx="0" cy="0"/>
        </a:xfrm>
      </p:grpSpPr>
      <p:sp>
        <p:nvSpPr>
          <p:cNvPr id="2" name="Shape 0"/>
          <p:cNvSpPr/>
          <p:nvPr/>
        </p:nvSpPr>
        <p:spPr>
          <a:xfrm>
            <a:off x="-2743200" y="-3657600"/>
            <a:ext cx="9144000" cy="9144000"/>
          </a:xfrm>
          <a:prstGeom prst="ellipse">
            <a:avLst/>
          </a:prstGeom>
          <a:solidFill>
            <a:srgbClr val="15AD70">
              <a:alpha val="6000"/>
            </a:srgbClr>
          </a:solidFill>
          <a:ln w="12700">
            <a:solidFill>
              <a:srgbClr val="08080C"/>
            </a:solidFill>
            <a:prstDash val="solid"/>
          </a:ln>
        </p:spPr>
      </p:sp>
      <p:sp>
        <p:nvSpPr>
          <p:cNvPr id="3" name="Text 1"/>
          <p:cNvSpPr/>
          <p:nvPr/>
        </p:nvSpPr>
        <p:spPr>
          <a:xfrm>
            <a:off x="640080" y="548640"/>
            <a:ext cx="731520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THE ASK</a:t>
            </a:r>
            <a:endParaRPr lang="en-US" sz="900" dirty="0"/>
          </a:p>
        </p:txBody>
      </p:sp>
      <p:sp>
        <p:nvSpPr>
          <p:cNvPr id="4" name="Text 2"/>
          <p:cNvSpPr/>
          <p:nvPr/>
        </p:nvSpPr>
        <p:spPr>
          <a:xfrm>
            <a:off x="640080" y="868680"/>
            <a:ext cx="10881360" cy="822960"/>
          </a:xfrm>
          <a:prstGeom prst="rect">
            <a:avLst/>
          </a:prstGeom>
          <a:noFill/>
          <a:ln/>
        </p:spPr>
        <p:txBody>
          <a:bodyPr wrap="square" lIns="0" tIns="0" rIns="0" bIns="0" rtlCol="0" anchor="ctr"/>
          <a:lstStyle/>
          <a:p>
            <a:pPr indent="0" marL="0">
              <a:buNone/>
            </a:pPr>
            <a:r>
              <a:rPr lang="en-US" sz="3600" dirty="0">
                <a:solidFill>
                  <a:srgbClr val="FFFFFF"/>
                </a:solidFill>
                <a:latin typeface="Helvetica Neue" pitchFamily="34" charset="0"/>
                <a:ea typeface="Helvetica Neue" pitchFamily="34" charset="-122"/>
                <a:cs typeface="Helvetica Neue" pitchFamily="34" charset="-120"/>
              </a:rPr>
              <a:t>$500K target.  $750K hard cap.</a:t>
            </a:r>
            <a:endParaRPr lang="en-US" sz="3600" dirty="0"/>
          </a:p>
        </p:txBody>
      </p:sp>
      <p:sp>
        <p:nvSpPr>
          <p:cNvPr id="5" name="Text 3"/>
          <p:cNvSpPr/>
          <p:nvPr/>
        </p:nvSpPr>
        <p:spPr>
          <a:xfrm>
            <a:off x="640080" y="1691640"/>
            <a:ext cx="10881360" cy="457200"/>
          </a:xfrm>
          <a:prstGeom prst="rect">
            <a:avLst/>
          </a:prstGeom>
          <a:noFill/>
          <a:ln/>
        </p:spPr>
        <p:txBody>
          <a:bodyPr wrap="square" lIns="0" tIns="0" rIns="0" bIns="0" rtlCol="0" anchor="ctr"/>
          <a:lstStyle/>
          <a:p>
            <a:pPr indent="0" marL="0">
              <a:buNone/>
            </a:pPr>
            <a:r>
              <a:rPr lang="en-US" sz="1500" spc="100" kern="0" dirty="0">
                <a:solidFill>
                  <a:srgbClr val="15AD70"/>
                </a:solidFill>
                <a:latin typeface="Helvetica Neue" pitchFamily="34" charset="0"/>
                <a:ea typeface="Helvetica Neue" pitchFamily="34" charset="-122"/>
                <a:cs typeface="Helvetica Neue" pitchFamily="34" charset="-120"/>
              </a:rPr>
              <a:t>Pre-seed SAFE  ·  $4M post-money cap  ·  18 months runway</a:t>
            </a:r>
            <a:endParaRPr lang="en-US" sz="1500" dirty="0"/>
          </a:p>
        </p:txBody>
      </p:sp>
      <p:sp>
        <p:nvSpPr>
          <p:cNvPr id="6" name="Text 4"/>
          <p:cNvSpPr/>
          <p:nvPr/>
        </p:nvSpPr>
        <p:spPr>
          <a:xfrm>
            <a:off x="640080" y="2240280"/>
            <a:ext cx="3657600" cy="274320"/>
          </a:xfrm>
          <a:prstGeom prst="rect">
            <a:avLst/>
          </a:prstGeom>
          <a:noFill/>
          <a:ln/>
        </p:spPr>
        <p:txBody>
          <a:bodyPr wrap="square" lIns="0" tIns="0" rIns="0" bIns="0" rtlCol="0" anchor="ctr"/>
          <a:lstStyle/>
          <a:p>
            <a:pPr indent="0" marL="0">
              <a:buNone/>
            </a:pPr>
            <a:r>
              <a:rPr lang="en-US" sz="900" spc="300" kern="0" dirty="0">
                <a:solidFill>
                  <a:srgbClr val="60606A"/>
                </a:solidFill>
                <a:latin typeface="Helvetica Neue" pitchFamily="34" charset="0"/>
                <a:ea typeface="Helvetica Neue" pitchFamily="34" charset="-122"/>
                <a:cs typeface="Helvetica Neue" pitchFamily="34" charset="-120"/>
              </a:rPr>
              <a:t>USE OF FUNDS</a:t>
            </a:r>
            <a:endParaRPr lang="en-US" sz="900" dirty="0"/>
          </a:p>
        </p:txBody>
      </p:sp>
      <p:sp>
        <p:nvSpPr>
          <p:cNvPr id="7" name="Shape 5"/>
          <p:cNvSpPr/>
          <p:nvPr/>
        </p:nvSpPr>
        <p:spPr>
          <a:xfrm>
            <a:off x="640080" y="2560320"/>
            <a:ext cx="4896612" cy="640080"/>
          </a:xfrm>
          <a:prstGeom prst="rect">
            <a:avLst/>
          </a:prstGeom>
          <a:solidFill>
            <a:srgbClr val="15AD70">
              <a:alpha val="80000"/>
            </a:srgbClr>
          </a:solidFill>
          <a:ln w="19050">
            <a:solidFill>
              <a:srgbClr val="08080C"/>
            </a:solidFill>
            <a:prstDash val="solid"/>
          </a:ln>
        </p:spPr>
      </p:sp>
      <p:sp>
        <p:nvSpPr>
          <p:cNvPr id="8" name="Text 6"/>
          <p:cNvSpPr/>
          <p:nvPr/>
        </p:nvSpPr>
        <p:spPr>
          <a:xfrm>
            <a:off x="640080" y="2697480"/>
            <a:ext cx="4896612" cy="365760"/>
          </a:xfrm>
          <a:prstGeom prst="rect">
            <a:avLst/>
          </a:prstGeom>
          <a:noFill/>
          <a:ln/>
        </p:spPr>
        <p:txBody>
          <a:bodyPr wrap="square" lIns="0" tIns="0" rIns="0" bIns="0" rtlCol="0" anchor="ctr"/>
          <a:lstStyle/>
          <a:p>
            <a:pPr algn="ctr" indent="0" marL="0">
              <a:buNone/>
            </a:pPr>
            <a:r>
              <a:rPr lang="en-US" sz="1600" dirty="0">
                <a:solidFill>
                  <a:srgbClr val="FFFFFF"/>
                </a:solidFill>
                <a:latin typeface="Helvetica Neue" pitchFamily="34" charset="0"/>
                <a:ea typeface="Helvetica Neue" pitchFamily="34" charset="-122"/>
                <a:cs typeface="Helvetica Neue" pitchFamily="34" charset="-120"/>
              </a:rPr>
              <a:t>45%</a:t>
            </a:r>
            <a:endParaRPr lang="en-US" sz="1600" dirty="0"/>
          </a:p>
        </p:txBody>
      </p:sp>
      <p:sp>
        <p:nvSpPr>
          <p:cNvPr id="9" name="Shape 7"/>
          <p:cNvSpPr/>
          <p:nvPr/>
        </p:nvSpPr>
        <p:spPr>
          <a:xfrm>
            <a:off x="5536692" y="2560320"/>
            <a:ext cx="2720340" cy="640080"/>
          </a:xfrm>
          <a:prstGeom prst="rect">
            <a:avLst/>
          </a:prstGeom>
          <a:solidFill>
            <a:srgbClr val="7193ED">
              <a:alpha val="80000"/>
            </a:srgbClr>
          </a:solidFill>
          <a:ln w="19050">
            <a:solidFill>
              <a:srgbClr val="08080C"/>
            </a:solidFill>
            <a:prstDash val="solid"/>
          </a:ln>
        </p:spPr>
      </p:sp>
      <p:sp>
        <p:nvSpPr>
          <p:cNvPr id="10" name="Text 8"/>
          <p:cNvSpPr/>
          <p:nvPr/>
        </p:nvSpPr>
        <p:spPr>
          <a:xfrm>
            <a:off x="5536692" y="2697480"/>
            <a:ext cx="272034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Helvetica Neue" pitchFamily="34" charset="0"/>
                <a:ea typeface="Helvetica Neue" pitchFamily="34" charset="-122"/>
                <a:cs typeface="Helvetica Neue" pitchFamily="34" charset="-120"/>
              </a:rPr>
              <a:t>25%</a:t>
            </a:r>
            <a:endParaRPr lang="en-US" sz="1600" dirty="0"/>
          </a:p>
        </p:txBody>
      </p:sp>
      <p:sp>
        <p:nvSpPr>
          <p:cNvPr id="11" name="Shape 9"/>
          <p:cNvSpPr/>
          <p:nvPr/>
        </p:nvSpPr>
        <p:spPr>
          <a:xfrm>
            <a:off x="8257032" y="2560320"/>
            <a:ext cx="1632204" cy="640080"/>
          </a:xfrm>
          <a:prstGeom prst="rect">
            <a:avLst/>
          </a:prstGeom>
          <a:solidFill>
            <a:srgbClr val="BF9FF1">
              <a:alpha val="80000"/>
            </a:srgbClr>
          </a:solidFill>
          <a:ln w="19050">
            <a:solidFill>
              <a:srgbClr val="08080C"/>
            </a:solidFill>
            <a:prstDash val="solid"/>
          </a:ln>
        </p:spPr>
      </p:sp>
      <p:sp>
        <p:nvSpPr>
          <p:cNvPr id="12" name="Text 10"/>
          <p:cNvSpPr/>
          <p:nvPr/>
        </p:nvSpPr>
        <p:spPr>
          <a:xfrm>
            <a:off x="8257032" y="2697480"/>
            <a:ext cx="1632204" cy="365760"/>
          </a:xfrm>
          <a:prstGeom prst="rect">
            <a:avLst/>
          </a:prstGeom>
          <a:noFill/>
          <a:ln/>
        </p:spPr>
        <p:txBody>
          <a:bodyPr wrap="square" lIns="0" tIns="0" rIns="0" bIns="0" rtlCol="0" anchor="ctr"/>
          <a:lstStyle/>
          <a:p>
            <a:pPr algn="ctr" indent="0" marL="0">
              <a:buNone/>
            </a:pPr>
            <a:r>
              <a:rPr lang="en-US" sz="1600" dirty="0">
                <a:solidFill>
                  <a:srgbClr val="FFFFFF"/>
                </a:solidFill>
                <a:latin typeface="Helvetica Neue" pitchFamily="34" charset="0"/>
                <a:ea typeface="Helvetica Neue" pitchFamily="34" charset="-122"/>
                <a:cs typeface="Helvetica Neue" pitchFamily="34" charset="-120"/>
              </a:rPr>
              <a:t>15%</a:t>
            </a:r>
            <a:endParaRPr lang="en-US" sz="1600" dirty="0"/>
          </a:p>
        </p:txBody>
      </p:sp>
      <p:sp>
        <p:nvSpPr>
          <p:cNvPr id="13" name="Shape 11"/>
          <p:cNvSpPr/>
          <p:nvPr/>
        </p:nvSpPr>
        <p:spPr>
          <a:xfrm>
            <a:off x="9889236" y="2560320"/>
            <a:ext cx="1632204" cy="640080"/>
          </a:xfrm>
          <a:prstGeom prst="rect">
            <a:avLst/>
          </a:prstGeom>
          <a:solidFill>
            <a:srgbClr val="F7C700">
              <a:alpha val="80000"/>
            </a:srgbClr>
          </a:solidFill>
          <a:ln w="19050">
            <a:solidFill>
              <a:srgbClr val="08080C"/>
            </a:solidFill>
            <a:prstDash val="solid"/>
          </a:ln>
        </p:spPr>
      </p:sp>
      <p:sp>
        <p:nvSpPr>
          <p:cNvPr id="14" name="Text 12"/>
          <p:cNvSpPr/>
          <p:nvPr/>
        </p:nvSpPr>
        <p:spPr>
          <a:xfrm>
            <a:off x="9889236" y="2697480"/>
            <a:ext cx="1632204" cy="365760"/>
          </a:xfrm>
          <a:prstGeom prst="rect">
            <a:avLst/>
          </a:prstGeom>
          <a:noFill/>
          <a:ln/>
        </p:spPr>
        <p:txBody>
          <a:bodyPr wrap="square" lIns="0" tIns="0" rIns="0" bIns="0" rtlCol="0" anchor="ctr"/>
          <a:lstStyle/>
          <a:p>
            <a:pPr algn="ctr" indent="0" marL="0">
              <a:buNone/>
            </a:pPr>
            <a:r>
              <a:rPr lang="en-US" sz="1600" dirty="0">
                <a:solidFill>
                  <a:srgbClr val="FFFFFF"/>
                </a:solidFill>
                <a:latin typeface="Helvetica Neue" pitchFamily="34" charset="0"/>
                <a:ea typeface="Helvetica Neue" pitchFamily="34" charset="-122"/>
                <a:cs typeface="Helvetica Neue" pitchFamily="34" charset="-120"/>
              </a:rPr>
              <a:t>15%</a:t>
            </a:r>
            <a:endParaRPr lang="en-US" sz="1600" dirty="0"/>
          </a:p>
        </p:txBody>
      </p:sp>
      <p:sp>
        <p:nvSpPr>
          <p:cNvPr id="15" name="Text 13"/>
          <p:cNvSpPr/>
          <p:nvPr/>
        </p:nvSpPr>
        <p:spPr>
          <a:xfrm>
            <a:off x="640080" y="3291840"/>
            <a:ext cx="4896612" cy="320040"/>
          </a:xfrm>
          <a:prstGeom prst="rect">
            <a:avLst/>
          </a:prstGeom>
          <a:noFill/>
          <a:ln/>
        </p:spPr>
        <p:txBody>
          <a:bodyPr wrap="square" lIns="0" tIns="0" rIns="0" bIns="0" rtlCol="0" anchor="ctr"/>
          <a:lstStyle/>
          <a:p>
            <a:pPr algn="ctr" indent="0" marL="0">
              <a:buNone/>
            </a:pPr>
            <a:r>
              <a:rPr lang="en-US" sz="900" dirty="0">
                <a:solidFill>
                  <a:srgbClr val="15AD70"/>
                </a:solidFill>
                <a:latin typeface="Helvetica Neue" pitchFamily="34" charset="0"/>
                <a:ea typeface="Helvetica Neue" pitchFamily="34" charset="-122"/>
                <a:cs typeface="Helvetica Neue" pitchFamily="34" charset="-120"/>
              </a:rPr>
              <a:t>Founder</a:t>
            </a:r>
            <a:endParaRPr lang="en-US" sz="900" dirty="0"/>
          </a:p>
        </p:txBody>
      </p:sp>
      <p:sp>
        <p:nvSpPr>
          <p:cNvPr id="16" name="Text 14"/>
          <p:cNvSpPr/>
          <p:nvPr/>
        </p:nvSpPr>
        <p:spPr>
          <a:xfrm>
            <a:off x="5536692" y="3291840"/>
            <a:ext cx="2720340" cy="320040"/>
          </a:xfrm>
          <a:prstGeom prst="rect">
            <a:avLst/>
          </a:prstGeom>
          <a:noFill/>
          <a:ln/>
        </p:spPr>
        <p:txBody>
          <a:bodyPr wrap="square" lIns="0" tIns="0" rIns="0" bIns="0" rtlCol="0" anchor="ctr"/>
          <a:lstStyle/>
          <a:p>
            <a:pPr algn="ctr" indent="0" marL="0">
              <a:buNone/>
            </a:pPr>
            <a:r>
              <a:rPr lang="en-US" sz="900" dirty="0">
                <a:solidFill>
                  <a:srgbClr val="7193ED"/>
                </a:solidFill>
                <a:latin typeface="Helvetica Neue" pitchFamily="34" charset="0"/>
                <a:ea typeface="Helvetica Neue" pitchFamily="34" charset="-122"/>
                <a:cs typeface="Helvetica Neue" pitchFamily="34" charset="-120"/>
              </a:rPr>
              <a:t>Research  ·  IP  ·  Legal</a:t>
            </a:r>
            <a:endParaRPr lang="en-US" sz="900" dirty="0"/>
          </a:p>
        </p:txBody>
      </p:sp>
      <p:sp>
        <p:nvSpPr>
          <p:cNvPr id="17" name="Text 15"/>
          <p:cNvSpPr/>
          <p:nvPr/>
        </p:nvSpPr>
        <p:spPr>
          <a:xfrm>
            <a:off x="8257032" y="3291840"/>
            <a:ext cx="1632204" cy="320040"/>
          </a:xfrm>
          <a:prstGeom prst="rect">
            <a:avLst/>
          </a:prstGeom>
          <a:noFill/>
          <a:ln/>
        </p:spPr>
        <p:txBody>
          <a:bodyPr wrap="square" lIns="0" tIns="0" rIns="0" bIns="0" rtlCol="0" anchor="ctr"/>
          <a:lstStyle/>
          <a:p>
            <a:pPr algn="ctr" indent="0" marL="0">
              <a:buNone/>
            </a:pPr>
            <a:r>
              <a:rPr lang="en-US" sz="900" dirty="0">
                <a:solidFill>
                  <a:srgbClr val="BF9FF1"/>
                </a:solidFill>
                <a:latin typeface="Helvetica Neue" pitchFamily="34" charset="0"/>
                <a:ea typeface="Helvetica Neue" pitchFamily="34" charset="-122"/>
                <a:cs typeface="Helvetica Neue" pitchFamily="34" charset="-120"/>
              </a:rPr>
              <a:t>GTM review</a:t>
            </a:r>
            <a:endParaRPr lang="en-US" sz="900" dirty="0"/>
          </a:p>
        </p:txBody>
      </p:sp>
      <p:sp>
        <p:nvSpPr>
          <p:cNvPr id="18" name="Text 16"/>
          <p:cNvSpPr/>
          <p:nvPr/>
        </p:nvSpPr>
        <p:spPr>
          <a:xfrm>
            <a:off x="9889236" y="3291840"/>
            <a:ext cx="1632204" cy="320040"/>
          </a:xfrm>
          <a:prstGeom prst="rect">
            <a:avLst/>
          </a:prstGeom>
          <a:noFill/>
          <a:ln/>
        </p:spPr>
        <p:txBody>
          <a:bodyPr wrap="square" lIns="0" tIns="0" rIns="0" bIns="0" rtlCol="0" anchor="ctr"/>
          <a:lstStyle/>
          <a:p>
            <a:pPr algn="ctr" indent="0" marL="0">
              <a:buNone/>
            </a:pPr>
            <a:r>
              <a:rPr lang="en-US" sz="900" dirty="0">
                <a:solidFill>
                  <a:srgbClr val="F7C700"/>
                </a:solidFill>
                <a:latin typeface="Helvetica Neue" pitchFamily="34" charset="0"/>
                <a:ea typeface="Helvetica Neue" pitchFamily="34" charset="-122"/>
                <a:cs typeface="Helvetica Neue" pitchFamily="34" charset="-120"/>
              </a:rPr>
              <a:t>Tech stack revision</a:t>
            </a:r>
            <a:endParaRPr lang="en-US" sz="900" dirty="0"/>
          </a:p>
        </p:txBody>
      </p:sp>
      <p:sp>
        <p:nvSpPr>
          <p:cNvPr id="19" name="Text 17"/>
          <p:cNvSpPr/>
          <p:nvPr/>
        </p:nvSpPr>
        <p:spPr>
          <a:xfrm>
            <a:off x="640080" y="4251960"/>
            <a:ext cx="5486400" cy="274320"/>
          </a:xfrm>
          <a:prstGeom prst="rect">
            <a:avLst/>
          </a:prstGeom>
          <a:noFill/>
          <a:ln/>
        </p:spPr>
        <p:txBody>
          <a:bodyPr wrap="square" lIns="0" tIns="0" rIns="0" bIns="0" rtlCol="0" anchor="ctr"/>
          <a:lstStyle/>
          <a:p>
            <a:pPr indent="0" marL="0">
              <a:buNone/>
            </a:pPr>
            <a:r>
              <a:rPr lang="en-US" sz="900" spc="300" kern="0" dirty="0">
                <a:solidFill>
                  <a:srgbClr val="60606A"/>
                </a:solidFill>
                <a:latin typeface="Helvetica Neue" pitchFamily="34" charset="0"/>
                <a:ea typeface="Helvetica Neue" pitchFamily="34" charset="-122"/>
                <a:cs typeface="Helvetica Neue" pitchFamily="34" charset="-120"/>
              </a:rPr>
              <a:t>MILESTONES TO SEED</a:t>
            </a:r>
            <a:endParaRPr lang="en-US" sz="900" dirty="0"/>
          </a:p>
        </p:txBody>
      </p:sp>
      <p:sp>
        <p:nvSpPr>
          <p:cNvPr id="20" name="Shape 18"/>
          <p:cNvSpPr/>
          <p:nvPr/>
        </p:nvSpPr>
        <p:spPr>
          <a:xfrm>
            <a:off x="640080" y="4572000"/>
            <a:ext cx="2617470" cy="1234440"/>
          </a:xfrm>
          <a:prstGeom prst="roundRect">
            <a:avLst>
              <a:gd name="adj" fmla="val 5926"/>
            </a:avLst>
          </a:prstGeom>
          <a:solidFill>
            <a:srgbClr val="101018"/>
          </a:solidFill>
          <a:ln w="9525">
            <a:solidFill>
              <a:srgbClr val="1F1F2A"/>
            </a:solidFill>
            <a:prstDash val="solid"/>
          </a:ln>
        </p:spPr>
      </p:sp>
      <p:sp>
        <p:nvSpPr>
          <p:cNvPr id="21" name="Text 19"/>
          <p:cNvSpPr/>
          <p:nvPr/>
        </p:nvSpPr>
        <p:spPr>
          <a:xfrm>
            <a:off x="960120" y="4709160"/>
            <a:ext cx="914400" cy="274320"/>
          </a:xfrm>
          <a:prstGeom prst="rect">
            <a:avLst/>
          </a:prstGeom>
          <a:noFill/>
          <a:ln/>
        </p:spPr>
        <p:txBody>
          <a:bodyPr wrap="square" lIns="0" tIns="0" rIns="0" bIns="0" rtlCol="0" anchor="ctr"/>
          <a:lstStyle/>
          <a:p>
            <a:pPr indent="0" marL="0">
              <a:buNone/>
            </a:pPr>
            <a:r>
              <a:rPr lang="en-US" sz="900" spc="300" kern="0" dirty="0">
                <a:solidFill>
                  <a:srgbClr val="15AD70"/>
                </a:solidFill>
                <a:latin typeface="Helvetica Neue" pitchFamily="34" charset="0"/>
                <a:ea typeface="Helvetica Neue" pitchFamily="34" charset="-122"/>
                <a:cs typeface="Helvetica Neue" pitchFamily="34" charset="-120"/>
              </a:rPr>
              <a:t>✓</a:t>
            </a:r>
            <a:endParaRPr lang="en-US" sz="900" dirty="0"/>
          </a:p>
        </p:txBody>
      </p:sp>
      <p:sp>
        <p:nvSpPr>
          <p:cNvPr id="22" name="Text 20"/>
          <p:cNvSpPr/>
          <p:nvPr/>
        </p:nvSpPr>
        <p:spPr>
          <a:xfrm>
            <a:off x="960120" y="4937760"/>
            <a:ext cx="1977390" cy="365760"/>
          </a:xfrm>
          <a:prstGeom prst="rect">
            <a:avLst/>
          </a:prstGeom>
          <a:noFill/>
          <a:ln/>
        </p:spPr>
        <p:txBody>
          <a:bodyPr wrap="square" lIns="0" tIns="0" rIns="0" bIns="0" rtlCol="0" anchor="ctr"/>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Alpha live with private partners</a:t>
            </a:r>
            <a:endParaRPr lang="en-US" sz="1200" dirty="0"/>
          </a:p>
        </p:txBody>
      </p:sp>
      <p:sp>
        <p:nvSpPr>
          <p:cNvPr id="23" name="Text 21"/>
          <p:cNvSpPr/>
          <p:nvPr/>
        </p:nvSpPr>
        <p:spPr>
          <a:xfrm>
            <a:off x="960120" y="5303520"/>
            <a:ext cx="197739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NOW</a:t>
            </a:r>
            <a:endParaRPr lang="en-US" sz="900" dirty="0"/>
          </a:p>
        </p:txBody>
      </p:sp>
      <p:sp>
        <p:nvSpPr>
          <p:cNvPr id="24" name="Shape 22"/>
          <p:cNvSpPr/>
          <p:nvPr/>
        </p:nvSpPr>
        <p:spPr>
          <a:xfrm>
            <a:off x="3394710" y="4572000"/>
            <a:ext cx="2617470" cy="1234440"/>
          </a:xfrm>
          <a:prstGeom prst="roundRect">
            <a:avLst>
              <a:gd name="adj" fmla="val 5926"/>
            </a:avLst>
          </a:prstGeom>
          <a:solidFill>
            <a:srgbClr val="101018"/>
          </a:solidFill>
          <a:ln w="9525">
            <a:solidFill>
              <a:srgbClr val="1F1F2A"/>
            </a:solidFill>
            <a:prstDash val="solid"/>
          </a:ln>
        </p:spPr>
      </p:sp>
      <p:sp>
        <p:nvSpPr>
          <p:cNvPr id="25" name="Text 23"/>
          <p:cNvSpPr/>
          <p:nvPr/>
        </p:nvSpPr>
        <p:spPr>
          <a:xfrm>
            <a:off x="3714750" y="4709160"/>
            <a:ext cx="914400" cy="274320"/>
          </a:xfrm>
          <a:prstGeom prst="rect">
            <a:avLst/>
          </a:prstGeom>
          <a:noFill/>
          <a:ln/>
        </p:spPr>
        <p:txBody>
          <a:bodyPr wrap="square" lIns="0" tIns="0" rIns="0" bIns="0" rtlCol="0" anchor="ctr"/>
          <a:lstStyle/>
          <a:p>
            <a:pPr indent="0" marL="0">
              <a:buNone/>
            </a:pPr>
            <a:r>
              <a:rPr lang="en-US" sz="900" spc="300" kern="0" dirty="0">
                <a:solidFill>
                  <a:srgbClr val="7193ED"/>
                </a:solidFill>
                <a:latin typeface="Helvetica Neue" pitchFamily="34" charset="0"/>
                <a:ea typeface="Helvetica Neue" pitchFamily="34" charset="-122"/>
                <a:cs typeface="Helvetica Neue" pitchFamily="34" charset="-120"/>
              </a:rPr>
              <a:t>01</a:t>
            </a:r>
            <a:endParaRPr lang="en-US" sz="900" dirty="0"/>
          </a:p>
        </p:txBody>
      </p:sp>
      <p:sp>
        <p:nvSpPr>
          <p:cNvPr id="26" name="Text 24"/>
          <p:cNvSpPr/>
          <p:nvPr/>
        </p:nvSpPr>
        <p:spPr>
          <a:xfrm>
            <a:off x="3714750" y="4937760"/>
            <a:ext cx="1977390" cy="365760"/>
          </a:xfrm>
          <a:prstGeom prst="rect">
            <a:avLst/>
          </a:prstGeom>
          <a:noFill/>
          <a:ln/>
        </p:spPr>
        <p:txBody>
          <a:bodyPr wrap="square" lIns="0" tIns="0" rIns="0" bIns="0" rtlCol="0" anchor="ctr"/>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Public beta opens</a:t>
            </a:r>
            <a:endParaRPr lang="en-US" sz="1200" dirty="0"/>
          </a:p>
        </p:txBody>
      </p:sp>
      <p:sp>
        <p:nvSpPr>
          <p:cNvPr id="27" name="Text 25"/>
          <p:cNvSpPr/>
          <p:nvPr/>
        </p:nvSpPr>
        <p:spPr>
          <a:xfrm>
            <a:off x="3714750" y="5303520"/>
            <a:ext cx="197739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May 2026</a:t>
            </a:r>
            <a:endParaRPr lang="en-US" sz="900" dirty="0"/>
          </a:p>
        </p:txBody>
      </p:sp>
      <p:sp>
        <p:nvSpPr>
          <p:cNvPr id="28" name="Shape 26"/>
          <p:cNvSpPr/>
          <p:nvPr/>
        </p:nvSpPr>
        <p:spPr>
          <a:xfrm>
            <a:off x="6149340" y="4572000"/>
            <a:ext cx="2617470" cy="1234440"/>
          </a:xfrm>
          <a:prstGeom prst="roundRect">
            <a:avLst>
              <a:gd name="adj" fmla="val 5926"/>
            </a:avLst>
          </a:prstGeom>
          <a:solidFill>
            <a:srgbClr val="101018"/>
          </a:solidFill>
          <a:ln w="9525">
            <a:solidFill>
              <a:srgbClr val="1F1F2A"/>
            </a:solidFill>
            <a:prstDash val="solid"/>
          </a:ln>
        </p:spPr>
      </p:sp>
      <p:sp>
        <p:nvSpPr>
          <p:cNvPr id="29" name="Text 27"/>
          <p:cNvSpPr/>
          <p:nvPr/>
        </p:nvSpPr>
        <p:spPr>
          <a:xfrm>
            <a:off x="6469380" y="4709160"/>
            <a:ext cx="914400" cy="274320"/>
          </a:xfrm>
          <a:prstGeom prst="rect">
            <a:avLst/>
          </a:prstGeom>
          <a:noFill/>
          <a:ln/>
        </p:spPr>
        <p:txBody>
          <a:bodyPr wrap="square" lIns="0" tIns="0" rIns="0" bIns="0" rtlCol="0" anchor="ctr"/>
          <a:lstStyle/>
          <a:p>
            <a:pPr indent="0" marL="0">
              <a:buNone/>
            </a:pPr>
            <a:r>
              <a:rPr lang="en-US" sz="900" spc="300" kern="0" dirty="0">
                <a:solidFill>
                  <a:srgbClr val="BF9FF1"/>
                </a:solidFill>
                <a:latin typeface="Helvetica Neue" pitchFamily="34" charset="0"/>
                <a:ea typeface="Helvetica Neue" pitchFamily="34" charset="-122"/>
                <a:cs typeface="Helvetica Neue" pitchFamily="34" charset="-120"/>
              </a:rPr>
              <a:t>02</a:t>
            </a:r>
            <a:endParaRPr lang="en-US" sz="900" dirty="0"/>
          </a:p>
        </p:txBody>
      </p:sp>
      <p:sp>
        <p:nvSpPr>
          <p:cNvPr id="30" name="Text 28"/>
          <p:cNvSpPr/>
          <p:nvPr/>
        </p:nvSpPr>
        <p:spPr>
          <a:xfrm>
            <a:off x="6469380" y="4937760"/>
            <a:ext cx="1977390" cy="365760"/>
          </a:xfrm>
          <a:prstGeom prst="rect">
            <a:avLst/>
          </a:prstGeom>
          <a:noFill/>
          <a:ln/>
        </p:spPr>
        <p:txBody>
          <a:bodyPr wrap="square" lIns="0" tIns="0" rIns="0" bIns="0" rtlCol="0" anchor="ctr"/>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25 paying users + $10K MRR</a:t>
            </a:r>
            <a:endParaRPr lang="en-US" sz="1200" dirty="0"/>
          </a:p>
        </p:txBody>
      </p:sp>
      <p:sp>
        <p:nvSpPr>
          <p:cNvPr id="31" name="Text 29"/>
          <p:cNvSpPr/>
          <p:nvPr/>
        </p:nvSpPr>
        <p:spPr>
          <a:xfrm>
            <a:off x="6469380" y="5303520"/>
            <a:ext cx="197739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Q3 2026</a:t>
            </a:r>
            <a:endParaRPr lang="en-US" sz="900" dirty="0"/>
          </a:p>
        </p:txBody>
      </p:sp>
      <p:sp>
        <p:nvSpPr>
          <p:cNvPr id="32" name="Shape 30"/>
          <p:cNvSpPr/>
          <p:nvPr/>
        </p:nvSpPr>
        <p:spPr>
          <a:xfrm>
            <a:off x="8903970" y="4572000"/>
            <a:ext cx="2617470" cy="1234440"/>
          </a:xfrm>
          <a:prstGeom prst="roundRect">
            <a:avLst>
              <a:gd name="adj" fmla="val 5926"/>
            </a:avLst>
          </a:prstGeom>
          <a:solidFill>
            <a:srgbClr val="101018"/>
          </a:solidFill>
          <a:ln w="9525">
            <a:solidFill>
              <a:srgbClr val="1F1F2A"/>
            </a:solidFill>
            <a:prstDash val="solid"/>
          </a:ln>
        </p:spPr>
      </p:sp>
      <p:sp>
        <p:nvSpPr>
          <p:cNvPr id="33" name="Text 31"/>
          <p:cNvSpPr/>
          <p:nvPr/>
        </p:nvSpPr>
        <p:spPr>
          <a:xfrm>
            <a:off x="9224010" y="4709160"/>
            <a:ext cx="914400" cy="274320"/>
          </a:xfrm>
          <a:prstGeom prst="rect">
            <a:avLst/>
          </a:prstGeom>
          <a:noFill/>
          <a:ln/>
        </p:spPr>
        <p:txBody>
          <a:bodyPr wrap="square" lIns="0" tIns="0" rIns="0" bIns="0" rtlCol="0" anchor="ctr"/>
          <a:lstStyle/>
          <a:p>
            <a:pPr indent="0" marL="0">
              <a:buNone/>
            </a:pPr>
            <a:r>
              <a:rPr lang="en-US" sz="900" spc="300" kern="0" dirty="0">
                <a:solidFill>
                  <a:srgbClr val="F7C700"/>
                </a:solidFill>
                <a:latin typeface="Helvetica Neue" pitchFamily="34" charset="0"/>
                <a:ea typeface="Helvetica Neue" pitchFamily="34" charset="-122"/>
                <a:cs typeface="Helvetica Neue" pitchFamily="34" charset="-120"/>
              </a:rPr>
              <a:t>03</a:t>
            </a:r>
            <a:endParaRPr lang="en-US" sz="900" dirty="0"/>
          </a:p>
        </p:txBody>
      </p:sp>
      <p:sp>
        <p:nvSpPr>
          <p:cNvPr id="34" name="Text 32"/>
          <p:cNvSpPr/>
          <p:nvPr/>
        </p:nvSpPr>
        <p:spPr>
          <a:xfrm>
            <a:off x="9224010" y="4937760"/>
            <a:ext cx="1977390" cy="365760"/>
          </a:xfrm>
          <a:prstGeom prst="rect">
            <a:avLst/>
          </a:prstGeom>
          <a:noFill/>
          <a:ln/>
        </p:spPr>
        <p:txBody>
          <a:bodyPr wrap="square" lIns="0" tIns="0" rIns="0" bIns="0" rtlCol="0" anchor="ctr"/>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Seed-ready with case studies</a:t>
            </a:r>
            <a:endParaRPr lang="en-US" sz="1200" dirty="0"/>
          </a:p>
        </p:txBody>
      </p:sp>
      <p:sp>
        <p:nvSpPr>
          <p:cNvPr id="35" name="Text 33"/>
          <p:cNvSpPr/>
          <p:nvPr/>
        </p:nvSpPr>
        <p:spPr>
          <a:xfrm>
            <a:off x="9224010" y="5303520"/>
            <a:ext cx="1977390" cy="2743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Q4 2026</a:t>
            </a:r>
            <a:endParaRPr lang="en-US" sz="900" dirty="0"/>
          </a:p>
        </p:txBody>
      </p:sp>
      <p:sp>
        <p:nvSpPr>
          <p:cNvPr id="36" name="Shape 34"/>
          <p:cNvSpPr/>
          <p:nvPr/>
        </p:nvSpPr>
        <p:spPr>
          <a:xfrm>
            <a:off x="640080" y="5989320"/>
            <a:ext cx="10881360" cy="0"/>
          </a:xfrm>
          <a:prstGeom prst="line">
            <a:avLst/>
          </a:prstGeom>
          <a:noFill/>
          <a:ln w="9525">
            <a:solidFill>
              <a:srgbClr val="1F1F2A"/>
            </a:solidFill>
            <a:prstDash val="solid"/>
          </a:ln>
        </p:spPr>
      </p:sp>
      <p:sp>
        <p:nvSpPr>
          <p:cNvPr id="37" name="Text 35"/>
          <p:cNvSpPr/>
          <p:nvPr/>
        </p:nvSpPr>
        <p:spPr>
          <a:xfrm>
            <a:off x="640080" y="6172200"/>
            <a:ext cx="7616952" cy="320040"/>
          </a:xfrm>
          <a:prstGeom prst="rect">
            <a:avLst/>
          </a:prstGeom>
          <a:noFill/>
          <a:ln/>
        </p:spPr>
        <p:txBody>
          <a:bodyPr wrap="square" lIns="0" tIns="0" rIns="0" bIns="0" rtlCol="0" anchor="ctr"/>
          <a:lstStyle/>
          <a:p>
            <a:pPr indent="0" marL="0">
              <a:buNone/>
            </a:pPr>
            <a:r>
              <a:rPr lang="en-US" sz="1200" i="1" dirty="0">
                <a:solidFill>
                  <a:srgbClr val="A0A0B0"/>
                </a:solidFill>
                <a:latin typeface="Helvetica Neue" pitchFamily="34" charset="0"/>
                <a:ea typeface="Helvetica Neue" pitchFamily="34" charset="-122"/>
                <a:cs typeface="Helvetica Neue" pitchFamily="34" charset="-120"/>
              </a:rPr>
              <a:t>When intelligence becomes infinite, structure becomes the only advantage.</a:t>
            </a:r>
            <a:endParaRPr lang="en-US" sz="1200" dirty="0"/>
          </a:p>
        </p:txBody>
      </p:sp>
      <p:sp>
        <p:nvSpPr>
          <p:cNvPr id="38" name="Text 36"/>
          <p:cNvSpPr/>
          <p:nvPr/>
        </p:nvSpPr>
        <p:spPr>
          <a:xfrm>
            <a:off x="7863840" y="6172200"/>
            <a:ext cx="3657600" cy="320040"/>
          </a:xfrm>
          <a:prstGeom prst="rect">
            <a:avLst/>
          </a:prstGeom>
          <a:noFill/>
          <a:ln/>
        </p:spPr>
        <p:txBody>
          <a:bodyPr wrap="square" lIns="0" tIns="0" rIns="0" bIns="0" rtlCol="0" anchor="ctr"/>
          <a:lstStyle/>
          <a:p>
            <a:pPr algn="r" indent="0" marL="0">
              <a:buNone/>
            </a:pPr>
            <a:r>
              <a:rPr lang="en-US" sz="1200" dirty="0">
                <a:solidFill>
                  <a:srgbClr val="15AD70"/>
                </a:solidFill>
                <a:latin typeface="Helvetica Neue" pitchFamily="34" charset="0"/>
                <a:ea typeface="Helvetica Neue" pitchFamily="34" charset="-122"/>
                <a:cs typeface="Helvetica Neue" pitchFamily="34" charset="-120"/>
              </a:rPr>
              <a:t>nicole@grddd.com</a:t>
            </a:r>
            <a:endParaRPr lang="en-US" sz="1200" dirty="0"/>
          </a:p>
        </p:txBody>
      </p:sp>
      <p:sp>
        <p:nvSpPr>
          <p:cNvPr id="39" name="Shape 37"/>
          <p:cNvSpPr/>
          <p:nvPr/>
        </p:nvSpPr>
        <p:spPr>
          <a:xfrm>
            <a:off x="640080" y="6419088"/>
            <a:ext cx="10881360" cy="0"/>
          </a:xfrm>
          <a:prstGeom prst="line">
            <a:avLst/>
          </a:prstGeom>
          <a:noFill/>
          <a:ln w="6350">
            <a:solidFill>
              <a:srgbClr val="181822"/>
            </a:solidFill>
            <a:prstDash val="solid"/>
          </a:ln>
        </p:spPr>
      </p:sp>
      <p:sp>
        <p:nvSpPr>
          <p:cNvPr id="40" name="Text 38"/>
          <p:cNvSpPr/>
          <p:nvPr/>
        </p:nvSpPr>
        <p:spPr>
          <a:xfrm>
            <a:off x="640080" y="6473952"/>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41" name="Text 39"/>
          <p:cNvSpPr/>
          <p:nvPr/>
        </p:nvSpPr>
        <p:spPr>
          <a:xfrm>
            <a:off x="9692640" y="6473952"/>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14 / 15</a:t>
            </a:r>
            <a:endParaRPr lang="en-US" sz="800" dirty="0"/>
          </a:p>
        </p:txBody>
      </p:sp>
      <p:sp>
        <p:nvSpPr>
          <p:cNvPr id="42" name="Text 40"/>
          <p:cNvSpPr/>
          <p:nvPr/>
        </p:nvSpPr>
        <p:spPr>
          <a:xfrm>
            <a:off x="4251960" y="6473952"/>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C"/>
        </a:solidFill>
      </p:bgPr>
    </p:bg>
    <p:spTree>
      <p:nvGrpSpPr>
        <p:cNvPr id="1" name=""/>
        <p:cNvGrpSpPr/>
        <p:nvPr/>
      </p:nvGrpSpPr>
      <p:grpSpPr>
        <a:xfrm>
          <a:off x="0" y="0"/>
          <a:ext cx="0" cy="0"/>
          <a:chOff x="0" y="0"/>
          <a:chExt cx="0" cy="0"/>
        </a:xfrm>
      </p:grpSpPr>
      <p:sp>
        <p:nvSpPr>
          <p:cNvPr id="2" name="Shape 0"/>
          <p:cNvSpPr/>
          <p:nvPr/>
        </p:nvSpPr>
        <p:spPr>
          <a:xfrm>
            <a:off x="914400" y="-4572000"/>
            <a:ext cx="10972800" cy="9144000"/>
          </a:xfrm>
          <a:prstGeom prst="ellipse">
            <a:avLst/>
          </a:prstGeom>
          <a:solidFill>
            <a:srgbClr val="15AD70">
              <a:alpha val="7000"/>
            </a:srgbClr>
          </a:solidFill>
          <a:ln w="12700">
            <a:solidFill>
              <a:srgbClr val="08080C"/>
            </a:solidFill>
            <a:prstDash val="solid"/>
          </a:ln>
        </p:spPr>
      </p:sp>
      <p:sp>
        <p:nvSpPr>
          <p:cNvPr id="3" name="Shape 1"/>
          <p:cNvSpPr/>
          <p:nvPr/>
        </p:nvSpPr>
        <p:spPr>
          <a:xfrm>
            <a:off x="6400800" y="3657600"/>
            <a:ext cx="7315200" cy="5486400"/>
          </a:xfrm>
          <a:prstGeom prst="ellipse">
            <a:avLst/>
          </a:prstGeom>
          <a:solidFill>
            <a:srgbClr val="BF9FF1">
              <a:alpha val="5000"/>
            </a:srgbClr>
          </a:solidFill>
          <a:ln w="12700">
            <a:solidFill>
              <a:srgbClr val="08080C"/>
            </a:solidFill>
            <a:prstDash val="solid"/>
          </a:ln>
        </p:spPr>
      </p:sp>
      <p:sp>
        <p:nvSpPr>
          <p:cNvPr id="4" name="Shape 2"/>
          <p:cNvSpPr/>
          <p:nvPr/>
        </p:nvSpPr>
        <p:spPr>
          <a:xfrm>
            <a:off x="640080" y="502920"/>
            <a:ext cx="361188" cy="457200"/>
          </a:xfrm>
          <a:prstGeom prst="roundRect">
            <a:avLst>
              <a:gd name="adj" fmla="val 15190"/>
            </a:avLst>
          </a:prstGeom>
          <a:solidFill>
            <a:srgbClr val="08080C"/>
          </a:solidFill>
          <a:ln w="15875">
            <a:solidFill>
              <a:srgbClr val="15AD70"/>
            </a:solidFill>
            <a:prstDash val="solid"/>
          </a:ln>
        </p:spPr>
      </p:sp>
      <p:sp>
        <p:nvSpPr>
          <p:cNvPr id="5" name="Shape 3"/>
          <p:cNvSpPr/>
          <p:nvPr/>
        </p:nvSpPr>
        <p:spPr>
          <a:xfrm>
            <a:off x="763524" y="521208"/>
            <a:ext cx="0" cy="393192"/>
          </a:xfrm>
          <a:prstGeom prst="line">
            <a:avLst/>
          </a:prstGeom>
          <a:noFill/>
          <a:ln w="15875">
            <a:solidFill>
              <a:srgbClr val="15AD70"/>
            </a:solidFill>
            <a:prstDash val="solid"/>
          </a:ln>
        </p:spPr>
      </p:sp>
      <p:sp>
        <p:nvSpPr>
          <p:cNvPr id="6" name="Shape 4"/>
          <p:cNvSpPr/>
          <p:nvPr/>
        </p:nvSpPr>
        <p:spPr>
          <a:xfrm>
            <a:off x="877824" y="521208"/>
            <a:ext cx="0" cy="393192"/>
          </a:xfrm>
          <a:prstGeom prst="line">
            <a:avLst/>
          </a:prstGeom>
          <a:noFill/>
          <a:ln w="15875">
            <a:solidFill>
              <a:srgbClr val="15AD70"/>
            </a:solidFill>
            <a:prstDash val="solid"/>
          </a:ln>
        </p:spPr>
      </p:sp>
      <p:sp>
        <p:nvSpPr>
          <p:cNvPr id="7" name="Text 5"/>
          <p:cNvSpPr/>
          <p:nvPr/>
        </p:nvSpPr>
        <p:spPr>
          <a:xfrm>
            <a:off x="1097280" y="521208"/>
            <a:ext cx="1828800" cy="365760"/>
          </a:xfrm>
          <a:prstGeom prst="rect">
            <a:avLst/>
          </a:prstGeom>
          <a:noFill/>
          <a:ln/>
        </p:spPr>
        <p:txBody>
          <a:bodyPr wrap="square" lIns="0" tIns="0" rIns="0" bIns="0" rtlCol="0" anchor="ctr"/>
          <a:lstStyle/>
          <a:p>
            <a:pPr indent="0" marL="0">
              <a:buNone/>
            </a:pPr>
            <a:r>
              <a:rPr lang="en-US" sz="1100" spc="500" kern="0" dirty="0">
                <a:solidFill>
                  <a:srgbClr val="A0A0B0"/>
                </a:solidFill>
                <a:latin typeface="Helvetica Neue" pitchFamily="34" charset="0"/>
                <a:ea typeface="Helvetica Neue" pitchFamily="34" charset="-122"/>
                <a:cs typeface="Helvetica Neue" pitchFamily="34" charset="-120"/>
              </a:rPr>
              <a:t>GRID</a:t>
            </a:r>
            <a:endParaRPr lang="en-US" sz="1100" dirty="0"/>
          </a:p>
        </p:txBody>
      </p:sp>
      <p:sp>
        <p:nvSpPr>
          <p:cNvPr id="8" name="Text 6"/>
          <p:cNvSpPr/>
          <p:nvPr/>
        </p:nvSpPr>
        <p:spPr>
          <a:xfrm>
            <a:off x="9692640" y="548640"/>
            <a:ext cx="7315200" cy="274320"/>
          </a:xfrm>
          <a:prstGeom prst="rect">
            <a:avLst/>
          </a:prstGeom>
          <a:noFill/>
          <a:ln/>
        </p:spPr>
        <p:txBody>
          <a:bodyPr wrap="square" lIns="0" tIns="0" rIns="0" bIns="0" rtlCol="0" anchor="ctr"/>
          <a:lstStyle/>
          <a:p>
            <a:pPr indent="0" marL="0">
              <a:buNone/>
            </a:pPr>
            <a:r>
              <a:rPr lang="en-US" sz="900" spc="400" kern="0" dirty="0">
                <a:solidFill>
                  <a:srgbClr val="15AD70"/>
                </a:solidFill>
                <a:latin typeface="Helvetica Neue" pitchFamily="34" charset="0"/>
                <a:ea typeface="Helvetica Neue" pitchFamily="34" charset="-122"/>
                <a:cs typeface="Helvetica Neue" pitchFamily="34" charset="-120"/>
              </a:rPr>
              <a:t>CLOSE</a:t>
            </a:r>
            <a:endParaRPr lang="en-US" sz="900" dirty="0"/>
          </a:p>
        </p:txBody>
      </p:sp>
      <p:sp>
        <p:nvSpPr>
          <p:cNvPr id="9" name="Text 7"/>
          <p:cNvSpPr/>
          <p:nvPr/>
        </p:nvSpPr>
        <p:spPr>
          <a:xfrm>
            <a:off x="640080" y="1920240"/>
            <a:ext cx="10881360" cy="868680"/>
          </a:xfrm>
          <a:prstGeom prst="rect">
            <a:avLst/>
          </a:prstGeom>
          <a:noFill/>
          <a:ln/>
        </p:spPr>
        <p:txBody>
          <a:bodyPr wrap="square" lIns="0" tIns="0" rIns="0" bIns="0" rtlCol="0" anchor="ctr"/>
          <a:lstStyle/>
          <a:p>
            <a:pPr algn="ctr" indent="0" marL="0">
              <a:buNone/>
            </a:pPr>
            <a:r>
              <a:rPr lang="en-US" sz="5200" dirty="0">
                <a:solidFill>
                  <a:srgbClr val="FFFFFF"/>
                </a:solidFill>
                <a:latin typeface="Helvetica Neue" pitchFamily="34" charset="0"/>
                <a:ea typeface="Helvetica Neue" pitchFamily="34" charset="-122"/>
                <a:cs typeface="Helvetica Neue" pitchFamily="34" charset="-120"/>
              </a:rPr>
              <a:t>Build the structure layer</a:t>
            </a:r>
            <a:endParaRPr lang="en-US" sz="5200" dirty="0"/>
          </a:p>
        </p:txBody>
      </p:sp>
      <p:sp>
        <p:nvSpPr>
          <p:cNvPr id="10" name="Text 8"/>
          <p:cNvSpPr/>
          <p:nvPr/>
        </p:nvSpPr>
        <p:spPr>
          <a:xfrm>
            <a:off x="640080" y="2788920"/>
            <a:ext cx="10881360" cy="868680"/>
          </a:xfrm>
          <a:prstGeom prst="rect">
            <a:avLst/>
          </a:prstGeom>
          <a:noFill/>
          <a:ln/>
        </p:spPr>
        <p:txBody>
          <a:bodyPr wrap="square" lIns="0" tIns="0" rIns="0" bIns="0" rtlCol="0" anchor="ctr"/>
          <a:lstStyle/>
          <a:p>
            <a:pPr algn="ctr" indent="0" marL="0">
              <a:buNone/>
            </a:pPr>
            <a:r>
              <a:rPr lang="en-US" sz="5200" dirty="0">
                <a:solidFill>
                  <a:srgbClr val="15AD70"/>
                </a:solidFill>
                <a:latin typeface="Helvetica Neue" pitchFamily="34" charset="0"/>
                <a:ea typeface="Helvetica Neue" pitchFamily="34" charset="-122"/>
                <a:cs typeface="Helvetica Neue" pitchFamily="34" charset="-120"/>
              </a:rPr>
              <a:t>before the intelligence layer locks in.</a:t>
            </a:r>
            <a:endParaRPr lang="en-US" sz="5200" dirty="0"/>
          </a:p>
        </p:txBody>
      </p:sp>
      <p:sp>
        <p:nvSpPr>
          <p:cNvPr id="11" name="Text 9"/>
          <p:cNvSpPr/>
          <p:nvPr/>
        </p:nvSpPr>
        <p:spPr>
          <a:xfrm>
            <a:off x="1828800" y="3977640"/>
            <a:ext cx="8503920" cy="1005840"/>
          </a:xfrm>
          <a:prstGeom prst="rect">
            <a:avLst/>
          </a:prstGeom>
          <a:noFill/>
          <a:ln/>
        </p:spPr>
        <p:txBody>
          <a:bodyPr wrap="square" lIns="0" tIns="0" rIns="0" bIns="0" rtlCol="0" anchor="ctr"/>
          <a:lstStyle/>
          <a:p>
            <a:pPr algn="ctr" indent="0" marL="0">
              <a:buNone/>
            </a:pPr>
            <a:r>
              <a:rPr lang="en-US" sz="1300" dirty="0">
                <a:solidFill>
                  <a:srgbClr val="A0A0B0"/>
                </a:solidFill>
                <a:latin typeface="Helvetica Neue" pitchFamily="34" charset="0"/>
                <a:ea typeface="Helvetica Neue" pitchFamily="34" charset="-122"/>
                <a:cs typeface="Helvetica Neue" pitchFamily="34" charset="-120"/>
              </a:rPr>
              <a:t>The next 18 months decide whose structure the agent layer runs on. Every month that passes, Notion, Monday and the LLM vendors compound lock-in with shallow structure. GRID is the only system whose core thesis is that structure matters more than the model.</a:t>
            </a:r>
            <a:endParaRPr lang="en-US" sz="1300" dirty="0"/>
          </a:p>
        </p:txBody>
      </p:sp>
      <p:sp>
        <p:nvSpPr>
          <p:cNvPr id="12" name="Shape 10"/>
          <p:cNvSpPr/>
          <p:nvPr/>
        </p:nvSpPr>
        <p:spPr>
          <a:xfrm>
            <a:off x="640080" y="5166360"/>
            <a:ext cx="3474720" cy="960120"/>
          </a:xfrm>
          <a:prstGeom prst="roundRect">
            <a:avLst>
              <a:gd name="adj" fmla="val 7619"/>
            </a:avLst>
          </a:prstGeom>
          <a:solidFill>
            <a:srgbClr val="101018"/>
          </a:solidFill>
          <a:ln w="9525">
            <a:solidFill>
              <a:srgbClr val="1F1F2A"/>
            </a:solidFill>
            <a:prstDash val="solid"/>
          </a:ln>
        </p:spPr>
      </p:sp>
      <p:sp>
        <p:nvSpPr>
          <p:cNvPr id="13" name="Text 11"/>
          <p:cNvSpPr/>
          <p:nvPr/>
        </p:nvSpPr>
        <p:spPr>
          <a:xfrm>
            <a:off x="914400" y="5303520"/>
            <a:ext cx="2926080" cy="228600"/>
          </a:xfrm>
          <a:prstGeom prst="rect">
            <a:avLst/>
          </a:prstGeom>
          <a:noFill/>
          <a:ln/>
        </p:spPr>
        <p:txBody>
          <a:bodyPr wrap="square" lIns="0" tIns="0" rIns="0" bIns="0" rtlCol="0" anchor="ctr"/>
          <a:lstStyle/>
          <a:p>
            <a:pPr indent="0" marL="0">
              <a:buNone/>
            </a:pPr>
            <a:r>
              <a:rPr lang="en-US" sz="900" spc="300" kern="0" dirty="0">
                <a:solidFill>
                  <a:srgbClr val="15AD70"/>
                </a:solidFill>
                <a:latin typeface="Helvetica Neue" pitchFamily="34" charset="0"/>
                <a:ea typeface="Helvetica Neue" pitchFamily="34" charset="-122"/>
                <a:cs typeface="Helvetica Neue" pitchFamily="34" charset="-120"/>
              </a:rPr>
              <a:t>Now</a:t>
            </a:r>
            <a:endParaRPr lang="en-US" sz="900" dirty="0"/>
          </a:p>
        </p:txBody>
      </p:sp>
      <p:sp>
        <p:nvSpPr>
          <p:cNvPr id="14" name="Text 12"/>
          <p:cNvSpPr/>
          <p:nvPr/>
        </p:nvSpPr>
        <p:spPr>
          <a:xfrm>
            <a:off x="914400" y="5486400"/>
            <a:ext cx="1563624" cy="502920"/>
          </a:xfrm>
          <a:prstGeom prst="rect">
            <a:avLst/>
          </a:prstGeom>
          <a:noFill/>
          <a:ln/>
        </p:spPr>
        <p:txBody>
          <a:bodyPr wrap="square" lIns="0" tIns="0" rIns="0" bIns="0" rtlCol="0" anchor="ctr"/>
          <a:lstStyle/>
          <a:p>
            <a:pPr indent="0" marL="0">
              <a:buNone/>
            </a:pPr>
            <a:r>
              <a:rPr lang="en-US" sz="2400" dirty="0">
                <a:solidFill>
                  <a:srgbClr val="FFFFFF"/>
                </a:solidFill>
                <a:latin typeface="Helvetica Neue" pitchFamily="34" charset="0"/>
                <a:ea typeface="Helvetica Neue" pitchFamily="34" charset="-122"/>
                <a:cs typeface="Helvetica Neue" pitchFamily="34" charset="-120"/>
              </a:rPr>
              <a:t>Alpha live</a:t>
            </a:r>
            <a:endParaRPr lang="en-US" sz="2400" dirty="0"/>
          </a:p>
        </p:txBody>
      </p:sp>
      <p:sp>
        <p:nvSpPr>
          <p:cNvPr id="15" name="Text 13"/>
          <p:cNvSpPr/>
          <p:nvPr/>
        </p:nvSpPr>
        <p:spPr>
          <a:xfrm>
            <a:off x="2203704" y="5577840"/>
            <a:ext cx="1636776" cy="5029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private partners testing</a:t>
            </a:r>
            <a:endParaRPr lang="en-US" sz="900" dirty="0"/>
          </a:p>
        </p:txBody>
      </p:sp>
      <p:sp>
        <p:nvSpPr>
          <p:cNvPr id="16" name="Shape 14"/>
          <p:cNvSpPr/>
          <p:nvPr/>
        </p:nvSpPr>
        <p:spPr>
          <a:xfrm>
            <a:off x="4343400" y="5166360"/>
            <a:ext cx="3474720" cy="960120"/>
          </a:xfrm>
          <a:prstGeom prst="roundRect">
            <a:avLst>
              <a:gd name="adj" fmla="val 7619"/>
            </a:avLst>
          </a:prstGeom>
          <a:solidFill>
            <a:srgbClr val="101018"/>
          </a:solidFill>
          <a:ln w="9525">
            <a:solidFill>
              <a:srgbClr val="1F1F2A"/>
            </a:solidFill>
            <a:prstDash val="solid"/>
          </a:ln>
        </p:spPr>
      </p:sp>
      <p:sp>
        <p:nvSpPr>
          <p:cNvPr id="17" name="Text 15"/>
          <p:cNvSpPr/>
          <p:nvPr/>
        </p:nvSpPr>
        <p:spPr>
          <a:xfrm>
            <a:off x="4617720" y="5303520"/>
            <a:ext cx="2926080" cy="228600"/>
          </a:xfrm>
          <a:prstGeom prst="rect">
            <a:avLst/>
          </a:prstGeom>
          <a:noFill/>
          <a:ln/>
        </p:spPr>
        <p:txBody>
          <a:bodyPr wrap="square" lIns="0" tIns="0" rIns="0" bIns="0" rtlCol="0" anchor="ctr"/>
          <a:lstStyle/>
          <a:p>
            <a:pPr indent="0" marL="0">
              <a:buNone/>
            </a:pPr>
            <a:r>
              <a:rPr lang="en-US" sz="900" spc="300" kern="0" dirty="0">
                <a:solidFill>
                  <a:srgbClr val="7193ED"/>
                </a:solidFill>
                <a:latin typeface="Helvetica Neue" pitchFamily="34" charset="0"/>
                <a:ea typeface="Helvetica Neue" pitchFamily="34" charset="-122"/>
                <a:cs typeface="Helvetica Neue" pitchFamily="34" charset="-120"/>
              </a:rPr>
              <a:t>Next</a:t>
            </a:r>
            <a:endParaRPr lang="en-US" sz="900" dirty="0"/>
          </a:p>
        </p:txBody>
      </p:sp>
      <p:sp>
        <p:nvSpPr>
          <p:cNvPr id="18" name="Text 16"/>
          <p:cNvSpPr/>
          <p:nvPr/>
        </p:nvSpPr>
        <p:spPr>
          <a:xfrm>
            <a:off x="4617720" y="5486400"/>
            <a:ext cx="1563624" cy="502920"/>
          </a:xfrm>
          <a:prstGeom prst="rect">
            <a:avLst/>
          </a:prstGeom>
          <a:noFill/>
          <a:ln/>
        </p:spPr>
        <p:txBody>
          <a:bodyPr wrap="square" lIns="0" tIns="0" rIns="0" bIns="0" rtlCol="0" anchor="ctr"/>
          <a:lstStyle/>
          <a:p>
            <a:pPr indent="0" marL="0">
              <a:buNone/>
            </a:pPr>
            <a:r>
              <a:rPr lang="en-US" sz="2400" dirty="0">
                <a:solidFill>
                  <a:srgbClr val="FFFFFF"/>
                </a:solidFill>
                <a:latin typeface="Helvetica Neue" pitchFamily="34" charset="0"/>
                <a:ea typeface="Helvetica Neue" pitchFamily="34" charset="-122"/>
                <a:cs typeface="Helvetica Neue" pitchFamily="34" charset="-120"/>
              </a:rPr>
              <a:t>May 2026</a:t>
            </a:r>
            <a:endParaRPr lang="en-US" sz="2400" dirty="0"/>
          </a:p>
        </p:txBody>
      </p:sp>
      <p:sp>
        <p:nvSpPr>
          <p:cNvPr id="19" name="Text 17"/>
          <p:cNvSpPr/>
          <p:nvPr/>
        </p:nvSpPr>
        <p:spPr>
          <a:xfrm>
            <a:off x="5907024" y="5577840"/>
            <a:ext cx="1636776" cy="5029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public beta opens</a:t>
            </a:r>
            <a:endParaRPr lang="en-US" sz="900" dirty="0"/>
          </a:p>
        </p:txBody>
      </p:sp>
      <p:sp>
        <p:nvSpPr>
          <p:cNvPr id="20" name="Shape 18"/>
          <p:cNvSpPr/>
          <p:nvPr/>
        </p:nvSpPr>
        <p:spPr>
          <a:xfrm>
            <a:off x="8046720" y="5166360"/>
            <a:ext cx="3474720" cy="960120"/>
          </a:xfrm>
          <a:prstGeom prst="roundRect">
            <a:avLst>
              <a:gd name="adj" fmla="val 7619"/>
            </a:avLst>
          </a:prstGeom>
          <a:solidFill>
            <a:srgbClr val="101018"/>
          </a:solidFill>
          <a:ln w="9525">
            <a:solidFill>
              <a:srgbClr val="1F1F2A"/>
            </a:solidFill>
            <a:prstDash val="solid"/>
          </a:ln>
        </p:spPr>
      </p:sp>
      <p:sp>
        <p:nvSpPr>
          <p:cNvPr id="21" name="Text 19"/>
          <p:cNvSpPr/>
          <p:nvPr/>
        </p:nvSpPr>
        <p:spPr>
          <a:xfrm>
            <a:off x="8321040" y="5303520"/>
            <a:ext cx="2926080" cy="228600"/>
          </a:xfrm>
          <a:prstGeom prst="rect">
            <a:avLst/>
          </a:prstGeom>
          <a:noFill/>
          <a:ln/>
        </p:spPr>
        <p:txBody>
          <a:bodyPr wrap="square" lIns="0" tIns="0" rIns="0" bIns="0" rtlCol="0" anchor="ctr"/>
          <a:lstStyle/>
          <a:p>
            <a:pPr indent="0" marL="0">
              <a:buNone/>
            </a:pPr>
            <a:r>
              <a:rPr lang="en-US" sz="900" spc="300" kern="0" dirty="0">
                <a:solidFill>
                  <a:srgbClr val="BF9FF1"/>
                </a:solidFill>
                <a:latin typeface="Helvetica Neue" pitchFamily="34" charset="0"/>
                <a:ea typeface="Helvetica Neue" pitchFamily="34" charset="-122"/>
                <a:cs typeface="Helvetica Neue" pitchFamily="34" charset="-120"/>
              </a:rPr>
              <a:t>Built</a:t>
            </a:r>
            <a:endParaRPr lang="en-US" sz="900" dirty="0"/>
          </a:p>
        </p:txBody>
      </p:sp>
      <p:sp>
        <p:nvSpPr>
          <p:cNvPr id="22" name="Text 20"/>
          <p:cNvSpPr/>
          <p:nvPr/>
        </p:nvSpPr>
        <p:spPr>
          <a:xfrm>
            <a:off x="8321040" y="5486400"/>
            <a:ext cx="1563624" cy="502920"/>
          </a:xfrm>
          <a:prstGeom prst="rect">
            <a:avLst/>
          </a:prstGeom>
          <a:noFill/>
          <a:ln/>
        </p:spPr>
        <p:txBody>
          <a:bodyPr wrap="square" lIns="0" tIns="0" rIns="0" bIns="0" rtlCol="0" anchor="ctr"/>
          <a:lstStyle/>
          <a:p>
            <a:pPr indent="0" marL="0">
              <a:buNone/>
            </a:pPr>
            <a:r>
              <a:rPr lang="en-US" sz="2400" dirty="0">
                <a:solidFill>
                  <a:srgbClr val="FFFFFF"/>
                </a:solidFill>
                <a:latin typeface="Helvetica Neue" pitchFamily="34" charset="0"/>
                <a:ea typeface="Helvetica Neue" pitchFamily="34" charset="-122"/>
                <a:cs typeface="Helvetica Neue" pitchFamily="34" charset="-120"/>
              </a:rPr>
              <a:t>18 months</a:t>
            </a:r>
            <a:endParaRPr lang="en-US" sz="2400" dirty="0"/>
          </a:p>
        </p:txBody>
      </p:sp>
      <p:sp>
        <p:nvSpPr>
          <p:cNvPr id="23" name="Text 21"/>
          <p:cNvSpPr/>
          <p:nvPr/>
        </p:nvSpPr>
        <p:spPr>
          <a:xfrm>
            <a:off x="9610344" y="5577840"/>
            <a:ext cx="1636776" cy="502920"/>
          </a:xfrm>
          <a:prstGeom prst="rect">
            <a:avLst/>
          </a:prstGeom>
          <a:noFill/>
          <a:ln/>
        </p:spPr>
        <p:txBody>
          <a:bodyPr wrap="square" lIns="0" tIns="0" rIns="0" bIns="0" rtlCol="0" anchor="ctr"/>
          <a:lstStyle/>
          <a:p>
            <a:pPr indent="0" marL="0">
              <a:buNone/>
            </a:pPr>
            <a:r>
              <a:rPr lang="en-US" sz="900" dirty="0">
                <a:solidFill>
                  <a:srgbClr val="60606A"/>
                </a:solidFill>
                <a:latin typeface="Helvetica Neue" pitchFamily="34" charset="0"/>
                <a:ea typeface="Helvetica Neue" pitchFamily="34" charset="-122"/>
                <a:cs typeface="Helvetica Neue" pitchFamily="34" charset="-120"/>
              </a:rPr>
              <a:t>solo  ·  $0 burn  ·  production-ready</a:t>
            </a:r>
            <a:endParaRPr lang="en-US" sz="900" dirty="0"/>
          </a:p>
        </p:txBody>
      </p:sp>
      <p:sp>
        <p:nvSpPr>
          <p:cNvPr id="24" name="Shape 22"/>
          <p:cNvSpPr/>
          <p:nvPr/>
        </p:nvSpPr>
        <p:spPr>
          <a:xfrm>
            <a:off x="640080" y="6080760"/>
            <a:ext cx="10881360" cy="0"/>
          </a:xfrm>
          <a:prstGeom prst="line">
            <a:avLst/>
          </a:prstGeom>
          <a:noFill/>
          <a:ln w="9525">
            <a:solidFill>
              <a:srgbClr val="1F1F2A"/>
            </a:solidFill>
            <a:prstDash val="solid"/>
          </a:ln>
        </p:spPr>
      </p:sp>
      <p:sp>
        <p:nvSpPr>
          <p:cNvPr id="25" name="Text 23"/>
          <p:cNvSpPr/>
          <p:nvPr/>
        </p:nvSpPr>
        <p:spPr>
          <a:xfrm>
            <a:off x="640080" y="6217920"/>
            <a:ext cx="3657600" cy="320040"/>
          </a:xfrm>
          <a:prstGeom prst="rect">
            <a:avLst/>
          </a:prstGeom>
          <a:noFill/>
          <a:ln/>
        </p:spPr>
        <p:txBody>
          <a:bodyPr wrap="square" lIns="0" tIns="0" rIns="0" bIns="0" rtlCol="0" anchor="ctr"/>
          <a:lstStyle/>
          <a:p>
            <a:pPr indent="0" marL="0">
              <a:buNone/>
            </a:pPr>
            <a:r>
              <a:rPr lang="en-US" sz="1300" i="1" dirty="0">
                <a:solidFill>
                  <a:srgbClr val="A0A0B0"/>
                </a:solidFill>
                <a:latin typeface="Helvetica Neue" pitchFamily="34" charset="0"/>
                <a:ea typeface="Helvetica Neue" pitchFamily="34" charset="-122"/>
                <a:cs typeface="Helvetica Neue" pitchFamily="34" charset="-120"/>
              </a:rPr>
              <a:t>Let’s talk.</a:t>
            </a:r>
            <a:endParaRPr lang="en-US" sz="1300" dirty="0"/>
          </a:p>
        </p:txBody>
      </p:sp>
      <p:sp>
        <p:nvSpPr>
          <p:cNvPr id="26" name="Text 24"/>
          <p:cNvSpPr/>
          <p:nvPr/>
        </p:nvSpPr>
        <p:spPr>
          <a:xfrm>
            <a:off x="6035040" y="6217920"/>
            <a:ext cx="5486400" cy="320040"/>
          </a:xfrm>
          <a:prstGeom prst="rect">
            <a:avLst/>
          </a:prstGeom>
          <a:noFill/>
          <a:ln/>
        </p:spPr>
        <p:txBody>
          <a:bodyPr wrap="square" lIns="0" tIns="0" rIns="0" bIns="0" rtlCol="0" anchor="ctr"/>
          <a:lstStyle/>
          <a:p>
            <a:pPr algn="r" indent="0" marL="0">
              <a:buNone/>
            </a:pPr>
            <a:r>
              <a:rPr lang="en-US" sz="1300" dirty="0">
                <a:solidFill>
                  <a:srgbClr val="15AD70"/>
                </a:solidFill>
                <a:latin typeface="Helvetica Neue" pitchFamily="34" charset="0"/>
                <a:ea typeface="Helvetica Neue" pitchFamily="34" charset="-122"/>
                <a:cs typeface="Helvetica Neue" pitchFamily="34" charset="-120"/>
              </a:rPr>
              <a:t>nicole@grddd.com</a:t>
            </a:r>
            <a:endParaRPr lang="en-US" sz="1300" dirty="0"/>
          </a:p>
        </p:txBody>
      </p:sp>
      <p:sp>
        <p:nvSpPr>
          <p:cNvPr id="27" name="Text 25"/>
          <p:cNvSpPr/>
          <p:nvPr/>
        </p:nvSpPr>
        <p:spPr>
          <a:xfrm>
            <a:off x="640080" y="6510528"/>
            <a:ext cx="1828800" cy="274320"/>
          </a:xfrm>
          <a:prstGeom prst="rect">
            <a:avLst/>
          </a:prstGeom>
          <a:noFill/>
          <a:ln/>
        </p:spPr>
        <p:txBody>
          <a:bodyPr wrap="square" lIns="0" tIns="0" rIns="0" bIns="0" rtlCol="0" anchor="ctr"/>
          <a:lstStyle/>
          <a:p>
            <a:pPr indent="0" marL="0">
              <a:buNone/>
            </a:pPr>
            <a:r>
              <a:rPr lang="en-US" sz="800" spc="300" kern="0" dirty="0">
                <a:solidFill>
                  <a:srgbClr val="60606A"/>
                </a:solidFill>
                <a:latin typeface="Helvetica Neue" pitchFamily="34" charset="0"/>
                <a:ea typeface="Helvetica Neue" pitchFamily="34" charset="-122"/>
                <a:cs typeface="Helvetica Neue" pitchFamily="34" charset="-120"/>
              </a:rPr>
              <a:t>GRID</a:t>
            </a:r>
            <a:endParaRPr lang="en-US" sz="800" dirty="0"/>
          </a:p>
        </p:txBody>
      </p:sp>
      <p:sp>
        <p:nvSpPr>
          <p:cNvPr id="28" name="Text 26"/>
          <p:cNvSpPr/>
          <p:nvPr/>
        </p:nvSpPr>
        <p:spPr>
          <a:xfrm>
            <a:off x="9692640" y="6510528"/>
            <a:ext cx="1828800" cy="274320"/>
          </a:xfrm>
          <a:prstGeom prst="rect">
            <a:avLst/>
          </a:prstGeom>
          <a:noFill/>
          <a:ln/>
        </p:spPr>
        <p:txBody>
          <a:bodyPr wrap="square" lIns="0" tIns="0" rIns="0" bIns="0" rtlCol="0" anchor="ctr"/>
          <a:lstStyle/>
          <a:p>
            <a:pPr algn="r" indent="0" marL="0">
              <a:buNone/>
            </a:pPr>
            <a:r>
              <a:rPr lang="en-US" sz="800" dirty="0">
                <a:solidFill>
                  <a:srgbClr val="60606A"/>
                </a:solidFill>
                <a:latin typeface="Helvetica Neue" pitchFamily="34" charset="0"/>
                <a:ea typeface="Helvetica Neue" pitchFamily="34" charset="-122"/>
                <a:cs typeface="Helvetica Neue" pitchFamily="34" charset="-120"/>
              </a:rPr>
              <a:t>15 / 15</a:t>
            </a:r>
            <a:endParaRPr lang="en-US" sz="800" dirty="0"/>
          </a:p>
        </p:txBody>
      </p:sp>
      <p:sp>
        <p:nvSpPr>
          <p:cNvPr id="29" name="Text 27"/>
          <p:cNvSpPr/>
          <p:nvPr/>
        </p:nvSpPr>
        <p:spPr>
          <a:xfrm>
            <a:off x="4251960" y="6510528"/>
            <a:ext cx="3657600" cy="274320"/>
          </a:xfrm>
          <a:prstGeom prst="rect">
            <a:avLst/>
          </a:prstGeom>
          <a:noFill/>
          <a:ln/>
        </p:spPr>
        <p:txBody>
          <a:bodyPr wrap="square" lIns="0" tIns="0" rIns="0" bIns="0" rtlCol="0" anchor="ctr"/>
          <a:lstStyle/>
          <a:p>
            <a:pPr algn="ctr" indent="0" marL="0">
              <a:buNone/>
            </a:pPr>
            <a:r>
              <a:rPr lang="en-US" sz="800" spc="200" kern="0" dirty="0">
                <a:solidFill>
                  <a:srgbClr val="60606A"/>
                </a:solidFill>
                <a:latin typeface="Helvetica Neue" pitchFamily="34" charset="0"/>
                <a:ea typeface="Helvetica Neue" pitchFamily="34" charset="-122"/>
                <a:cs typeface="Helvetica Neue" pitchFamily="34" charset="-120"/>
              </a:rPr>
              <a:t>Pre-seed —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GRID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 — Pre-seed Pitch</dc:title>
  <dc:subject>Agentic Work OS</dc:subject>
  <dc:creator>Nicole</dc:creator>
  <cp:lastModifiedBy>Nicole</cp:lastModifiedBy>
  <cp:revision>1</cp:revision>
  <dcterms:created xsi:type="dcterms:W3CDTF">2026-04-16T17:54:06Z</dcterms:created>
  <dcterms:modified xsi:type="dcterms:W3CDTF">2026-04-16T17:54:06Z</dcterms:modified>
</cp:coreProperties>
</file>