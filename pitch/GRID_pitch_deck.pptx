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0" y="-3657600"/>
            <a:ext cx="9144000" cy="7315200"/>
          </a:xfrm>
          <a:prstGeom prst="ellipse">
            <a:avLst/>
          </a:prstGeom>
          <a:solidFill>
            <a:srgbClr val="15AD70">
              <a:alpha val="6000"/>
            </a:srgbClr>
          </a:solidFill>
          <a:ln w="12700">
            <a:solidFill>
              <a:srgbClr val="0808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2743200" y="3657600"/>
            <a:ext cx="6400800" cy="5486400"/>
          </a:xfrm>
          <a:prstGeom prst="ellipse">
            <a:avLst/>
          </a:prstGeom>
          <a:solidFill>
            <a:srgbClr val="7193ED">
              <a:alpha val="5000"/>
            </a:srgbClr>
          </a:solidFill>
          <a:ln w="12700">
            <a:solidFill>
              <a:srgbClr val="08080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0" y="4114800"/>
            <a:ext cx="5486400" cy="4572000"/>
          </a:xfrm>
          <a:prstGeom prst="ellipse">
            <a:avLst/>
          </a:prstGeom>
          <a:solidFill>
            <a:srgbClr val="BF9FF1">
              <a:alpha val="5000"/>
            </a:srgbClr>
          </a:solidFill>
          <a:ln w="12700">
            <a:solidFill>
              <a:srgbClr val="08080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502920"/>
            <a:ext cx="361188" cy="457200"/>
          </a:xfrm>
          <a:prstGeom prst="roundRect">
            <a:avLst>
              <a:gd name="adj" fmla="val 15190"/>
            </a:avLst>
          </a:prstGeom>
          <a:solidFill>
            <a:srgbClr val="08080C"/>
          </a:solidFill>
          <a:ln w="15875">
            <a:solidFill>
              <a:srgbClr val="15AD7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3524" y="521208"/>
            <a:ext cx="0" cy="393192"/>
          </a:xfrm>
          <a:prstGeom prst="line">
            <a:avLst/>
          </a:prstGeom>
          <a:noFill/>
          <a:ln w="15875">
            <a:solidFill>
              <a:srgbClr val="15AD7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7824" y="521208"/>
            <a:ext cx="0" cy="393192"/>
          </a:xfrm>
          <a:prstGeom prst="line">
            <a:avLst/>
          </a:prstGeom>
          <a:noFill/>
          <a:ln w="15875">
            <a:solidFill>
              <a:srgbClr val="15AD7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5212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GRID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503920" y="5486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PRE-SEED  · 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1488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500" kern="0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END OF OPERATIONAL OVERHEAD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51460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person.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640080" y="333756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output of an entire team.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2011680" y="448056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GRID is the operating system for organizational intelligence — 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adaptive environments, self-correcting workflows, and an AI that reasons across everything.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6080760"/>
            <a:ext cx="10881360" cy="0"/>
          </a:xfrm>
          <a:prstGeom prst="line">
            <a:avLst/>
          </a:prstGeom>
          <a:noFill/>
          <a:ln w="6350">
            <a:solidFill>
              <a:srgbClr val="1818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6199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Nicole  ·  Founder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863840" y="6199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$350K target  ·  $500K hard cap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knowledge company drowns in coordination overhead.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783457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50-person company spends $600K+ per year on roles whose entire purpose is moving information between humans: project managers, ops analysts, content coordinators, social managers. They exist because no system maps the work itself — only the meetings about it.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3246120"/>
            <a:ext cx="2617470" cy="2011680"/>
          </a:xfrm>
          <a:prstGeom prst="roundRect">
            <a:avLst>
              <a:gd name="adj" fmla="val 3636"/>
            </a:avLst>
          </a:prstGeom>
          <a:solidFill>
            <a:srgbClr val="101018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9224" y="3255264"/>
            <a:ext cx="2599182" cy="36576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566160"/>
            <a:ext cx="206883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$600K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914400" y="4434840"/>
            <a:ext cx="20688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wasted per 50-person org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4727448"/>
            <a:ext cx="20688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 coordination roles alone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394710" y="3246120"/>
            <a:ext cx="2617470" cy="2011680"/>
          </a:xfrm>
          <a:prstGeom prst="roundRect">
            <a:avLst>
              <a:gd name="adj" fmla="val 3636"/>
            </a:avLst>
          </a:prstGeom>
          <a:solidFill>
            <a:srgbClr val="101018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03854" y="3255264"/>
            <a:ext cx="2599182" cy="36576"/>
          </a:xfrm>
          <a:prstGeom prst="rect">
            <a:avLst/>
          </a:prstGeom>
          <a:solidFill>
            <a:srgbClr val="F7C700"/>
          </a:solidFill>
          <a:ln w="12700">
            <a:solidFill>
              <a:srgbClr val="F7C7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69030" y="3566160"/>
            <a:ext cx="206883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32h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3669030" y="4434840"/>
            <a:ext cx="20688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 content piece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69030" y="4727448"/>
            <a:ext cx="20688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research → draft → review → publish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149340" y="3246120"/>
            <a:ext cx="2617470" cy="2011680"/>
          </a:xfrm>
          <a:prstGeom prst="roundRect">
            <a:avLst>
              <a:gd name="adj" fmla="val 3636"/>
            </a:avLst>
          </a:prstGeom>
          <a:solidFill>
            <a:srgbClr val="101018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58484" y="3255264"/>
            <a:ext cx="2599182" cy="36576"/>
          </a:xfrm>
          <a:prstGeom prst="rect">
            <a:avLst/>
          </a:prstGeom>
          <a:solidFill>
            <a:srgbClr val="7193ED"/>
          </a:solidFill>
          <a:ln w="12700">
            <a:solidFill>
              <a:srgbClr val="7193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23660" y="3566160"/>
            <a:ext cx="206883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62%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6423660" y="4434840"/>
            <a:ext cx="20688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of PM time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23660" y="4727448"/>
            <a:ext cx="20688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is synthesizing status updates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903970" y="3246120"/>
            <a:ext cx="2617470" cy="2011680"/>
          </a:xfrm>
          <a:prstGeom prst="roundRect">
            <a:avLst>
              <a:gd name="adj" fmla="val 3636"/>
            </a:avLst>
          </a:prstGeom>
          <a:solidFill>
            <a:srgbClr val="101018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13114" y="3255264"/>
            <a:ext cx="2599182" cy="36576"/>
          </a:xfrm>
          <a:prstGeom prst="rect">
            <a:avLst/>
          </a:prstGeom>
          <a:solidFill>
            <a:srgbClr val="BF9FF1"/>
          </a:solidFill>
          <a:ln w="12700">
            <a:solidFill>
              <a:srgbClr val="BF9F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78290" y="3566160"/>
            <a:ext cx="206883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9178290" y="4434840"/>
            <a:ext cx="20688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single source of truth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78290" y="4727448"/>
            <a:ext cx="20688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across tools, sheets, inboxes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40080" y="5852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Better AI does not fix this. More tools do not fix this. Only structure does.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419088"/>
            <a:ext cx="10881360" cy="0"/>
          </a:xfrm>
          <a:prstGeom prst="line">
            <a:avLst/>
          </a:prstGeom>
          <a:noFill/>
          <a:ln w="6350">
            <a:solidFill>
              <a:srgbClr val="18182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GRID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9692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 / 15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2519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Pre-seed — 2026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When intelligence becomes infinite,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05740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structure becomes the only advantage.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9932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performance is a function of environmental structure, not model capability. Better models do not fix broken systems. More data does not create alignment. Only structure does. GRID encodes this into software.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4572000"/>
            <a:ext cx="10881360" cy="1417320"/>
          </a:xfrm>
          <a:prstGeom prst="roundRect">
            <a:avLst>
              <a:gd name="adj" fmla="val 5161"/>
            </a:avLst>
          </a:prstGeom>
          <a:solidFill>
            <a:srgbClr val="101018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800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GRID EQUATION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05840" y="510235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A0A0B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</a:t>
            </a:r>
            <a:pPr indent="0" marL="0">
              <a:buNone/>
            </a:pPr>
            <a:r>
              <a:rPr lang="en-US" sz="2600" dirty="0">
                <a:solidFill>
                  <a:srgbClr val="6060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= </a:t>
            </a:r>
            <a:pPr indent="0" marL="0">
              <a:buNone/>
            </a:pPr>
            <a:r>
              <a:rPr lang="en-US" sz="2600" dirty="0">
                <a:solidFill>
                  <a:srgbClr val="15AD7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</a:t>
            </a:r>
            <a:pPr indent="0" marL="0">
              <a:buNone/>
            </a:pPr>
            <a:r>
              <a:rPr lang="en-US" sz="2600" dirty="0">
                <a:solidFill>
                  <a:srgbClr val="6060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buNone/>
            </a:pPr>
            <a:r>
              <a:rPr lang="en-US" sz="2600" dirty="0">
                <a:solidFill>
                  <a:srgbClr val="7193E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Id</a:t>
            </a:r>
            <a:pPr indent="0" marL="0">
              <a:buNone/>
            </a:pPr>
            <a:r>
              <a:rPr lang="en-US" sz="2600" dirty="0">
                <a:solidFill>
                  <a:srgbClr val="6060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 </a:t>
            </a:r>
            <a:pPr indent="0" marL="0">
              <a:buNone/>
            </a:pPr>
            <a:r>
              <a:rPr lang="en-US" sz="2600" dirty="0">
                <a:solidFill>
                  <a:srgbClr val="BF9FF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If</a:t>
            </a:r>
            <a:pPr indent="0" marL="0">
              <a:buNone/>
            </a:pPr>
            <a:r>
              <a:rPr lang="en-US" sz="2600" dirty="0">
                <a:solidFill>
                  <a:srgbClr val="6060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 </a:t>
            </a:r>
            <a:pPr indent="0" marL="0">
              <a:buNone/>
            </a:pPr>
            <a:r>
              <a:rPr lang="en-US" sz="2600" dirty="0">
                <a:solidFill>
                  <a:srgbClr val="F7C7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</a:t>
            </a:r>
            <a:pPr indent="0" marL="0">
              <a:buNone/>
            </a:pPr>
            <a:r>
              <a:rPr lang="en-US" sz="2600" dirty="0">
                <a:solidFill>
                  <a:srgbClr val="6060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394960" y="50749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93E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Identity</a:t>
            </a:r>
            <a:pPr indent="0" marL="0">
              <a:buNone/>
            </a:pPr>
            <a:r>
              <a:rPr lang="en-US" sz="11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— constrains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394960" y="53949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9FF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Infrastructure</a:t>
            </a:r>
            <a:pPr indent="0" marL="0">
              <a:buNone/>
            </a:pPr>
            <a:r>
              <a:rPr lang="en-US" sz="11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— enables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503920" y="5074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7C7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Intelligence</a:t>
            </a:r>
            <a:pPr indent="0" marL="0">
              <a:buNone/>
            </a:pPr>
            <a:r>
              <a:rPr lang="en-US" sz="11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— adapts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503920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Three variables. One equation.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6419088"/>
            <a:ext cx="10881360" cy="0"/>
          </a:xfrm>
          <a:prstGeom prst="line">
            <a:avLst/>
          </a:prstGeom>
          <a:noFill/>
          <a:ln w="6350">
            <a:solidFill>
              <a:srgbClr val="1818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GRID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692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/ 15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2519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Pre-seed — 2026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SOLUTION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GRID is the structure layer for AI-native work.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7616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Your organization becomes a system of adaptive environments — each a live dashboard of widgets that replace meetings, spreadsheets, and status updates.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101018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3063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05840" y="34290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Environments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005840" y="4069080"/>
            <a:ext cx="731520" cy="0"/>
          </a:xfrm>
          <a:prstGeom prst="line">
            <a:avLst/>
          </a:prstGeom>
          <a:noFill/>
          <a:ln w="12700">
            <a:solidFill>
              <a:srgbClr val="15AD7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425196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Organizational containers — Operations, Marketing, Product. Each adapts to its team. White-label ready.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274320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101018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9160" y="3063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7193E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709160" y="34290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Systems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709160" y="4069080"/>
            <a:ext cx="731520" cy="0"/>
          </a:xfrm>
          <a:prstGeom prst="line">
            <a:avLst/>
          </a:prstGeom>
          <a:noFill/>
          <a:ln w="12700">
            <a:solidFill>
              <a:srgbClr val="7193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9160" y="425196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Structured functions inside environments. Health monitoring, goal tracking, intelligence — computed from real data.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46720" y="274320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101018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3063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BF9FF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412480" y="34290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Workflows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8412480" y="4069080"/>
            <a:ext cx="731520" cy="0"/>
          </a:xfrm>
          <a:prstGeom prst="line">
            <a:avLst/>
          </a:prstGeom>
          <a:noFill/>
          <a:ln w="12700">
            <a:solidFill>
              <a:srgbClr val="BF9F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12480" y="425196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Multi-stage executable processes. Nova runs each stage, validates output, and delivers real artifacts — not summaries.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142232" y="3931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040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845552" y="3931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040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40080" y="6419088"/>
            <a:ext cx="10881360" cy="0"/>
          </a:xfrm>
          <a:prstGeom prst="line">
            <a:avLst/>
          </a:prstGeom>
          <a:noFill/>
          <a:ln w="6350">
            <a:solidFill>
              <a:srgbClr val="1818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GRID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9692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 / 15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2519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Pre-seed — 2026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ENGINE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Nova is not a chatbot.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F9FF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is a constraint engine that reasons across your entire org.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2606040"/>
            <a:ext cx="56692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Nova reads every system, every workflow, every signal — and acts. It generates reports, triages incoming work, executes multi-stage workflows, and validates every output against your identity constraints.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Nova uses 11 operational tools and streams execution in real time. Every run is auditable. Every cost is capped.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132320" y="2606040"/>
            <a:ext cx="4389120" cy="3291840"/>
          </a:xfrm>
          <a:prstGeom prst="roundRect">
            <a:avLst>
              <a:gd name="adj" fmla="val 2222"/>
            </a:avLst>
          </a:prstGeom>
          <a:solidFill>
            <a:srgbClr val="14141E"/>
          </a:solidFill>
          <a:ln w="9525">
            <a:solidFill>
              <a:srgbClr val="2A1F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5236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BF9FF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CAPABILITIES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452360" y="3429000"/>
            <a:ext cx="73152" cy="73152"/>
          </a:xfrm>
          <a:prstGeom prst="ellipse">
            <a:avLst/>
          </a:prstGeom>
          <a:solidFill>
            <a:srgbClr val="BF9FF1"/>
          </a:solidFill>
          <a:ln w="12700">
            <a:solidFill>
              <a:srgbClr val="BF9F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16952" y="32918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Cross-system reasoning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326880" y="3429000"/>
            <a:ext cx="73152" cy="73152"/>
          </a:xfrm>
          <a:prstGeom prst="ellipse">
            <a:avLst/>
          </a:prstGeom>
          <a:solidFill>
            <a:srgbClr val="BF9FF1"/>
          </a:solidFill>
          <a:ln w="12700">
            <a:solidFill>
              <a:srgbClr val="BF9F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91472" y="32918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 operational tools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452360" y="4023360"/>
            <a:ext cx="73152" cy="73152"/>
          </a:xfrm>
          <a:prstGeom prst="ellipse">
            <a:avLst/>
          </a:prstGeom>
          <a:solidFill>
            <a:srgbClr val="BF9FF1"/>
          </a:solidFill>
          <a:ln w="12700">
            <a:solidFill>
              <a:srgbClr val="BF9F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16952" y="38862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Quality validation scoring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326880" y="4023360"/>
            <a:ext cx="73152" cy="73152"/>
          </a:xfrm>
          <a:prstGeom prst="ellipse">
            <a:avLst/>
          </a:prstGeom>
          <a:solidFill>
            <a:srgbClr val="BF9FF1"/>
          </a:solidFill>
          <a:ln w="12700">
            <a:solidFill>
              <a:srgbClr val="BF9F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491472" y="38862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Memory + context retention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452360" y="4617720"/>
            <a:ext cx="73152" cy="73152"/>
          </a:xfrm>
          <a:prstGeom prst="ellipse">
            <a:avLst/>
          </a:prstGeom>
          <a:solidFill>
            <a:srgbClr val="BF9FF1"/>
          </a:solidFill>
          <a:ln w="12700">
            <a:solidFill>
              <a:srgbClr val="BF9F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16952" y="44805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Real-time streaming execution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326880" y="4617720"/>
            <a:ext cx="73152" cy="73152"/>
          </a:xfrm>
          <a:prstGeom prst="ellipse">
            <a:avLst/>
          </a:prstGeom>
          <a:solidFill>
            <a:srgbClr val="BF9FF1"/>
          </a:solidFill>
          <a:ln w="12700">
            <a:solidFill>
              <a:srgbClr val="BF9F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91472" y="44805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Automatic signal triage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452360" y="5212080"/>
            <a:ext cx="73152" cy="73152"/>
          </a:xfrm>
          <a:prstGeom prst="ellipse">
            <a:avLst/>
          </a:prstGeom>
          <a:solidFill>
            <a:srgbClr val="BF9FF1"/>
          </a:solidFill>
          <a:ln w="12700">
            <a:solidFill>
              <a:srgbClr val="BF9F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952" y="50749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Per-tenant cost circuit breakers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326880" y="5212080"/>
            <a:ext cx="73152" cy="73152"/>
          </a:xfrm>
          <a:prstGeom prst="ellipse">
            <a:avLst/>
          </a:prstGeom>
          <a:solidFill>
            <a:srgbClr val="BF9FF1"/>
          </a:solidFill>
          <a:ln w="12700">
            <a:solidFill>
              <a:srgbClr val="BF9F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491472" y="50749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GDPR-compliant erasure + export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6419088"/>
            <a:ext cx="10881360" cy="0"/>
          </a:xfrm>
          <a:prstGeom prst="line">
            <a:avLst/>
          </a:prstGeom>
          <a:noFill/>
          <a:ln w="6350">
            <a:solidFill>
              <a:srgbClr val="18182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GRID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9692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 / 15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2519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Pre-seed — 2026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HOME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Attention, not notifications.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7616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Signals, failed executions, at-risk goals and unhealthy systems — ranked into one focus stream. Built on tenant-isolated Prisma queries. Renders in &lt;50ms.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10881360" cy="3931920"/>
          </a:xfrm>
          <a:prstGeom prst="roundRect">
            <a:avLst>
              <a:gd name="adj" fmla="val 2326"/>
            </a:avLst>
          </a:prstGeom>
          <a:solidFill>
            <a:srgbClr val="0B0B12"/>
          </a:solidFill>
          <a:ln w="9525">
            <a:solidFill>
              <a:srgbClr val="1A1A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9224" y="2340864"/>
            <a:ext cx="10863072" cy="411480"/>
          </a:xfrm>
          <a:prstGeom prst="rect">
            <a:avLst/>
          </a:prstGeom>
          <a:solidFill>
            <a:srgbClr val="0D0D16"/>
          </a:solidFill>
          <a:ln w="12700">
            <a:solidFill>
              <a:srgbClr val="1A1A2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468880"/>
            <a:ext cx="118872" cy="118872"/>
          </a:xfrm>
          <a:prstGeom prst="ellipse">
            <a:avLst/>
          </a:prstGeom>
          <a:solidFill>
            <a:srgbClr val="FF6B6B">
              <a:alpha val="55000"/>
            </a:srgbClr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05840" y="2468880"/>
            <a:ext cx="118872" cy="118872"/>
          </a:xfrm>
          <a:prstGeom prst="ellipse">
            <a:avLst/>
          </a:prstGeom>
          <a:solidFill>
            <a:srgbClr val="F7C700">
              <a:alpha val="55000"/>
            </a:srgbClr>
          </a:solidFill>
          <a:ln w="12700">
            <a:solidFill>
              <a:srgbClr val="F7C7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8720" y="2468880"/>
            <a:ext cx="118872" cy="118872"/>
          </a:xfrm>
          <a:prstGeom prst="ellipse">
            <a:avLst/>
          </a:prstGeom>
          <a:solidFill>
            <a:srgbClr val="15AD70">
              <a:alpha val="55000"/>
            </a:srgbClr>
          </a:solidFill>
          <a:ln w="12700">
            <a:solidFill>
              <a:srgbClr val="15AD7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08760" y="24048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grid.work  ·  Home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51560" y="2926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WORKSPACE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51560" y="31546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Welcome back, Nicole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1051560" y="3794760"/>
            <a:ext cx="10058400" cy="2286000"/>
          </a:xfrm>
          <a:prstGeom prst="roundRect">
            <a:avLst>
              <a:gd name="adj" fmla="val 3200"/>
            </a:avLst>
          </a:prstGeom>
          <a:solidFill>
            <a:srgbClr val="11111C"/>
          </a:solidFill>
          <a:ln w="9525">
            <a:solidFill>
              <a:srgbClr val="1E1E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25880" y="3977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ATTENTION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325880" y="41788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040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to focus on right now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325880" y="4526280"/>
            <a:ext cx="9509760" cy="365760"/>
          </a:xfrm>
          <a:prstGeom prst="roundRect">
            <a:avLst>
              <a:gd name="adj" fmla="val 10000"/>
            </a:avLst>
          </a:prstGeom>
          <a:solidFill>
            <a:srgbClr val="15151F"/>
          </a:solidFill>
          <a:ln w="6350">
            <a:solidFill>
              <a:srgbClr val="1E1E2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35608" y="4599432"/>
            <a:ext cx="384048" cy="210312"/>
          </a:xfrm>
          <a:prstGeom prst="roundRect">
            <a:avLst>
              <a:gd name="adj" fmla="val 17391"/>
            </a:avLst>
          </a:prstGeom>
          <a:solidFill>
            <a:srgbClr val="F7C700">
              <a:alpha val="12000"/>
            </a:srgbClr>
          </a:solidFill>
          <a:ln w="6350">
            <a:solidFill>
              <a:srgbClr val="F7C7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35608" y="4599432"/>
            <a:ext cx="3840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0" kern="0" dirty="0">
                <a:solidFill>
                  <a:srgbClr val="F7C7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SIG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920240" y="4562856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URGENT: ContentOS pipeline failure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920240" y="472744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Unread urgent signal  ·  Marketing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332720" y="459943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94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920240" y="4800600"/>
            <a:ext cx="8046720" cy="36576"/>
          </a:xfrm>
          <a:prstGeom prst="rect">
            <a:avLst/>
          </a:prstGeom>
          <a:solidFill>
            <a:srgbClr val="1E1E2A"/>
          </a:solidFill>
          <a:ln w="12700">
            <a:solidFill>
              <a:srgbClr val="1E1E2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20240" y="4800600"/>
            <a:ext cx="7563917" cy="36576"/>
          </a:xfrm>
          <a:prstGeom prst="rect">
            <a:avLst/>
          </a:prstGeom>
          <a:solidFill>
            <a:srgbClr val="FF6B6B">
              <a:alpha val="85000"/>
            </a:srgbClr>
          </a:solidFill>
          <a:ln w="12700">
            <a:solidFill>
              <a:srgbClr val="08080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5880" y="4974336"/>
            <a:ext cx="9509760" cy="365760"/>
          </a:xfrm>
          <a:prstGeom prst="roundRect">
            <a:avLst>
              <a:gd name="adj" fmla="val 10000"/>
            </a:avLst>
          </a:prstGeom>
          <a:solidFill>
            <a:srgbClr val="15151F"/>
          </a:solidFill>
          <a:ln w="6350">
            <a:solidFill>
              <a:srgbClr val="1E1E2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35608" y="5047488"/>
            <a:ext cx="384048" cy="210312"/>
          </a:xfrm>
          <a:prstGeom prst="roundRect">
            <a:avLst>
              <a:gd name="adj" fmla="val 17391"/>
            </a:avLst>
          </a:prstGeom>
          <a:solidFill>
            <a:srgbClr val="FF6B6B">
              <a:alpha val="12000"/>
            </a:srgbClr>
          </a:solidFill>
          <a:ln w="6350">
            <a:solidFill>
              <a:srgbClr val="FF6B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435608" y="5047488"/>
            <a:ext cx="3840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0" kern="0" dirty="0">
                <a:solidFill>
                  <a:srgbClr val="FF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RUN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1920240" y="501091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Social Campaign: Q2 Launch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920240" y="5175504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Execution failed  ·  Marketing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332720" y="504748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88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920240" y="5248656"/>
            <a:ext cx="8046720" cy="36576"/>
          </a:xfrm>
          <a:prstGeom prst="rect">
            <a:avLst/>
          </a:prstGeom>
          <a:solidFill>
            <a:srgbClr val="1E1E2A"/>
          </a:solidFill>
          <a:ln w="12700">
            <a:solidFill>
              <a:srgbClr val="1E1E2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20240" y="5248656"/>
            <a:ext cx="7081114" cy="36576"/>
          </a:xfrm>
          <a:prstGeom prst="rect">
            <a:avLst/>
          </a:prstGeom>
          <a:solidFill>
            <a:srgbClr val="FF6B6B">
              <a:alpha val="85000"/>
            </a:srgbClr>
          </a:solidFill>
          <a:ln w="12700">
            <a:solidFill>
              <a:srgbClr val="08080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25880" y="5422392"/>
            <a:ext cx="9509760" cy="365760"/>
          </a:xfrm>
          <a:prstGeom prst="roundRect">
            <a:avLst>
              <a:gd name="adj" fmla="val 10000"/>
            </a:avLst>
          </a:prstGeom>
          <a:solidFill>
            <a:srgbClr val="15151F"/>
          </a:solidFill>
          <a:ln w="6350">
            <a:solidFill>
              <a:srgbClr val="1E1E2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435608" y="5495544"/>
            <a:ext cx="384048" cy="210312"/>
          </a:xfrm>
          <a:prstGeom prst="roundRect">
            <a:avLst>
              <a:gd name="adj" fmla="val 17391"/>
            </a:avLst>
          </a:prstGeom>
          <a:solidFill>
            <a:srgbClr val="BF9FF1">
              <a:alpha val="12000"/>
            </a:srgbClr>
          </a:solidFill>
          <a:ln w="6350">
            <a:solidFill>
              <a:srgbClr val="BF9FF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435608" y="5495544"/>
            <a:ext cx="3840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0" kern="0" dirty="0">
                <a:solidFill>
                  <a:srgbClr val="BF9FF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GOAL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1920240" y="545896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Close 3 design partners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920240" y="5623560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Goal at risk  ·  Operations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0332720" y="549554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7C7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72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1920240" y="5696712"/>
            <a:ext cx="8046720" cy="36576"/>
          </a:xfrm>
          <a:prstGeom prst="rect">
            <a:avLst/>
          </a:prstGeom>
          <a:solidFill>
            <a:srgbClr val="1E1E2A"/>
          </a:solidFill>
          <a:ln w="12700">
            <a:solidFill>
              <a:srgbClr val="1E1E2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20240" y="5696712"/>
            <a:ext cx="5793638" cy="36576"/>
          </a:xfrm>
          <a:prstGeom prst="rect">
            <a:avLst/>
          </a:prstGeom>
          <a:solidFill>
            <a:srgbClr val="F7C700">
              <a:alpha val="85000"/>
            </a:srgbClr>
          </a:solidFill>
          <a:ln w="12700">
            <a:solidFill>
              <a:srgbClr val="08080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325880" y="5870448"/>
            <a:ext cx="9509760" cy="365760"/>
          </a:xfrm>
          <a:prstGeom prst="roundRect">
            <a:avLst>
              <a:gd name="adj" fmla="val 10000"/>
            </a:avLst>
          </a:prstGeom>
          <a:solidFill>
            <a:srgbClr val="15151F"/>
          </a:solidFill>
          <a:ln w="6350">
            <a:solidFill>
              <a:srgbClr val="1E1E2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435608" y="5943600"/>
            <a:ext cx="384048" cy="210312"/>
          </a:xfrm>
          <a:prstGeom prst="roundRect">
            <a:avLst>
              <a:gd name="adj" fmla="val 17391"/>
            </a:avLst>
          </a:prstGeom>
          <a:solidFill>
            <a:srgbClr val="7193ED">
              <a:alpha val="12000"/>
            </a:srgbClr>
          </a:solidFill>
          <a:ln w="6350">
            <a:solidFill>
              <a:srgbClr val="7193E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435608" y="5943600"/>
            <a:ext cx="3840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200" kern="0" dirty="0">
                <a:solidFill>
                  <a:srgbClr val="7193E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SYS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1920240" y="5907024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Analytics System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920240" y="6071616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System degraded  ·  Product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332720" y="5943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F9FF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58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1920240" y="6144768"/>
            <a:ext cx="8046720" cy="36576"/>
          </a:xfrm>
          <a:prstGeom prst="rect">
            <a:avLst/>
          </a:prstGeom>
          <a:solidFill>
            <a:srgbClr val="1E1E2A"/>
          </a:solidFill>
          <a:ln w="12700">
            <a:solidFill>
              <a:srgbClr val="1E1E2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920240" y="6144768"/>
            <a:ext cx="4667098" cy="36576"/>
          </a:xfrm>
          <a:prstGeom prst="rect">
            <a:avLst/>
          </a:prstGeom>
          <a:solidFill>
            <a:srgbClr val="BF9FF1">
              <a:alpha val="85000"/>
            </a:srgbClr>
          </a:solidFill>
          <a:ln w="12700">
            <a:solidFill>
              <a:srgbClr val="08080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40080" y="6419088"/>
            <a:ext cx="10881360" cy="0"/>
          </a:xfrm>
          <a:prstGeom prst="line">
            <a:avLst/>
          </a:prstGeom>
          <a:noFill/>
          <a:ln w="6350">
            <a:solidFill>
              <a:srgbClr val="18182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08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GRID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9692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 / 15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2519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Pre-seed — 2026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USE CASES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department. One system.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7616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GRID absorbs the coordination work across four categories of knowledge org, with shipped workflow templates for each.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01018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9224" y="2340864"/>
            <a:ext cx="5285232" cy="36576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2697480"/>
            <a:ext cx="128016" cy="128016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07008" y="2633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FF6B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MARKETING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05840" y="2971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Social Media Campaign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05840" y="3410712"/>
            <a:ext cx="4572000" cy="274320"/>
          </a:xfrm>
          <a:prstGeom prst="roundRect">
            <a:avLst>
              <a:gd name="adj" fmla="val 13333"/>
            </a:avLst>
          </a:prstGeom>
          <a:solidFill>
            <a:srgbClr val="15151F"/>
          </a:solidFill>
          <a:ln w="6350">
            <a:solidFill>
              <a:srgbClr val="1F1F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41071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0B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Narrative → Assets → Review → Publish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05840" y="372160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Full multi-platform campaign in 3 minutes. Instagram, Facebook, LinkedIn — copy, scheduling, analytics.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233172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01018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27064" y="2340864"/>
            <a:ext cx="5285232" cy="36576"/>
          </a:xfrm>
          <a:prstGeom prst="rect">
            <a:avLst/>
          </a:prstGeom>
          <a:solidFill>
            <a:srgbClr val="7193ED"/>
          </a:solidFill>
          <a:ln w="12700">
            <a:solidFill>
              <a:srgbClr val="719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0" y="2697480"/>
            <a:ext cx="128016" cy="128016"/>
          </a:xfrm>
          <a:prstGeom prst="ellipse">
            <a:avLst/>
          </a:prstGeom>
          <a:solidFill>
            <a:srgbClr val="7193ED"/>
          </a:solidFill>
          <a:ln w="12700">
            <a:solidFill>
              <a:srgbClr val="7193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84848" y="2633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7193E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CONTENT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583680" y="2971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Blog Post Pipeline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583680" y="3410712"/>
            <a:ext cx="4572000" cy="274320"/>
          </a:xfrm>
          <a:prstGeom prst="roundRect">
            <a:avLst>
              <a:gd name="adj" fmla="val 13333"/>
            </a:avLst>
          </a:prstGeom>
          <a:solidFill>
            <a:srgbClr val="15151F"/>
          </a:solidFill>
          <a:ln w="6350">
            <a:solidFill>
              <a:srgbClr val="1F1F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0" y="341071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0B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Research → Draft → Review → Publish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583680" y="372160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SEO-optimized posts from brief to publish-ready. Nova writes, validates, and prepares metadata.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0080" y="4498848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01018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9224" y="4507992"/>
            <a:ext cx="5285232" cy="36576"/>
          </a:xfrm>
          <a:prstGeom prst="rect">
            <a:avLst/>
          </a:prstGeom>
          <a:solidFill>
            <a:srgbClr val="15AD70"/>
          </a:solidFill>
          <a:ln w="12700">
            <a:solidFill>
              <a:srgbClr val="15AD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5840" y="4864608"/>
            <a:ext cx="128016" cy="128016"/>
          </a:xfrm>
          <a:prstGeom prst="ellipse">
            <a:avLst/>
          </a:prstGeom>
          <a:solidFill>
            <a:srgbClr val="15AD70"/>
          </a:solidFill>
          <a:ln w="12700">
            <a:solidFill>
              <a:srgbClr val="15AD7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07008" y="4800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OPERATIONS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05840" y="51389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Client Onboarding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005840" y="5577840"/>
            <a:ext cx="4572000" cy="274320"/>
          </a:xfrm>
          <a:prstGeom prst="roundRect">
            <a:avLst>
              <a:gd name="adj" fmla="val 13333"/>
            </a:avLst>
          </a:prstGeom>
          <a:solidFill>
            <a:srgbClr val="15151F"/>
          </a:solidFill>
          <a:ln w="6350">
            <a:solidFill>
              <a:srgbClr val="1F1F2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97280" y="55778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0B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Discovery → Setup → Training → Handoff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05840" y="588873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Structured onboarding that self-reports progress. Health scores track client engagement in real time.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7920" y="4498848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01018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27064" y="4507992"/>
            <a:ext cx="5285232" cy="36576"/>
          </a:xfrm>
          <a:prstGeom prst="rect">
            <a:avLst/>
          </a:prstGeom>
          <a:solidFill>
            <a:srgbClr val="BF9FF1"/>
          </a:solidFill>
          <a:ln w="12700">
            <a:solidFill>
              <a:srgbClr val="BF9FF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83680" y="4864608"/>
            <a:ext cx="128016" cy="128016"/>
          </a:xfrm>
          <a:prstGeom prst="ellipse">
            <a:avLst/>
          </a:prstGeom>
          <a:solidFill>
            <a:srgbClr val="BF9FF1"/>
          </a:solidFill>
          <a:ln w="12700">
            <a:solidFill>
              <a:srgbClr val="BF9FF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84848" y="4800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BF9FF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ENGINEERING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583680" y="51389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Sprint Cycle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6583680" y="5577840"/>
            <a:ext cx="4572000" cy="274320"/>
          </a:xfrm>
          <a:prstGeom prst="roundRect">
            <a:avLst>
              <a:gd name="adj" fmla="val 13333"/>
            </a:avLst>
          </a:prstGeom>
          <a:solidFill>
            <a:srgbClr val="15151F"/>
          </a:solidFill>
          <a:ln w="6350">
            <a:solidFill>
              <a:srgbClr val="1F1F2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75120" y="55778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0B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Planning → Development → Review → Deploy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583680" y="588873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Sprint planning generated by Nova. Velocity tracked. Blockers surfaced automatically from signals.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40080" y="6419088"/>
            <a:ext cx="10881360" cy="0"/>
          </a:xfrm>
          <a:prstGeom prst="line">
            <a:avLst/>
          </a:prstGeom>
          <a:noFill/>
          <a:ln w="6350">
            <a:solidFill>
              <a:srgbClr val="18182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GRID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9692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 / 15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2519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Pre-seed — 2026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CASE STUDIES  ·  DESIGN PARTNER ARCHETYPES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Who GRID replaces on day one.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81610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Three archetypes we are onboarding in the closed alpha. Each represents a different cost curve GRID collapses.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3474720" cy="3931920"/>
          </a:xfrm>
          <a:prstGeom prst="roundRect">
            <a:avLst>
              <a:gd name="adj" fmla="val 2105"/>
            </a:avLst>
          </a:prstGeom>
          <a:solidFill>
            <a:srgbClr val="101018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9224" y="2386584"/>
            <a:ext cx="3456432" cy="36576"/>
          </a:xfrm>
          <a:prstGeom prst="rect">
            <a:avLst/>
          </a:prstGeom>
          <a:solidFill>
            <a:srgbClr val="15AD70"/>
          </a:solidFill>
          <a:ln w="12700">
            <a:solidFill>
              <a:srgbClr val="15AD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6974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SOLO OPERATOR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60120" y="29718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content founder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36118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4040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960120" y="37947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Solo marketing founder, $8K/mo ad spend, publishes 3× / week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60120" y="43434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4040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PROBLEM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960120" y="45262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Needs a 3-person content team to stay consistent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60120" y="50749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WITH GRID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960120" y="52578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Runs 1 content workflow, publishes on 4 platforms automatically, reviews Nova output in 10 min/day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0120" y="5806440"/>
            <a:ext cx="2834640" cy="347472"/>
          </a:xfrm>
          <a:prstGeom prst="roundRect">
            <a:avLst>
              <a:gd name="adj" fmla="val 10526"/>
            </a:avLst>
          </a:prstGeom>
          <a:solidFill>
            <a:srgbClr val="15AD70">
              <a:alpha val="12000"/>
            </a:srgbClr>
          </a:solidFill>
          <a:ln w="6350">
            <a:solidFill>
              <a:srgbClr val="15AD7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580644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Replaces: $18K/mo in fractional content hires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43400" y="2377440"/>
            <a:ext cx="3474720" cy="3931920"/>
          </a:xfrm>
          <a:prstGeom prst="roundRect">
            <a:avLst>
              <a:gd name="adj" fmla="val 2105"/>
            </a:avLst>
          </a:prstGeom>
          <a:solidFill>
            <a:srgbClr val="101018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52544" y="2386584"/>
            <a:ext cx="3456432" cy="36576"/>
          </a:xfrm>
          <a:prstGeom prst="rect">
            <a:avLst/>
          </a:prstGeom>
          <a:solidFill>
            <a:srgbClr val="7193ED"/>
          </a:solidFill>
          <a:ln w="12700">
            <a:solidFill>
              <a:srgbClr val="7193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26974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7193E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MID-MARKET OPS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663440" y="29718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50-person knowledge org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663440" y="36118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4040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WHO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663440" y="37947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50-person services firm, 3 PMs, 2 analysts, 1 ops lead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663440" y="43434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4040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PROBLEM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663440" y="45262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Coordination overhead eats 30% of senior time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63440" y="50749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193E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WITH GRID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663440" y="52578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Replaces PM status layer + analyst reporting with live GRID environments per client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663440" y="5806440"/>
            <a:ext cx="2834640" cy="347472"/>
          </a:xfrm>
          <a:prstGeom prst="roundRect">
            <a:avLst>
              <a:gd name="adj" fmla="val 10526"/>
            </a:avLst>
          </a:prstGeom>
          <a:solidFill>
            <a:srgbClr val="7193ED">
              <a:alpha val="12000"/>
            </a:srgbClr>
          </a:solidFill>
          <a:ln w="6350">
            <a:solidFill>
              <a:srgbClr val="7193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63440" y="580644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193E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Replaces: $600K/yr in coordination roles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046720" y="2377440"/>
            <a:ext cx="3474720" cy="3931920"/>
          </a:xfrm>
          <a:prstGeom prst="roundRect">
            <a:avLst>
              <a:gd name="adj" fmla="val 2105"/>
            </a:avLst>
          </a:prstGeom>
          <a:solidFill>
            <a:srgbClr val="101018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55864" y="2386584"/>
            <a:ext cx="3456432" cy="36576"/>
          </a:xfrm>
          <a:prstGeom prst="rect">
            <a:avLst/>
          </a:prstGeom>
          <a:solidFill>
            <a:srgbClr val="BF9FF1"/>
          </a:solidFill>
          <a:ln w="12700">
            <a:solidFill>
              <a:srgbClr val="BF9FF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66760" y="26974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BF9FF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AGENCY  /  WHITELABEL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366760" y="29718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agency reseller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8366760" y="36118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4040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WHO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366760" y="37947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Marketing agency managing 12 client accounts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366760" y="43434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4040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PROBLEM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366760" y="45262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client needs custom dashboards the agency has to build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66760" y="50749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F9FF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WITH GRID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366760" y="52578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White-labels GRID per client, brands with client logo + color, bills $299/environment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366760" y="5806440"/>
            <a:ext cx="2834640" cy="347472"/>
          </a:xfrm>
          <a:prstGeom prst="roundRect">
            <a:avLst>
              <a:gd name="adj" fmla="val 10526"/>
            </a:avLst>
          </a:prstGeom>
          <a:solidFill>
            <a:srgbClr val="BF9FF1">
              <a:alpha val="12000"/>
            </a:srgbClr>
          </a:solidFill>
          <a:ln w="6350">
            <a:solidFill>
              <a:srgbClr val="BF9F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66760" y="580644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F9FF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Adds: $43K/yr margin on 12 clients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40080" y="6419088"/>
            <a:ext cx="10881360" cy="0"/>
          </a:xfrm>
          <a:prstGeom prst="line">
            <a:avLst/>
          </a:prstGeom>
          <a:noFill/>
          <a:ln w="6350">
            <a:solidFill>
              <a:srgbClr val="18182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GRID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9692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 / 15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2519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Pre-seed — 2026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are not sizing the SaaS market.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are sizing the labor budget we replace.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01018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834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05840" y="3108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Global coordination labor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05840" y="356616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$2.1T</a:t>
            </a:r>
            <a:endParaRPr lang="en-US" sz="5600" dirty="0"/>
          </a:p>
        </p:txBody>
      </p:sp>
      <p:sp>
        <p:nvSpPr>
          <p:cNvPr id="9" name="Shape 7"/>
          <p:cNvSpPr/>
          <p:nvPr/>
        </p:nvSpPr>
        <p:spPr>
          <a:xfrm>
            <a:off x="1005840" y="4709160"/>
            <a:ext cx="731520" cy="0"/>
          </a:xfrm>
          <a:prstGeom prst="line">
            <a:avLst/>
          </a:prstGeom>
          <a:noFill/>
          <a:ln w="12700">
            <a:solidFill>
              <a:srgbClr val="15AD7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48463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PMs, ops, content, social — annual salary spend across all knowledge orgs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43400" y="25146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01018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2834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7193E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09160" y="3108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English-speaking SMB + mid-mkt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709160" y="356616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$310B</a:t>
            </a:r>
            <a:endParaRPr lang="en-US" sz="5600" dirty="0"/>
          </a:p>
        </p:txBody>
      </p:sp>
      <p:sp>
        <p:nvSpPr>
          <p:cNvPr id="15" name="Shape 13"/>
          <p:cNvSpPr/>
          <p:nvPr/>
        </p:nvSpPr>
        <p:spPr>
          <a:xfrm>
            <a:off x="4709160" y="4709160"/>
            <a:ext cx="731520" cy="0"/>
          </a:xfrm>
          <a:prstGeom prst="line">
            <a:avLst/>
          </a:prstGeom>
          <a:noFill/>
          <a:ln w="12700">
            <a:solidFill>
              <a:srgbClr val="7193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09160" y="48463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Companies 10–500 where a single founder can buy without procurement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25146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01018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0" y="2834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BF9FF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SOM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412480" y="3108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5-year capturable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412480" y="356616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$180M</a:t>
            </a:r>
            <a:endParaRPr lang="en-US" sz="5600" dirty="0"/>
          </a:p>
        </p:txBody>
      </p:sp>
      <p:sp>
        <p:nvSpPr>
          <p:cNvPr id="21" name="Shape 19"/>
          <p:cNvSpPr/>
          <p:nvPr/>
        </p:nvSpPr>
        <p:spPr>
          <a:xfrm>
            <a:off x="8412480" y="4709160"/>
            <a:ext cx="731520" cy="0"/>
          </a:xfrm>
          <a:prstGeom prst="line">
            <a:avLst/>
          </a:prstGeom>
          <a:noFill/>
          <a:ln w="12700">
            <a:solidFill>
              <a:srgbClr val="BF9F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0" y="48463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18K seats × $99/mo average at 1% SAM penetration — conservative floor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% of knowledge-work coordination we absorb = 10× the per-seat SaaS alternative.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6419088"/>
            <a:ext cx="10881360" cy="0"/>
          </a:xfrm>
          <a:prstGeom prst="line">
            <a:avLst/>
          </a:prstGeom>
          <a:noFill/>
          <a:ln w="6350">
            <a:solidFill>
              <a:srgbClr val="18182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GRID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9692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 / 15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2519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Pre-seed — 2026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0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TRACTION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Two years. One founder. Shipped.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848746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GRID is already in production. Every system below is live in the repo, hardened, and running on a single founder's infrastructure.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101018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 yrs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2743200" y="26517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Bootstrapped solo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0" y="29443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Zero outside capital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3474720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101018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36118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2743200" y="36576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Nova operational tools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43200" y="395020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Shipped and auditable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" y="4480560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101018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461772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44+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2743200" y="46634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API routes, tenant-isolated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0" y="49560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GDPR Art 17 + 20 compliant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" y="5486400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101018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56235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$0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2743200" y="5669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Burn to date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743200" y="59618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Anthropic account as sole resource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80760" y="2468880"/>
            <a:ext cx="5440680" cy="3886200"/>
          </a:xfrm>
          <a:prstGeom prst="roundRect">
            <a:avLst>
              <a:gd name="adj" fmla="val 1882"/>
            </a:avLst>
          </a:prstGeom>
          <a:solidFill>
            <a:srgbClr val="101018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0" y="2743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SHIPPED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00800" y="297180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is live today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46520" y="3483864"/>
            <a:ext cx="91440" cy="36576"/>
          </a:xfrm>
          <a:prstGeom prst="rect">
            <a:avLst/>
          </a:prstGeom>
          <a:solidFill>
            <a:srgbClr val="15AD70"/>
          </a:solidFill>
          <a:ln w="12700">
            <a:solidFill>
              <a:srgbClr val="15AD7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29400" y="338328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Multi-tenant architecture with ownership guards across every route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46520" y="3785616"/>
            <a:ext cx="91440" cy="36576"/>
          </a:xfrm>
          <a:prstGeom prst="rect">
            <a:avLst/>
          </a:prstGeom>
          <a:solidFill>
            <a:srgbClr val="15AD70"/>
          </a:solidFill>
          <a:ln w="12700">
            <a:solidFill>
              <a:srgbClr val="15AD7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29400" y="368503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Nova constraint engine: 11 tools, streaming execution, quality validation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46520" y="4087368"/>
            <a:ext cx="91440" cy="36576"/>
          </a:xfrm>
          <a:prstGeom prst="rect">
            <a:avLst/>
          </a:prstGeom>
          <a:solidFill>
            <a:srgbClr val="15AD70"/>
          </a:solidFill>
          <a:ln w="12700">
            <a:solidFill>
              <a:srgbClr val="15AD7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29400" y="3986784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Session auth hardened (sameSite strict, CSRF defense, rate-limited)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46520" y="4389120"/>
            <a:ext cx="91440" cy="36576"/>
          </a:xfrm>
          <a:prstGeom prst="rect">
            <a:avLst/>
          </a:prstGeom>
          <a:solidFill>
            <a:srgbClr val="15AD70"/>
          </a:solidFill>
          <a:ln w="12700">
            <a:solidFill>
              <a:srgbClr val="15AD7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29400" y="4288536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GDPR Article 17 erasure + Article 20 portability flows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446520" y="4690872"/>
            <a:ext cx="91440" cy="36576"/>
          </a:xfrm>
          <a:prstGeom prst="rect">
            <a:avLst/>
          </a:prstGeom>
          <a:solidFill>
            <a:srgbClr val="15AD70"/>
          </a:solidFill>
          <a:ln w="12700">
            <a:solidFill>
              <a:srgbClr val="15AD7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29400" y="459028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Upstash Redis distributed rate limiting (fail-open to in-memory)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446520" y="4992624"/>
            <a:ext cx="91440" cy="36576"/>
          </a:xfrm>
          <a:prstGeom prst="rect">
            <a:avLst/>
          </a:prstGeom>
          <a:solidFill>
            <a:srgbClr val="15AD70"/>
          </a:solidFill>
          <a:ln w="12700">
            <a:solidFill>
              <a:srgbClr val="15AD7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29400" y="489204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Attention-ranking home widget, signal triage, goal tracking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446520" y="5294376"/>
            <a:ext cx="91440" cy="36576"/>
          </a:xfrm>
          <a:prstGeom prst="rect">
            <a:avLst/>
          </a:prstGeom>
          <a:solidFill>
            <a:srgbClr val="15AD70"/>
          </a:solidFill>
          <a:ln w="12700">
            <a:solidFill>
              <a:srgbClr val="15AD7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29400" y="519379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Daily encrypted Postgres backups via GitHub Actions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446520" y="5596128"/>
            <a:ext cx="91440" cy="36576"/>
          </a:xfrm>
          <a:prstGeom prst="rect">
            <a:avLst/>
          </a:prstGeom>
          <a:solidFill>
            <a:srgbClr val="15AD70"/>
          </a:solidFill>
          <a:ln w="12700">
            <a:solidFill>
              <a:srgbClr val="15AD7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29400" y="5495544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Per-tenant daily cost circuit breakers ($10/day default)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40080" y="6419088"/>
            <a:ext cx="10881360" cy="0"/>
          </a:xfrm>
          <a:prstGeom prst="line">
            <a:avLst/>
          </a:prstGeom>
          <a:noFill/>
          <a:ln w="6350">
            <a:solidFill>
              <a:srgbClr val="18182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GRID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9692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 / 15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42519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Pre-seed — 2026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0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BUSINESS MODEL  ·  PRICING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Four tiers. Margin protected at every level.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92491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Median user costs us ~$22/mo at current Anthropic rates. Per-tenant daily caps enforce a worst-case ceiling. Gross margin stays above 78% in the worst case and above 92% at the median.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83180" cy="3383280"/>
          </a:xfrm>
          <a:prstGeom prst="roundRect">
            <a:avLst>
              <a:gd name="adj" fmla="val 2832"/>
            </a:avLst>
          </a:prstGeom>
          <a:solidFill>
            <a:srgbClr val="101018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9224" y="2340864"/>
            <a:ext cx="2564892" cy="36576"/>
          </a:xfrm>
          <a:prstGeom prst="rect">
            <a:avLst/>
          </a:prstGeom>
          <a:solidFill>
            <a:srgbClr val="A0A0B0"/>
          </a:solidFill>
          <a:ln w="12700">
            <a:solidFill>
              <a:srgbClr val="A0A0B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606040"/>
            <a:ext cx="20345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HOBBY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14400" y="2926080"/>
            <a:ext cx="20345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Free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914400" y="3749040"/>
            <a:ext cx="20345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 user  ·  1 environment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14400" y="4023360"/>
            <a:ext cx="2034540" cy="274320"/>
          </a:xfrm>
          <a:prstGeom prst="roundRect">
            <a:avLst>
              <a:gd name="adj" fmla="val 13333"/>
            </a:avLst>
          </a:prstGeom>
          <a:solidFill>
            <a:srgbClr val="A0A0B0">
              <a:alpha val="12000"/>
            </a:srgbClr>
          </a:solidFill>
          <a:ln w="6350">
            <a:solidFill>
              <a:srgbClr val="A0A0B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023360"/>
            <a:ext cx="20345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Acquisition funnel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14400" y="4434840"/>
            <a:ext cx="2034540" cy="0"/>
          </a:xfrm>
          <a:prstGeom prst="line">
            <a:avLst/>
          </a:prstGeom>
          <a:noFill/>
          <a:ln w="9525">
            <a:solidFill>
              <a:srgbClr val="1F1F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52628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15568" y="4526280"/>
            <a:ext cx="18333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$2 / day AI cap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14400" y="48006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15568" y="4800600"/>
            <a:ext cx="18333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Nova with 5 tools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14400" y="50749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5568" y="5074920"/>
            <a:ext cx="18333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Community support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14400" y="53492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15568" y="5349240"/>
            <a:ext cx="18333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Public-template workflows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06140" y="2331720"/>
            <a:ext cx="2583180" cy="3383280"/>
          </a:xfrm>
          <a:prstGeom prst="roundRect">
            <a:avLst>
              <a:gd name="adj" fmla="val 2832"/>
            </a:avLst>
          </a:prstGeom>
          <a:solidFill>
            <a:srgbClr val="101018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15284" y="2340864"/>
            <a:ext cx="2564892" cy="36576"/>
          </a:xfrm>
          <a:prstGeom prst="rect">
            <a:avLst/>
          </a:prstGeom>
          <a:solidFill>
            <a:srgbClr val="15AD70"/>
          </a:solidFill>
          <a:ln w="12700">
            <a:solidFill>
              <a:srgbClr val="15AD7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80460" y="2606040"/>
            <a:ext cx="20345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STARTER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80460" y="2926080"/>
            <a:ext cx="20345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$39</a:t>
            </a:r>
            <a:pPr indent="0" marL="0">
              <a:buNone/>
            </a:pPr>
            <a:r>
              <a:rPr lang="en-US" sz="10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/user / mo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3680460" y="3749040"/>
            <a:ext cx="20345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Up to 5 seats  ·  1 environment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80460" y="4023360"/>
            <a:ext cx="2034540" cy="274320"/>
          </a:xfrm>
          <a:prstGeom prst="roundRect">
            <a:avLst>
              <a:gd name="adj" fmla="val 13333"/>
            </a:avLst>
          </a:prstGeom>
          <a:solidFill>
            <a:srgbClr val="15AD70">
              <a:alpha val="12000"/>
            </a:srgbClr>
          </a:solidFill>
          <a:ln w="6350">
            <a:solidFill>
              <a:srgbClr val="15AD7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80460" y="4023360"/>
            <a:ext cx="20345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~44% GM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680460" y="4434840"/>
            <a:ext cx="2034540" cy="0"/>
          </a:xfrm>
          <a:prstGeom prst="line">
            <a:avLst/>
          </a:prstGeom>
          <a:noFill/>
          <a:ln w="9525">
            <a:solidFill>
              <a:srgbClr val="1F1F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80460" y="452628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881628" y="4526280"/>
            <a:ext cx="18333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Nova with 11 tools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80460" y="48006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881628" y="4800600"/>
            <a:ext cx="18333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$10 / day AI cap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680460" y="50749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881628" y="5074920"/>
            <a:ext cx="18333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Signals  ·  goals  ·  workflows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680460" y="53492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881628" y="5349240"/>
            <a:ext cx="18333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Email support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172200" y="2331720"/>
            <a:ext cx="2583180" cy="3383280"/>
          </a:xfrm>
          <a:prstGeom prst="roundRect">
            <a:avLst>
              <a:gd name="adj" fmla="val 2832"/>
            </a:avLst>
          </a:prstGeom>
          <a:solidFill>
            <a:srgbClr val="101018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81344" y="2340864"/>
            <a:ext cx="2564892" cy="36576"/>
          </a:xfrm>
          <a:prstGeom prst="rect">
            <a:avLst/>
          </a:prstGeom>
          <a:solidFill>
            <a:srgbClr val="7193ED"/>
          </a:solidFill>
          <a:ln w="12700">
            <a:solidFill>
              <a:srgbClr val="7193E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46520" y="2606040"/>
            <a:ext cx="20345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7193E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GROWTH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446520" y="2926080"/>
            <a:ext cx="20345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$99</a:t>
            </a:r>
            <a:pPr indent="0" marL="0">
              <a:buNone/>
            </a:pPr>
            <a:r>
              <a:rPr lang="en-US" sz="10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/user / mo</a:t>
            </a:r>
            <a:endParaRPr lang="en-US" sz="3400" dirty="0"/>
          </a:p>
        </p:txBody>
      </p:sp>
      <p:sp>
        <p:nvSpPr>
          <p:cNvPr id="41" name="Text 39"/>
          <p:cNvSpPr/>
          <p:nvPr/>
        </p:nvSpPr>
        <p:spPr>
          <a:xfrm>
            <a:off x="6446520" y="3749040"/>
            <a:ext cx="20345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Up to 50 seats  ·  5 environments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46520" y="4023360"/>
            <a:ext cx="2034540" cy="274320"/>
          </a:xfrm>
          <a:prstGeom prst="roundRect">
            <a:avLst>
              <a:gd name="adj" fmla="val 13333"/>
            </a:avLst>
          </a:prstGeom>
          <a:solidFill>
            <a:srgbClr val="7193ED">
              <a:alpha val="12000"/>
            </a:srgbClr>
          </a:solidFill>
          <a:ln w="6350">
            <a:solidFill>
              <a:srgbClr val="7193E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46520" y="4023360"/>
            <a:ext cx="20345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193E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~78% GM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46520" y="4434840"/>
            <a:ext cx="2034540" cy="0"/>
          </a:xfrm>
          <a:prstGeom prst="line">
            <a:avLst/>
          </a:prstGeom>
          <a:noFill/>
          <a:ln w="9525">
            <a:solidFill>
              <a:srgbClr val="1F1F2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46520" y="452628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93E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647688" y="4526280"/>
            <a:ext cx="18333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Everything in Starter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446520" y="48006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93E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647688" y="4800600"/>
            <a:ext cx="18333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$50 / day AI cap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446520" y="50749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93E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647688" y="5074920"/>
            <a:ext cx="18333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Custom workflows  ·  API  ·  webhooks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446520" y="53492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93E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647688" y="5349240"/>
            <a:ext cx="18333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Priority support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8938260" y="2331720"/>
            <a:ext cx="2583180" cy="3383280"/>
          </a:xfrm>
          <a:prstGeom prst="roundRect">
            <a:avLst>
              <a:gd name="adj" fmla="val 2832"/>
            </a:avLst>
          </a:prstGeom>
          <a:solidFill>
            <a:srgbClr val="101018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947404" y="2340864"/>
            <a:ext cx="2564892" cy="36576"/>
          </a:xfrm>
          <a:prstGeom prst="rect">
            <a:avLst/>
          </a:prstGeom>
          <a:solidFill>
            <a:srgbClr val="BF9FF1"/>
          </a:solidFill>
          <a:ln w="12700">
            <a:solidFill>
              <a:srgbClr val="BF9F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212580" y="2606040"/>
            <a:ext cx="20345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BF9FF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ENTERPRISE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9212580" y="2926080"/>
            <a:ext cx="20345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$299</a:t>
            </a:r>
            <a:pPr indent="0" marL="0">
              <a:buNone/>
            </a:pPr>
            <a:r>
              <a:rPr lang="en-US" sz="10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/user / mo</a:t>
            </a:r>
            <a:endParaRPr lang="en-US" sz="3400" dirty="0"/>
          </a:p>
        </p:txBody>
      </p:sp>
      <p:sp>
        <p:nvSpPr>
          <p:cNvPr id="57" name="Text 55"/>
          <p:cNvSpPr/>
          <p:nvPr/>
        </p:nvSpPr>
        <p:spPr>
          <a:xfrm>
            <a:off x="9212580" y="3749040"/>
            <a:ext cx="20345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Unlimited  ·  White-label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9212580" y="4023360"/>
            <a:ext cx="2034540" cy="274320"/>
          </a:xfrm>
          <a:prstGeom prst="roundRect">
            <a:avLst>
              <a:gd name="adj" fmla="val 13333"/>
            </a:avLst>
          </a:prstGeom>
          <a:solidFill>
            <a:srgbClr val="BF9FF1">
              <a:alpha val="12000"/>
            </a:srgbClr>
          </a:solidFill>
          <a:ln w="6350">
            <a:solidFill>
              <a:srgbClr val="BF9F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212580" y="4023360"/>
            <a:ext cx="20345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F9FF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~92% GM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212580" y="4434840"/>
            <a:ext cx="2034540" cy="0"/>
          </a:xfrm>
          <a:prstGeom prst="line">
            <a:avLst/>
          </a:prstGeom>
          <a:noFill/>
          <a:ln w="9525">
            <a:solidFill>
              <a:srgbClr val="1F1F2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212580" y="452628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F9FF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9413748" y="4526280"/>
            <a:ext cx="18333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Everything in Growth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9212580" y="48006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F9FF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9413748" y="4800600"/>
            <a:ext cx="18333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White-label branding  ·  SSO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9212580" y="50749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F9FF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9413748" y="5074920"/>
            <a:ext cx="18333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Audit logs  ·  custom AI caps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9212580" y="53492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F9FF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9413748" y="5349240"/>
            <a:ext cx="18333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 partner SLA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640080" y="585216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14141E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14400" y="585216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ADD-ONS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2011680" y="6057900"/>
            <a:ext cx="91440" cy="91440"/>
          </a:xfrm>
          <a:prstGeom prst="ellipse">
            <a:avLst/>
          </a:prstGeom>
          <a:solidFill>
            <a:srgbClr val="15AD70"/>
          </a:solidFill>
          <a:ln w="12700">
            <a:solidFill>
              <a:srgbClr val="15AD7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194560" y="5852160"/>
            <a:ext cx="2171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Annual billing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</a:t>
            </a:r>
            <a:pPr indent="0" marL="0">
              <a:buNone/>
            </a:pPr>
            <a:r>
              <a:rPr lang="en-US" sz="900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−20%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4366260" y="6057900"/>
            <a:ext cx="91440" cy="91440"/>
          </a:xfrm>
          <a:prstGeom prst="ellipse">
            <a:avLst/>
          </a:prstGeom>
          <a:solidFill>
            <a:srgbClr val="7193ED"/>
          </a:solidFill>
          <a:ln w="12700">
            <a:solidFill>
              <a:srgbClr val="7193ED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549140" y="5852160"/>
            <a:ext cx="2171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Extra AI cap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</a:t>
            </a:r>
            <a:pPr indent="0" marL="0">
              <a:buNone/>
            </a:pPr>
            <a:r>
              <a:rPr lang="en-US" sz="900" dirty="0">
                <a:solidFill>
                  <a:srgbClr val="7193E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$0.02 / 1K tok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6720840" y="6057900"/>
            <a:ext cx="91440" cy="91440"/>
          </a:xfrm>
          <a:prstGeom prst="ellipse">
            <a:avLst/>
          </a:prstGeom>
          <a:solidFill>
            <a:srgbClr val="BF9FF1"/>
          </a:solidFill>
          <a:ln w="12700">
            <a:solidFill>
              <a:srgbClr val="BF9FF1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903720" y="5852160"/>
            <a:ext cx="2171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SSO add-on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</a:t>
            </a:r>
            <a:pPr indent="0" marL="0">
              <a:buNone/>
            </a:pPr>
            <a:r>
              <a:rPr lang="en-US" sz="900" dirty="0">
                <a:solidFill>
                  <a:srgbClr val="BF9FF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$500 / mo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9075420" y="6057900"/>
            <a:ext cx="91440" cy="91440"/>
          </a:xfrm>
          <a:prstGeom prst="ellipse">
            <a:avLst/>
          </a:prstGeom>
          <a:solidFill>
            <a:srgbClr val="F7C700"/>
          </a:solidFill>
          <a:ln w="12700">
            <a:solidFill>
              <a:srgbClr val="F7C70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258300" y="5852160"/>
            <a:ext cx="2171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White-label env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</a:t>
            </a:r>
            <a:pPr indent="0" marL="0">
              <a:buNone/>
            </a:pPr>
            <a:r>
              <a:rPr lang="en-US" sz="900" dirty="0">
                <a:solidFill>
                  <a:srgbClr val="F7C7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$299 / env / mo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640080" y="6419088"/>
            <a:ext cx="10881360" cy="0"/>
          </a:xfrm>
          <a:prstGeom prst="line">
            <a:avLst/>
          </a:prstGeom>
          <a:noFill/>
          <a:ln w="6350">
            <a:solidFill>
              <a:srgbClr val="181822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4008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GRID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9692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 / 15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42519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Pre-seed — 2026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0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COMPETITION  ·  MOAT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Everyone is building chat. We are building structure.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6400800" cy="4114800"/>
          </a:xfrm>
          <a:prstGeom prst="roundRect">
            <a:avLst>
              <a:gd name="adj" fmla="val 1778"/>
            </a:avLst>
          </a:prstGeom>
          <a:solidFill>
            <a:srgbClr val="0C0C14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840480" y="2103120"/>
            <a:ext cx="0" cy="3749040"/>
          </a:xfrm>
          <a:prstGeom prst="line">
            <a:avLst/>
          </a:prstGeom>
          <a:noFill/>
          <a:ln w="9525">
            <a:solidFill>
              <a:srgbClr val="1F1F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977640"/>
            <a:ext cx="6035040" cy="0"/>
          </a:xfrm>
          <a:prstGeom prst="line">
            <a:avLst/>
          </a:prstGeom>
          <a:noFill/>
          <a:ln w="9525">
            <a:solidFill>
              <a:srgbClr val="1F1F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31920" y="201168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STRUCTURE-FIRST →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" y="201168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← CHAT-FIRST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22860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AI-NATIVE ↑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31520" y="56692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↓ TEMPLATE-OPS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984248" y="2679192"/>
            <a:ext cx="128016" cy="128016"/>
          </a:xfrm>
          <a:prstGeom prst="ellipse">
            <a:avLst/>
          </a:prstGeom>
          <a:solidFill>
            <a:srgbClr val="60606A">
              <a:alpha val="60000"/>
            </a:srgbClr>
          </a:solidFill>
          <a:ln w="12700">
            <a:solidFill>
              <a:srgbClr val="606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57984" y="2633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ChatGPT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600200" y="3008376"/>
            <a:ext cx="128016" cy="128016"/>
          </a:xfrm>
          <a:prstGeom prst="ellipse">
            <a:avLst/>
          </a:prstGeom>
          <a:solidFill>
            <a:srgbClr val="60606A">
              <a:alpha val="60000"/>
            </a:srgbClr>
          </a:solidFill>
          <a:ln w="12700">
            <a:solidFill>
              <a:srgbClr val="606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773936" y="2962656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Claude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816352" y="4119372"/>
            <a:ext cx="128016" cy="128016"/>
          </a:xfrm>
          <a:prstGeom prst="ellipse">
            <a:avLst/>
          </a:prstGeom>
          <a:solidFill>
            <a:srgbClr val="60606A">
              <a:alpha val="60000"/>
            </a:srgbClr>
          </a:solidFill>
          <a:ln w="12700">
            <a:solidFill>
              <a:srgbClr val="606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90088" y="40736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Notion AI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44568" y="4818888"/>
            <a:ext cx="128016" cy="128016"/>
          </a:xfrm>
          <a:prstGeom prst="ellipse">
            <a:avLst/>
          </a:prstGeom>
          <a:solidFill>
            <a:srgbClr val="60606A">
              <a:alpha val="60000"/>
            </a:srgbClr>
          </a:solidFill>
          <a:ln w="12700">
            <a:solidFill>
              <a:srgbClr val="606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18304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Monday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184648" y="5065776"/>
            <a:ext cx="128016" cy="128016"/>
          </a:xfrm>
          <a:prstGeom prst="ellipse">
            <a:avLst/>
          </a:prstGeom>
          <a:solidFill>
            <a:srgbClr val="60606A">
              <a:alpha val="60000"/>
            </a:srgbClr>
          </a:solidFill>
          <a:ln w="12700">
            <a:solidFill>
              <a:srgbClr val="606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58384" y="5020056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Asana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96712" y="4325112"/>
            <a:ext cx="128016" cy="128016"/>
          </a:xfrm>
          <a:prstGeom prst="ellipse">
            <a:avLst/>
          </a:prstGeom>
          <a:solidFill>
            <a:srgbClr val="60606A">
              <a:alpha val="60000"/>
            </a:srgbClr>
          </a:solidFill>
          <a:ln w="12700">
            <a:solidFill>
              <a:srgbClr val="6060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70448" y="4279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Linear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742432" y="2514600"/>
            <a:ext cx="292608" cy="292608"/>
          </a:xfrm>
          <a:prstGeom prst="ellipse">
            <a:avLst/>
          </a:prstGeom>
          <a:solidFill>
            <a:srgbClr val="15AD70"/>
          </a:solidFill>
          <a:ln w="12700">
            <a:solidFill>
              <a:srgbClr val="15AD7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80760" y="2551176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GRID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36092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WE WIN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60920" y="2423160"/>
            <a:ext cx="228600" cy="0"/>
          </a:xfrm>
          <a:prstGeom prst="line">
            <a:avLst/>
          </a:prstGeom>
          <a:noFill/>
          <a:ln w="19050">
            <a:solidFill>
              <a:srgbClr val="15AD7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0" y="22860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Structure as thesis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680960" y="25603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only ops tool whose core claim is that models do not matter — structure does. A hard-to-copy point of view.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360920" y="3383280"/>
            <a:ext cx="228600" cy="0"/>
          </a:xfrm>
          <a:prstGeom prst="line">
            <a:avLst/>
          </a:prstGeom>
          <a:noFill/>
          <a:ln w="19050">
            <a:solidFill>
              <a:srgbClr val="15AD7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0" y="3246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Multi-tenant by default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680960" y="35204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44+ routes behind ownership guards from day one. Competitors bolt this on years later.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60920" y="4343400"/>
            <a:ext cx="228600" cy="0"/>
          </a:xfrm>
          <a:prstGeom prst="line">
            <a:avLst/>
          </a:prstGeom>
          <a:noFill/>
          <a:ln w="19050">
            <a:solidFill>
              <a:srgbClr val="15AD7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680960" y="42062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Identity constraints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680960" y="44805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output validated against a tenant identity. Alignment becomes a built-in property, not a prompt.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360920" y="5303520"/>
            <a:ext cx="228600" cy="0"/>
          </a:xfrm>
          <a:prstGeom prst="line">
            <a:avLst/>
          </a:prstGeom>
          <a:noFill/>
          <a:ln w="19050">
            <a:solidFill>
              <a:srgbClr val="15AD7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80960" y="51663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White-label at the seat level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680960" y="54406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Agencies can rebrand GRID per client. Distribution wedge competitors cannot match without a rewrite.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40080" y="6419088"/>
            <a:ext cx="10881360" cy="0"/>
          </a:xfrm>
          <a:prstGeom prst="line">
            <a:avLst/>
          </a:prstGeom>
          <a:noFill/>
          <a:ln w="6350">
            <a:solidFill>
              <a:srgbClr val="18182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GRID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9692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 / 15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2519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Pre-seed — 2026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0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TEAM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founder. Full stack. Two years in.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881360" cy="2560320"/>
          </a:xfrm>
          <a:prstGeom prst="roundRect">
            <a:avLst>
              <a:gd name="adj" fmla="val 2857"/>
            </a:avLst>
          </a:prstGeom>
          <a:solidFill>
            <a:srgbClr val="101018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88720" y="2606040"/>
            <a:ext cx="1554480" cy="1554480"/>
          </a:xfrm>
          <a:prstGeom prst="ellipse">
            <a:avLst/>
          </a:prstGeom>
          <a:solidFill>
            <a:srgbClr val="15AD70">
              <a:alpha val="20000"/>
            </a:srgbClr>
          </a:solidFill>
          <a:ln w="12700">
            <a:solidFill>
              <a:srgbClr val="15AD7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260604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3063240" y="26060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Nicole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063240" y="3200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Founder  ·  Engineer  ·  Designer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063240" y="35661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Built GRID end-to-end over 24 months with no outside capital. Architected the multi-tenant data model, the Nova constraint engine, the workflow execution layer, the auth perimeter, and the entire design system. Background in product design and engineering. Operator-builder, not a manager-founder.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4846320"/>
            <a:ext cx="10881360" cy="1417320"/>
          </a:xfrm>
          <a:prstGeom prst="roundRect">
            <a:avLst>
              <a:gd name="adj" fmla="val 5161"/>
            </a:avLst>
          </a:prstGeom>
          <a:solidFill>
            <a:srgbClr val="14141E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5074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POST-RAISE HIRING PLAN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05840" y="5532120"/>
            <a:ext cx="109728" cy="109728"/>
          </a:xfrm>
          <a:prstGeom prst="ellipse">
            <a:avLst/>
          </a:prstGeom>
          <a:solidFill>
            <a:srgbClr val="15AD70"/>
          </a:solidFill>
          <a:ln w="12700">
            <a:solidFill>
              <a:srgbClr val="15AD7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0" y="541324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Technical co-founder or senior eng #1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88720" y="56875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Month 1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389120" y="5532120"/>
            <a:ext cx="109728" cy="109728"/>
          </a:xfrm>
          <a:prstGeom prst="ellipse">
            <a:avLst/>
          </a:prstGeom>
          <a:solidFill>
            <a:srgbClr val="7193ED"/>
          </a:solidFill>
          <a:ln w="12700">
            <a:solidFill>
              <a:srgbClr val="7193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0" y="541324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GTM / design partner lead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0" y="56875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93E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Month 3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772400" y="5532120"/>
            <a:ext cx="109728" cy="109728"/>
          </a:xfrm>
          <a:prstGeom prst="ellipse">
            <a:avLst/>
          </a:prstGeom>
          <a:solidFill>
            <a:srgbClr val="BF9FF1"/>
          </a:solidFill>
          <a:ln w="12700">
            <a:solidFill>
              <a:srgbClr val="BF9F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0" y="541324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Founding designer (contract → FT)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955280" y="56875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F9FF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Month 6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40080" y="6419088"/>
            <a:ext cx="10881360" cy="0"/>
          </a:xfrm>
          <a:prstGeom prst="line">
            <a:avLst/>
          </a:prstGeom>
          <a:noFill/>
          <a:ln w="6350">
            <a:solidFill>
              <a:srgbClr val="1818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GRID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9692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 / 15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2519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Pre-seed — 2026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0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3657600"/>
            <a:ext cx="9144000" cy="9144000"/>
          </a:xfrm>
          <a:prstGeom prst="ellipse">
            <a:avLst/>
          </a:prstGeom>
          <a:solidFill>
            <a:srgbClr val="15AD70">
              <a:alpha val="6000"/>
            </a:srgbClr>
          </a:solidFill>
          <a:ln w="12700">
            <a:solidFill>
              <a:srgbClr val="080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ASK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$350K target.  $500K hard cap.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00" kern="0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Pre-seed SAFE  ·  $3M post-money cap  ·  18 months runway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USE OF FUNDS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2560320"/>
            <a:ext cx="4896612" cy="640080"/>
          </a:xfrm>
          <a:prstGeom prst="rect">
            <a:avLst/>
          </a:prstGeom>
          <a:solidFill>
            <a:srgbClr val="15AD70">
              <a:alpha val="80000"/>
            </a:srgbClr>
          </a:solidFill>
          <a:ln w="19050">
            <a:solidFill>
              <a:srgbClr val="08080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697480"/>
            <a:ext cx="48966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45%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536692" y="2560320"/>
            <a:ext cx="2720340" cy="640080"/>
          </a:xfrm>
          <a:prstGeom prst="rect">
            <a:avLst/>
          </a:prstGeom>
          <a:solidFill>
            <a:srgbClr val="7193ED">
              <a:alpha val="80000"/>
            </a:srgbClr>
          </a:solidFill>
          <a:ln w="19050">
            <a:solidFill>
              <a:srgbClr val="0808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536692" y="2697480"/>
            <a:ext cx="27203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25%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57032" y="2560320"/>
            <a:ext cx="1632204" cy="640080"/>
          </a:xfrm>
          <a:prstGeom prst="rect">
            <a:avLst/>
          </a:prstGeom>
          <a:solidFill>
            <a:srgbClr val="BF9FF1">
              <a:alpha val="80000"/>
            </a:srgbClr>
          </a:solidFill>
          <a:ln w="19050">
            <a:solidFill>
              <a:srgbClr val="08080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57032" y="2697480"/>
            <a:ext cx="16322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15%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889236" y="2560320"/>
            <a:ext cx="1632204" cy="640080"/>
          </a:xfrm>
          <a:prstGeom prst="rect">
            <a:avLst/>
          </a:prstGeom>
          <a:solidFill>
            <a:srgbClr val="F7C700">
              <a:alpha val="80000"/>
            </a:srgbClr>
          </a:solidFill>
          <a:ln w="19050">
            <a:solidFill>
              <a:srgbClr val="08080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89236" y="2697480"/>
            <a:ext cx="16322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15%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" y="3291840"/>
            <a:ext cx="48966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Founder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536692" y="3291840"/>
            <a:ext cx="27203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193E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Research  ·  IP  ·  Legal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57032" y="3291840"/>
            <a:ext cx="16322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F9FF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GTM review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889236" y="3291840"/>
            <a:ext cx="16322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7C7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Tech stack revision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4251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MILESTONES TO SEED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40080" y="4572000"/>
            <a:ext cx="2617470" cy="1234440"/>
          </a:xfrm>
          <a:prstGeom prst="roundRect">
            <a:avLst>
              <a:gd name="adj" fmla="val 5926"/>
            </a:avLst>
          </a:prstGeom>
          <a:solidFill>
            <a:srgbClr val="101018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" y="47091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60120" y="4937760"/>
            <a:ext cx="19773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 paying design partners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60120" y="5303520"/>
            <a:ext cx="19773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Month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394710" y="4572000"/>
            <a:ext cx="2617470" cy="1234440"/>
          </a:xfrm>
          <a:prstGeom prst="roundRect">
            <a:avLst>
              <a:gd name="adj" fmla="val 5926"/>
            </a:avLst>
          </a:prstGeom>
          <a:solidFill>
            <a:srgbClr val="101018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14750" y="47091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7193E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714750" y="4937760"/>
            <a:ext cx="19773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$10K MRR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714750" y="5303520"/>
            <a:ext cx="19773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Month 8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149340" y="4572000"/>
            <a:ext cx="2617470" cy="1234440"/>
          </a:xfrm>
          <a:prstGeom prst="roundRect">
            <a:avLst>
              <a:gd name="adj" fmla="val 5926"/>
            </a:avLst>
          </a:prstGeom>
          <a:solidFill>
            <a:srgbClr val="101018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9380" y="47091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BF9FF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469380" y="4937760"/>
            <a:ext cx="19773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published case studies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69380" y="5303520"/>
            <a:ext cx="19773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Month 10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03970" y="4572000"/>
            <a:ext cx="2617470" cy="1234440"/>
          </a:xfrm>
          <a:prstGeom prst="roundRect">
            <a:avLst>
              <a:gd name="adj" fmla="val 5926"/>
            </a:avLst>
          </a:prstGeom>
          <a:solidFill>
            <a:srgbClr val="101018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224010" y="47091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F7C7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224010" y="4937760"/>
            <a:ext cx="19773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Seed-ready metrics package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224010" y="5303520"/>
            <a:ext cx="19773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Month 14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40080" y="5989320"/>
            <a:ext cx="10881360" cy="0"/>
          </a:xfrm>
          <a:prstGeom prst="line">
            <a:avLst/>
          </a:prstGeom>
          <a:noFill/>
          <a:ln w="9525">
            <a:solidFill>
              <a:srgbClr val="1F1F2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6172200"/>
            <a:ext cx="7616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When intelligence becomes infinite, structure becomes the only advantage.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863840" y="6172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nicole@grddd.com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40080" y="6419088"/>
            <a:ext cx="10881360" cy="0"/>
          </a:xfrm>
          <a:prstGeom prst="line">
            <a:avLst/>
          </a:prstGeom>
          <a:noFill/>
          <a:ln w="6350">
            <a:solidFill>
              <a:srgbClr val="18182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GRID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9692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 / 15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42519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Pre-seed — 2026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80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-4572000"/>
            <a:ext cx="10972800" cy="9144000"/>
          </a:xfrm>
          <a:prstGeom prst="ellipse">
            <a:avLst/>
          </a:prstGeom>
          <a:solidFill>
            <a:srgbClr val="15AD70">
              <a:alpha val="7000"/>
            </a:srgbClr>
          </a:solidFill>
          <a:ln w="12700">
            <a:solidFill>
              <a:srgbClr val="0808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3657600"/>
            <a:ext cx="7315200" cy="5486400"/>
          </a:xfrm>
          <a:prstGeom prst="ellipse">
            <a:avLst/>
          </a:prstGeom>
          <a:solidFill>
            <a:srgbClr val="BF9FF1">
              <a:alpha val="5000"/>
            </a:srgbClr>
          </a:solidFill>
          <a:ln w="12700">
            <a:solidFill>
              <a:srgbClr val="08080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502920"/>
            <a:ext cx="361188" cy="457200"/>
          </a:xfrm>
          <a:prstGeom prst="roundRect">
            <a:avLst>
              <a:gd name="adj" fmla="val 15190"/>
            </a:avLst>
          </a:prstGeom>
          <a:solidFill>
            <a:srgbClr val="08080C"/>
          </a:solidFill>
          <a:ln w="15875">
            <a:solidFill>
              <a:srgbClr val="15AD7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3524" y="521208"/>
            <a:ext cx="0" cy="393192"/>
          </a:xfrm>
          <a:prstGeom prst="line">
            <a:avLst/>
          </a:prstGeom>
          <a:noFill/>
          <a:ln w="15875">
            <a:solidFill>
              <a:srgbClr val="15AD7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7824" y="521208"/>
            <a:ext cx="0" cy="393192"/>
          </a:xfrm>
          <a:prstGeom prst="line">
            <a:avLst/>
          </a:prstGeom>
          <a:noFill/>
          <a:ln w="15875">
            <a:solidFill>
              <a:srgbClr val="15AD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5212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GRID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69264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CLOSE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19202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Build the structure layer</a:t>
            </a:r>
            <a:endParaRPr lang="en-US" sz="5200" dirty="0"/>
          </a:p>
        </p:txBody>
      </p:sp>
      <p:sp>
        <p:nvSpPr>
          <p:cNvPr id="10" name="Text 8"/>
          <p:cNvSpPr/>
          <p:nvPr/>
        </p:nvSpPr>
        <p:spPr>
          <a:xfrm>
            <a:off x="640080" y="278892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before the intelligence layer locks in.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1828800" y="3977640"/>
            <a:ext cx="8503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next 18 months decide whose structure the agent layer runs on. Every month that passes, Notion, Monday and the LLM vendors compound lock-in with shallow structure. GRID is the only system whose core thesis is that structure matters more than the model.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5166360"/>
            <a:ext cx="3474720" cy="960120"/>
          </a:xfrm>
          <a:prstGeom prst="roundRect">
            <a:avLst>
              <a:gd name="adj" fmla="val 7619"/>
            </a:avLst>
          </a:prstGeom>
          <a:solidFill>
            <a:srgbClr val="101018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3035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14400" y="5486400"/>
            <a:ext cx="1563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 yrs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203704" y="5577840"/>
            <a:ext cx="16367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solo, bootstrapped, shipped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343400" y="5166360"/>
            <a:ext cx="3474720" cy="960120"/>
          </a:xfrm>
          <a:prstGeom prst="roundRect">
            <a:avLst>
              <a:gd name="adj" fmla="val 7619"/>
            </a:avLst>
          </a:prstGeom>
          <a:solidFill>
            <a:srgbClr val="101018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0" y="53035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7193E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Asking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617720" y="5486400"/>
            <a:ext cx="1563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$350K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907024" y="5577840"/>
            <a:ext cx="16367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pre-seed SAFE  ·  $3M cap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046720" y="5166360"/>
            <a:ext cx="3474720" cy="960120"/>
          </a:xfrm>
          <a:prstGeom prst="roundRect">
            <a:avLst>
              <a:gd name="adj" fmla="val 7619"/>
            </a:avLst>
          </a:prstGeom>
          <a:solidFill>
            <a:srgbClr val="101018"/>
          </a:solidFill>
          <a:ln w="9525">
            <a:solidFill>
              <a:srgbClr val="1F1F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21040" y="53035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BF9FF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Unlocks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321040" y="5486400"/>
            <a:ext cx="1563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18 mo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9610344" y="5577840"/>
            <a:ext cx="16367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runway to 5 design partners + $10K MRR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0080" y="6080760"/>
            <a:ext cx="10881360" cy="0"/>
          </a:xfrm>
          <a:prstGeom prst="line">
            <a:avLst/>
          </a:prstGeom>
          <a:noFill/>
          <a:ln w="9525">
            <a:solidFill>
              <a:srgbClr val="1F1F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217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0A0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Let us talk.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035040" y="6217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5AD7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nicole@grddd.com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" y="6510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GRID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9692640" y="6510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15 / 15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251960" y="6510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6060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Pre-seed — 2026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GRID Systems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GRID — Pre-seed Pitch</dc:title>
  <dc:subject>Agentic Work OS</dc:subject>
  <dc:creator>Nicole</dc:creator>
  <cp:lastModifiedBy>Nicole</cp:lastModifiedBy>
  <cp:revision>1</cp:revision>
  <dcterms:created xsi:type="dcterms:W3CDTF">2026-04-10T23:04:43Z</dcterms:created>
  <dcterms:modified xsi:type="dcterms:W3CDTF">2026-04-10T23:04:43Z</dcterms:modified>
</cp:coreProperties>
</file>